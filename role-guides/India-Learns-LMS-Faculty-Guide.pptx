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109728"/>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5486400" cy="457200"/>
          </a:xfrm>
          <a:prstGeom prst="rect">
            <a:avLst/>
          </a:prstGeom>
          <a:noFill/>
        </p:spPr>
        <p:txBody>
          <a:bodyPr wrap="square" lIns="45720" rIns="45720" tIns="18288" bIns="18288" anchor="t">
            <a:spAutoFit/>
          </a:bodyPr>
          <a:lstStyle/>
          <a:p>
            <a:pPr algn="l"/>
            <a:r>
              <a:rPr sz="1800" b="1" i="0">
                <a:solidFill>
                  <a:srgbClr val="F28C2C"/>
                </a:solidFill>
                <a:latin typeface="Arial"/>
              </a:rPr>
              <a:t>INDIA LEARNS LMS</a:t>
            </a:r>
          </a:p>
        </p:txBody>
      </p:sp>
      <p:sp>
        <p:nvSpPr>
          <p:cNvPr id="5" name="TextBox 4"/>
          <p:cNvSpPr txBox="1"/>
          <p:nvPr/>
        </p:nvSpPr>
        <p:spPr>
          <a:xfrm>
            <a:off x="731520" y="2194560"/>
            <a:ext cx="10058400" cy="1371600"/>
          </a:xfrm>
          <a:prstGeom prst="rect">
            <a:avLst/>
          </a:prstGeom>
          <a:noFill/>
        </p:spPr>
        <p:txBody>
          <a:bodyPr wrap="square" lIns="45720" rIns="45720" tIns="18288" bIns="18288" anchor="t">
            <a:spAutoFit/>
          </a:bodyPr>
          <a:lstStyle/>
          <a:p>
            <a:pPr algn="l"/>
            <a:r>
              <a:rPr sz="5800" b="1" i="0">
                <a:solidFill>
                  <a:srgbClr val="FFFFFF"/>
                </a:solidFill>
                <a:latin typeface="Calibri"/>
              </a:rPr>
              <a:t>Teach. Grade.
Guide. Repeat.</a:t>
            </a:r>
          </a:p>
        </p:txBody>
      </p:sp>
      <p:sp>
        <p:nvSpPr>
          <p:cNvPr id="6" name="TextBox 5"/>
          <p:cNvSpPr txBox="1"/>
          <p:nvPr/>
        </p:nvSpPr>
        <p:spPr>
          <a:xfrm>
            <a:off x="731520" y="4114800"/>
            <a:ext cx="10058400" cy="1097280"/>
          </a:xfrm>
          <a:prstGeom prst="rect">
            <a:avLst/>
          </a:prstGeom>
          <a:noFill/>
        </p:spPr>
        <p:txBody>
          <a:bodyPr wrap="square" lIns="45720" rIns="45720" tIns="18288" bIns="18288" anchor="t">
            <a:spAutoFit/>
          </a:bodyPr>
          <a:lstStyle/>
          <a:p>
            <a:pPr algn="l"/>
            <a:r>
              <a:rPr sz="2200" b="0" i="1">
                <a:solidFill>
                  <a:srgbClr val="FAF6EE"/>
                </a:solidFill>
                <a:latin typeface="Arial"/>
              </a:rPr>
              <a:t>Everything you need to run your courses — without paperwork.</a:t>
            </a:r>
          </a:p>
        </p:txBody>
      </p:sp>
      <p:sp>
        <p:nvSpPr>
          <p:cNvPr id="7" name="Rounded Rectangle 6"/>
          <p:cNvSpPr/>
          <p:nvPr/>
        </p:nvSpPr>
        <p:spPr>
          <a:xfrm>
            <a:off x="731520" y="5577840"/>
            <a:ext cx="2377440" cy="502920"/>
          </a:xfrm>
          <a:prstGeom prst="roundRect">
            <a:avLst>
              <a:gd name="adj" fmla="val 12000"/>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77840"/>
            <a:ext cx="2377440" cy="502920"/>
          </a:xfrm>
          <a:prstGeom prst="rect">
            <a:avLst/>
          </a:prstGeom>
          <a:noFill/>
        </p:spPr>
        <p:txBody>
          <a:bodyPr wrap="square" lIns="45720" rIns="45720" tIns="18288" bIns="18288" anchor="ctr">
            <a:spAutoFit/>
          </a:bodyPr>
          <a:lstStyle/>
          <a:p>
            <a:pPr algn="ctr"/>
            <a:r>
              <a:rPr sz="1400" b="1" i="0">
                <a:solidFill>
                  <a:srgbClr val="FFFFFF"/>
                </a:solidFill>
                <a:latin typeface="Arial"/>
              </a:rPr>
              <a:t>FACULTY</a:t>
            </a:r>
          </a:p>
        </p:txBody>
      </p:sp>
      <p:sp>
        <p:nvSpPr>
          <p:cNvPr id="9" name="Rectangle 8"/>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11" name="TextBox 10"/>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ABOUT YOU</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Who this is for</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20240"/>
            <a:ext cx="11064240" cy="402336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91440" cy="4023360"/>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77440"/>
            <a:ext cx="10607040" cy="1828800"/>
          </a:xfrm>
          <a:prstGeom prst="rect">
            <a:avLst/>
          </a:prstGeom>
          <a:noFill/>
        </p:spPr>
        <p:txBody>
          <a:bodyPr wrap="square" lIns="45720" rIns="45720" tIns="18288" bIns="18288" anchor="t">
            <a:spAutoFit/>
          </a:bodyPr>
          <a:lstStyle/>
          <a:p>
            <a:pPr algn="l"/>
            <a:r>
              <a:rPr sz="4400" b="1" i="0">
                <a:solidFill>
                  <a:srgbClr val="132B5E"/>
                </a:solidFill>
                <a:latin typeface="Calibri"/>
              </a:rPr>
              <a:t>You teach a course. This system runs the rest.</a:t>
            </a:r>
          </a:p>
        </p:txBody>
      </p:sp>
      <p:sp>
        <p:nvSpPr>
          <p:cNvPr id="10" name="TextBox 9"/>
          <p:cNvSpPr txBox="1"/>
          <p:nvPr/>
        </p:nvSpPr>
        <p:spPr>
          <a:xfrm>
            <a:off x="914400" y="4297680"/>
            <a:ext cx="10607040" cy="1828800"/>
          </a:xfrm>
          <a:prstGeom prst="rect">
            <a:avLst/>
          </a:prstGeom>
          <a:noFill/>
        </p:spPr>
        <p:txBody>
          <a:bodyPr wrap="square" lIns="45720" rIns="45720" tIns="18288" bIns="18288" anchor="t">
            <a:spAutoFit/>
          </a:bodyPr>
          <a:lstStyle/>
          <a:p>
            <a:pPr algn="l"/>
            <a:r>
              <a:rPr sz="1800" b="0" i="0">
                <a:solidFill>
                  <a:srgbClr val="1A1A1A"/>
                </a:solidFill>
                <a:latin typeface="Arial"/>
              </a:rPr>
              <a:t>Course content is already loaded for you (modules, sessions, slide decks). You take attendance, run the lesson, grade the work, and write the feedback. The system handles the timetables, the records, the notifications, and the receipts.</a:t>
            </a:r>
          </a:p>
        </p:txBody>
      </p:sp>
      <p:sp>
        <p:nvSpPr>
          <p:cNvPr id="11" name="Rectangle 10"/>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13" name="TextBox 12"/>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GETTING STARTED</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How you sign in</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8288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1</a:t>
            </a:r>
          </a:p>
        </p:txBody>
      </p:sp>
      <p:sp>
        <p:nvSpPr>
          <p:cNvPr id="8" name="TextBox 7"/>
          <p:cNvSpPr txBox="1"/>
          <p:nvPr/>
        </p:nvSpPr>
        <p:spPr>
          <a:xfrm>
            <a:off x="1417320" y="18745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Admin invites you</a:t>
            </a:r>
          </a:p>
        </p:txBody>
      </p:sp>
      <p:sp>
        <p:nvSpPr>
          <p:cNvPr id="9" name="TextBox 8"/>
          <p:cNvSpPr txBox="1"/>
          <p:nvPr/>
        </p:nvSpPr>
        <p:spPr>
          <a:xfrm>
            <a:off x="1417320" y="22402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When you're assigned a course, the admin sends you a magic-link email. Click it, set a password, you're in.</a:t>
            </a:r>
          </a:p>
        </p:txBody>
      </p:sp>
      <p:sp>
        <p:nvSpPr>
          <p:cNvPr id="10" name="Oval 9"/>
          <p:cNvSpPr/>
          <p:nvPr/>
        </p:nvSpPr>
        <p:spPr>
          <a:xfrm>
            <a:off x="548640" y="27432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2</a:t>
            </a:r>
          </a:p>
        </p:txBody>
      </p:sp>
      <p:sp>
        <p:nvSpPr>
          <p:cNvPr id="11" name="TextBox 10"/>
          <p:cNvSpPr txBox="1"/>
          <p:nvPr/>
        </p:nvSpPr>
        <p:spPr>
          <a:xfrm>
            <a:off x="1417320" y="27889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Sign in any time</a:t>
            </a:r>
          </a:p>
        </p:txBody>
      </p:sp>
      <p:sp>
        <p:nvSpPr>
          <p:cNvPr id="12" name="TextBox 11"/>
          <p:cNvSpPr txBox="1"/>
          <p:nvPr/>
        </p:nvSpPr>
        <p:spPr>
          <a:xfrm>
            <a:off x="1417320" y="31546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Same URL, same credentials. Works on laptop, tablet, or phone.</a:t>
            </a:r>
          </a:p>
        </p:txBody>
      </p:sp>
      <p:sp>
        <p:nvSpPr>
          <p:cNvPr id="13" name="Oval 12"/>
          <p:cNvSpPr/>
          <p:nvPr/>
        </p:nvSpPr>
        <p:spPr>
          <a:xfrm>
            <a:off x="548640" y="36576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3</a:t>
            </a:r>
          </a:p>
        </p:txBody>
      </p:sp>
      <p:sp>
        <p:nvSpPr>
          <p:cNvPr id="14" name="TextBox 13"/>
          <p:cNvSpPr txBox="1"/>
          <p:nvPr/>
        </p:nvSpPr>
        <p:spPr>
          <a:xfrm>
            <a:off x="1417320" y="37033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Forgot password?</a:t>
            </a:r>
          </a:p>
        </p:txBody>
      </p:sp>
      <p:sp>
        <p:nvSpPr>
          <p:cNvPr id="15" name="TextBox 14"/>
          <p:cNvSpPr txBox="1"/>
          <p:nvPr/>
        </p:nvSpPr>
        <p:spPr>
          <a:xfrm>
            <a:off x="1417320" y="40690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Reset link from the sign-in page goes to your email.</a:t>
            </a:r>
          </a:p>
        </p:txBody>
      </p:sp>
      <p:sp>
        <p:nvSpPr>
          <p:cNvPr id="16" name="Oval 15"/>
          <p:cNvSpPr/>
          <p:nvPr/>
        </p:nvSpPr>
        <p:spPr>
          <a:xfrm>
            <a:off x="548640" y="45720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4</a:t>
            </a:r>
          </a:p>
        </p:txBody>
      </p:sp>
      <p:sp>
        <p:nvSpPr>
          <p:cNvPr id="17" name="TextBox 16"/>
          <p:cNvSpPr txBox="1"/>
          <p:nvPr/>
        </p:nvSpPr>
        <p:spPr>
          <a:xfrm>
            <a:off x="1417320" y="46177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Your dashboard is your home</a:t>
            </a:r>
          </a:p>
        </p:txBody>
      </p:sp>
      <p:sp>
        <p:nvSpPr>
          <p:cNvPr id="18" name="TextBox 17"/>
          <p:cNvSpPr txBox="1"/>
          <p:nvPr/>
        </p:nvSpPr>
        <p:spPr>
          <a:xfrm>
            <a:off x="1417320" y="49834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Every time you sign in, you'll land on the faculty dashboard.</a:t>
            </a:r>
          </a:p>
        </p:txBody>
      </p:sp>
      <p:sp>
        <p:nvSpPr>
          <p:cNvPr id="19" name="Rectangle 18"/>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1" name="TextBox 20"/>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HOME SCREEN</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Your dashboard at a glance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4</a:t>
            </a:r>
          </a:p>
        </p:txBody>
      </p:sp>
      <p:sp>
        <p:nvSpPr>
          <p:cNvPr id="9" name="TextBox 8"/>
          <p:cNvSpPr txBox="1"/>
          <p:nvPr/>
        </p:nvSpPr>
        <p:spPr>
          <a:xfrm>
            <a:off x="5486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Courses assigned</a:t>
            </a:r>
          </a:p>
        </p:txBody>
      </p:sp>
      <p:sp>
        <p:nvSpPr>
          <p:cNvPr id="10" name="Rounded Rectangle 9"/>
          <p:cNvSpPr/>
          <p:nvPr/>
        </p:nvSpPr>
        <p:spPr>
          <a:xfrm>
            <a:off x="35204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12</a:t>
            </a:r>
          </a:p>
        </p:txBody>
      </p:sp>
      <p:sp>
        <p:nvSpPr>
          <p:cNvPr id="12" name="TextBox 11"/>
          <p:cNvSpPr txBox="1"/>
          <p:nvPr/>
        </p:nvSpPr>
        <p:spPr>
          <a:xfrm>
            <a:off x="35204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Classes this week</a:t>
            </a:r>
          </a:p>
        </p:txBody>
      </p:sp>
      <p:sp>
        <p:nvSpPr>
          <p:cNvPr id="13" name="Rounded Rectangle 12"/>
          <p:cNvSpPr/>
          <p:nvPr/>
        </p:nvSpPr>
        <p:spPr>
          <a:xfrm>
            <a:off x="64922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7</a:t>
            </a:r>
          </a:p>
        </p:txBody>
      </p:sp>
      <p:sp>
        <p:nvSpPr>
          <p:cNvPr id="15" name="TextBox 14"/>
          <p:cNvSpPr txBox="1"/>
          <p:nvPr/>
        </p:nvSpPr>
        <p:spPr>
          <a:xfrm>
            <a:off x="64922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Awaiting your feedback</a:t>
            </a:r>
          </a:p>
        </p:txBody>
      </p:sp>
      <p:sp>
        <p:nvSpPr>
          <p:cNvPr id="16" name="Rounded Rectangle 15"/>
          <p:cNvSpPr/>
          <p:nvPr/>
        </p:nvSpPr>
        <p:spPr>
          <a:xfrm>
            <a:off x="94640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40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2</a:t>
            </a:r>
          </a:p>
        </p:txBody>
      </p:sp>
      <p:sp>
        <p:nvSpPr>
          <p:cNvPr id="18" name="TextBox 17"/>
          <p:cNvSpPr txBox="1"/>
          <p:nvPr/>
        </p:nvSpPr>
        <p:spPr>
          <a:xfrm>
            <a:off x="94640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Grading backlog</a:t>
            </a:r>
          </a:p>
        </p:txBody>
      </p:sp>
      <p:sp>
        <p:nvSpPr>
          <p:cNvPr id="19" name="TextBox 18"/>
          <p:cNvSpPr txBox="1"/>
          <p:nvPr/>
        </p:nvSpPr>
        <p:spPr>
          <a:xfrm>
            <a:off x="548640" y="4572000"/>
            <a:ext cx="10972800" cy="1371600"/>
          </a:xfrm>
          <a:prstGeom prst="rect">
            <a:avLst/>
          </a:prstGeom>
          <a:noFill/>
        </p:spPr>
        <p:txBody>
          <a:bodyPr wrap="square" lIns="45720" rIns="45720" tIns="18288" bIns="18288" anchor="t">
            <a:spAutoFit/>
          </a:bodyPr>
          <a:lstStyle/>
          <a:p>
            <a:pPr algn="l"/>
            <a:r>
              <a:rPr sz="1400" b="0" i="0">
                <a:solidFill>
                  <a:srgbClr val="1A1A1A"/>
                </a:solidFill>
                <a:latin typeface="Arial"/>
              </a:rPr>
              <a:t>Your dashboard shows what's on your plate today: assigned courses, this-week class count, drafts waiting to publish, and any new submissions that need grading. Click any number to jump straight to that workflow.</a:t>
            </a:r>
          </a:p>
        </p:txBody>
      </p:sp>
      <p:sp>
        <p:nvSpPr>
          <p:cNvPr id="20" name="Rectangle 19"/>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2" name="TextBox 21"/>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COURSES</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My Courses — everything you teach</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200"/>
              </a:spcAft>
            </a:pPr>
            <a:r>
              <a:rPr sz="1500" b="1">
                <a:solidFill>
                  <a:srgbClr val="F28C2C"/>
                </a:solidFill>
                <a:latin typeface="Arial"/>
              </a:rPr>
              <a:t>● </a:t>
            </a:r>
            <a:r>
              <a:rPr sz="1500">
                <a:solidFill>
                  <a:srgbClr val="1A1A1A"/>
                </a:solidFill>
                <a:latin typeface="Arial"/>
              </a:rPr>
              <a:t>See every course you're assigned to teach.</a:t>
            </a:r>
          </a:p>
          <a:p>
            <a:pPr algn="l">
              <a:spcAft>
                <a:spcPts val="1200"/>
              </a:spcAft>
            </a:pPr>
            <a:r>
              <a:rPr sz="1500" b="1">
                <a:solidFill>
                  <a:srgbClr val="F28C2C"/>
                </a:solidFill>
                <a:latin typeface="Arial"/>
              </a:rPr>
              <a:t>● </a:t>
            </a:r>
            <a:r>
              <a:rPr sz="1500">
                <a:solidFill>
                  <a:srgbClr val="1A1A1A"/>
                </a:solidFill>
                <a:latin typeface="Arial"/>
              </a:rPr>
              <a:t>Each course shows its publish state — published (live for students) or sandbox (still being prepared).</a:t>
            </a:r>
          </a:p>
          <a:p>
            <a:pPr algn="l">
              <a:spcAft>
                <a:spcPts val="1200"/>
              </a:spcAft>
            </a:pPr>
            <a:r>
              <a:rPr sz="1500" b="1">
                <a:solidFill>
                  <a:srgbClr val="F28C2C"/>
                </a:solidFill>
                <a:latin typeface="Arial"/>
              </a:rPr>
              <a:t>● </a:t>
            </a:r>
            <a:r>
              <a:rPr sz="1500">
                <a:solidFill>
                  <a:srgbClr val="1A1A1A"/>
                </a:solidFill>
                <a:latin typeface="Arial"/>
              </a:rPr>
              <a:t>Click into a course to see its modules, sessions, materials, and assignments.</a:t>
            </a:r>
          </a:p>
          <a:p>
            <a:pPr algn="l">
              <a:spcAft>
                <a:spcPts val="1200"/>
              </a:spcAft>
            </a:pPr>
            <a:r>
              <a:rPr sz="1500" b="1">
                <a:solidFill>
                  <a:srgbClr val="F28C2C"/>
                </a:solidFill>
                <a:latin typeface="Arial"/>
              </a:rPr>
              <a:t>● </a:t>
            </a:r>
            <a:r>
              <a:rPr sz="1500">
                <a:solidFill>
                  <a:srgbClr val="1A1A1A"/>
                </a:solidFill>
                <a:latin typeface="Arial"/>
              </a:rPr>
              <a:t>Your view is filtered — you only see what's yours, not other faculty's courses.</a:t>
            </a:r>
          </a:p>
          <a:p>
            <a:pPr algn="l">
              <a:spcAft>
                <a:spcPts val="1200"/>
              </a:spcAft>
            </a:pPr>
            <a:r>
              <a:rPr sz="1500" b="1">
                <a:solidFill>
                  <a:srgbClr val="F28C2C"/>
                </a:solidFill>
                <a:latin typeface="Arial"/>
              </a:rPr>
              <a:t>● </a:t>
            </a:r>
            <a:r>
              <a:rPr sz="1500">
                <a:solidFill>
                  <a:srgbClr val="1A1A1A"/>
                </a:solidFill>
                <a:latin typeface="Arial"/>
              </a:rPr>
              <a:t>Super-admins can see your course but only in read-only oversight mode — they can't edit anything you've set up.</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INSIDE A COURSE</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Course Overview — the dashboard for one course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8</a:t>
            </a:r>
          </a:p>
        </p:txBody>
      </p:sp>
      <p:sp>
        <p:nvSpPr>
          <p:cNvPr id="9" name="TextBox 8"/>
          <p:cNvSpPr txBox="1"/>
          <p:nvPr/>
        </p:nvSpPr>
        <p:spPr>
          <a:xfrm>
            <a:off x="5486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Modules</a:t>
            </a:r>
          </a:p>
        </p:txBody>
      </p:sp>
      <p:sp>
        <p:nvSpPr>
          <p:cNvPr id="10" name="Rounded Rectangle 9"/>
          <p:cNvSpPr/>
          <p:nvPr/>
        </p:nvSpPr>
        <p:spPr>
          <a:xfrm>
            <a:off x="35204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107</a:t>
            </a:r>
          </a:p>
        </p:txBody>
      </p:sp>
      <p:sp>
        <p:nvSpPr>
          <p:cNvPr id="12" name="TextBox 11"/>
          <p:cNvSpPr txBox="1"/>
          <p:nvPr/>
        </p:nvSpPr>
        <p:spPr>
          <a:xfrm>
            <a:off x="35204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Sessions</a:t>
            </a:r>
          </a:p>
        </p:txBody>
      </p:sp>
      <p:sp>
        <p:nvSpPr>
          <p:cNvPr id="13" name="Rounded Rectangle 12"/>
          <p:cNvSpPr/>
          <p:nvPr/>
        </p:nvSpPr>
        <p:spPr>
          <a:xfrm>
            <a:off x="64922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25</a:t>
            </a:r>
          </a:p>
        </p:txBody>
      </p:sp>
      <p:sp>
        <p:nvSpPr>
          <p:cNvPr id="15" name="TextBox 14"/>
          <p:cNvSpPr txBox="1"/>
          <p:nvPr/>
        </p:nvSpPr>
        <p:spPr>
          <a:xfrm>
            <a:off x="64922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Assignments</a:t>
            </a:r>
          </a:p>
        </p:txBody>
      </p:sp>
      <p:sp>
        <p:nvSpPr>
          <p:cNvPr id="16" name="Rounded Rectangle 15"/>
          <p:cNvSpPr/>
          <p:nvPr/>
        </p:nvSpPr>
        <p:spPr>
          <a:xfrm>
            <a:off x="94640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40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0</a:t>
            </a:r>
          </a:p>
        </p:txBody>
      </p:sp>
      <p:sp>
        <p:nvSpPr>
          <p:cNvPr id="18" name="TextBox 17"/>
          <p:cNvSpPr txBox="1"/>
          <p:nvPr/>
        </p:nvSpPr>
        <p:spPr>
          <a:xfrm>
            <a:off x="94640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Grading backlog</a:t>
            </a:r>
          </a:p>
        </p:txBody>
      </p:sp>
      <p:sp>
        <p:nvSpPr>
          <p:cNvPr id="19" name="TextBox 18"/>
          <p:cNvSpPr txBox="1"/>
          <p:nvPr/>
        </p:nvSpPr>
        <p:spPr>
          <a:xfrm>
            <a:off x="548640" y="4572000"/>
            <a:ext cx="10972800" cy="1371600"/>
          </a:xfrm>
          <a:prstGeom prst="rect">
            <a:avLst/>
          </a:prstGeom>
          <a:noFill/>
        </p:spPr>
        <p:txBody>
          <a:bodyPr wrap="square" lIns="45720" rIns="45720" tIns="18288" bIns="18288" anchor="t">
            <a:spAutoFit/>
          </a:bodyPr>
          <a:lstStyle/>
          <a:p>
            <a:pPr algn="l"/>
            <a:r>
              <a:rPr sz="1400" b="0" i="0">
                <a:solidFill>
                  <a:srgbClr val="1A1A1A"/>
                </a:solidFill>
                <a:latin typeface="Arial"/>
              </a:rPr>
              <a:t>When you click into a course, the Overview tab shows you the shape of the course at a glance: how many modules, sessions, assignments, and how much grading is waiting. The numbers update in real time as you teach and grade.</a:t>
            </a:r>
          </a:p>
        </p:txBody>
      </p:sp>
      <p:sp>
        <p:nvSpPr>
          <p:cNvPr id="20" name="Rectangle 19"/>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2" name="TextBox 21"/>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INSIDE A COURSE</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The Content tab — your course tree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8" name="TextBox 7"/>
          <p:cNvSpPr txBox="1"/>
          <p:nvPr/>
        </p:nvSpPr>
        <p:spPr>
          <a:xfrm>
            <a:off x="123444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Module → Session tree</a:t>
            </a:r>
          </a:p>
        </p:txBody>
      </p:sp>
      <p:sp>
        <p:nvSpPr>
          <p:cNvPr id="9" name="TextBox 8"/>
          <p:cNvSpPr txBox="1"/>
          <p:nvPr/>
        </p:nvSpPr>
        <p:spPr>
          <a:xfrm>
            <a:off x="123444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Each course is a list of modules. Each module is a list of sessions. Click to expand.</a:t>
            </a:r>
          </a:p>
        </p:txBody>
      </p:sp>
      <p:sp>
        <p:nvSpPr>
          <p:cNvPr id="10" name="Oval 9"/>
          <p:cNvSpPr/>
          <p:nvPr/>
        </p:nvSpPr>
        <p:spPr>
          <a:xfrm>
            <a:off x="54864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1" name="TextBox 10"/>
          <p:cNvSpPr txBox="1"/>
          <p:nvPr/>
        </p:nvSpPr>
        <p:spPr>
          <a:xfrm>
            <a:off x="123444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Drag-and-drop reorder</a:t>
            </a:r>
          </a:p>
        </p:txBody>
      </p:sp>
      <p:sp>
        <p:nvSpPr>
          <p:cNvPr id="12" name="TextBox 11"/>
          <p:cNvSpPr txBox="1"/>
          <p:nvPr/>
        </p:nvSpPr>
        <p:spPr>
          <a:xfrm>
            <a:off x="123444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Want to teach session 3 before session 2? Drag it. The order saves automatically.</a:t>
            </a:r>
          </a:p>
        </p:txBody>
      </p:sp>
      <p:sp>
        <p:nvSpPr>
          <p:cNvPr id="13" name="Oval 12"/>
          <p:cNvSpPr/>
          <p:nvPr/>
        </p:nvSpPr>
        <p:spPr>
          <a:xfrm>
            <a:off x="54864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4" name="TextBox 13"/>
          <p:cNvSpPr txBox="1"/>
          <p:nvPr/>
        </p:nvSpPr>
        <p:spPr>
          <a:xfrm>
            <a:off x="123444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Some sessions are locked</a:t>
            </a:r>
          </a:p>
        </p:txBody>
      </p:sp>
      <p:sp>
        <p:nvSpPr>
          <p:cNvPr id="15" name="TextBox 14"/>
          <p:cNvSpPr txBox="1"/>
          <p:nvPr/>
        </p:nvSpPr>
        <p:spPr>
          <a:xfrm>
            <a:off x="123444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Assessment sessions (auto-generated from your curriculum) can't be renamed or reordered — they're tied to assignments.</a:t>
            </a:r>
          </a:p>
        </p:txBody>
      </p:sp>
      <p:sp>
        <p:nvSpPr>
          <p:cNvPr id="16" name="Oval 15"/>
          <p:cNvSpPr/>
          <p:nvPr/>
        </p:nvSpPr>
        <p:spPr>
          <a:xfrm>
            <a:off x="640080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7" name="TextBox 16"/>
          <p:cNvSpPr txBox="1"/>
          <p:nvPr/>
        </p:nvSpPr>
        <p:spPr>
          <a:xfrm>
            <a:off x="708660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Click a session to open it</a:t>
            </a:r>
          </a:p>
        </p:txBody>
      </p:sp>
      <p:sp>
        <p:nvSpPr>
          <p:cNvPr id="18" name="TextBox 17"/>
          <p:cNvSpPr txBox="1"/>
          <p:nvPr/>
        </p:nvSpPr>
        <p:spPr>
          <a:xfrm>
            <a:off x="708660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You'll land on the session detail page with everything for that lesson.</a:t>
            </a:r>
          </a:p>
        </p:txBody>
      </p:sp>
      <p:sp>
        <p:nvSpPr>
          <p:cNvPr id="19" name="Oval 18"/>
          <p:cNvSpPr/>
          <p:nvPr/>
        </p:nvSpPr>
        <p:spPr>
          <a:xfrm>
            <a:off x="640080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0" name="TextBox 19"/>
          <p:cNvSpPr txBox="1"/>
          <p:nvPr/>
        </p:nvSpPr>
        <p:spPr>
          <a:xfrm>
            <a:off x="708660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Add a new session</a:t>
            </a:r>
          </a:p>
        </p:txBody>
      </p:sp>
      <p:sp>
        <p:nvSpPr>
          <p:cNvPr id="21" name="TextBox 20"/>
          <p:cNvSpPr txBox="1"/>
          <p:nvPr/>
        </p:nvSpPr>
        <p:spPr>
          <a:xfrm>
            <a:off x="708660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Need an extra session? Add one in any module and slot it in.</a:t>
            </a:r>
          </a:p>
        </p:txBody>
      </p:sp>
      <p:sp>
        <p:nvSpPr>
          <p:cNvPr id="22" name="Oval 21"/>
          <p:cNvSpPr/>
          <p:nvPr/>
        </p:nvSpPr>
        <p:spPr>
          <a:xfrm>
            <a:off x="640080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3" name="TextBox 22"/>
          <p:cNvSpPr txBox="1"/>
          <p:nvPr/>
        </p:nvSpPr>
        <p:spPr>
          <a:xfrm>
            <a:off x="708660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Remove or hide sessions</a:t>
            </a:r>
          </a:p>
        </p:txBody>
      </p:sp>
      <p:sp>
        <p:nvSpPr>
          <p:cNvPr id="24" name="TextBox 23"/>
          <p:cNvSpPr txBox="1"/>
          <p:nvPr/>
        </p:nvSpPr>
        <p:spPr>
          <a:xfrm>
            <a:off x="708660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Don't need it? Remove or hide it — your students see your changes immediately.</a:t>
            </a:r>
          </a:p>
        </p:txBody>
      </p:sp>
      <p:sp>
        <p:nvSpPr>
          <p:cNvPr id="25" name="Rectangle 24"/>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7" name="TextBox 26"/>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SESSION DETAIL</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Inside one session — the left side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200"/>
              </a:spcAft>
            </a:pPr>
            <a:r>
              <a:rPr sz="1500" b="1">
                <a:solidFill>
                  <a:srgbClr val="F28C2C"/>
                </a:solidFill>
                <a:latin typeface="Arial"/>
              </a:rPr>
              <a:t>● </a:t>
            </a:r>
            <a:r>
              <a:rPr sz="1500">
                <a:solidFill>
                  <a:srgbClr val="1A1A1A"/>
                </a:solidFill>
                <a:latin typeface="Arial"/>
              </a:rPr>
              <a:t>Description: what this session covers, written by the curriculum team.</a:t>
            </a:r>
          </a:p>
          <a:p>
            <a:pPr algn="l">
              <a:spcAft>
                <a:spcPts val="1200"/>
              </a:spcAft>
            </a:pPr>
            <a:r>
              <a:rPr sz="1500" b="1">
                <a:solidFill>
                  <a:srgbClr val="F28C2C"/>
                </a:solidFill>
                <a:latin typeface="Arial"/>
              </a:rPr>
              <a:t>● </a:t>
            </a:r>
            <a:r>
              <a:rPr sz="1500">
                <a:solidFill>
                  <a:srgbClr val="1A1A1A"/>
                </a:solidFill>
                <a:latin typeface="Arial"/>
              </a:rPr>
              <a:t>Materials: the slide deck for this session — click 'Open viewer' to flip through it (use arrow keys).</a:t>
            </a:r>
          </a:p>
          <a:p>
            <a:pPr algn="l">
              <a:spcAft>
                <a:spcPts val="1200"/>
              </a:spcAft>
            </a:pPr>
            <a:r>
              <a:rPr sz="1500" b="1">
                <a:solidFill>
                  <a:srgbClr val="F28C2C"/>
                </a:solidFill>
                <a:latin typeface="Arial"/>
              </a:rPr>
              <a:t>● </a:t>
            </a:r>
            <a:r>
              <a:rPr sz="1500">
                <a:solidFill>
                  <a:srgbClr val="1A1A1A"/>
                </a:solidFill>
                <a:latin typeface="Arial"/>
              </a:rPr>
              <a:t>Assignments: anything students need to submit for this session.</a:t>
            </a:r>
          </a:p>
          <a:p>
            <a:pPr algn="l">
              <a:spcAft>
                <a:spcPts val="1200"/>
              </a:spcAft>
            </a:pPr>
            <a:r>
              <a:rPr sz="1500" b="1">
                <a:solidFill>
                  <a:srgbClr val="F28C2C"/>
                </a:solidFill>
                <a:latin typeface="Arial"/>
              </a:rPr>
              <a:t>● </a:t>
            </a:r>
            <a:r>
              <a:rPr sz="1500">
                <a:solidFill>
                  <a:srgbClr val="1A1A1A"/>
                </a:solidFill>
                <a:latin typeface="Arial"/>
              </a:rPr>
              <a:t>Mark complete button: click when the session is done. You get a 7-day window to undo if you click by mistake.</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SESSION DETAIL</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Inside one session — the right side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8" name="TextBox 7"/>
          <p:cNvSpPr txBox="1"/>
          <p:nvPr/>
        </p:nvSpPr>
        <p:spPr>
          <a:xfrm>
            <a:off x="123444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Attendance panel</a:t>
            </a:r>
          </a:p>
        </p:txBody>
      </p:sp>
      <p:sp>
        <p:nvSpPr>
          <p:cNvPr id="9" name="TextBox 8"/>
          <p:cNvSpPr txBox="1"/>
          <p:nvPr/>
        </p:nvSpPr>
        <p:spPr>
          <a:xfrm>
            <a:off x="123444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Every enrolled student listed. Defaults to 'Present'. Toggle individuals to absent / late / excused.</a:t>
            </a:r>
          </a:p>
        </p:txBody>
      </p:sp>
      <p:sp>
        <p:nvSpPr>
          <p:cNvPr id="10" name="Oval 9"/>
          <p:cNvSpPr/>
          <p:nvPr/>
        </p:nvSpPr>
        <p:spPr>
          <a:xfrm>
            <a:off x="54864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1" name="TextBox 10"/>
          <p:cNvSpPr txBox="1"/>
          <p:nvPr/>
        </p:nvSpPr>
        <p:spPr>
          <a:xfrm>
            <a:off x="123444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Save attendance</a:t>
            </a:r>
          </a:p>
        </p:txBody>
      </p:sp>
      <p:sp>
        <p:nvSpPr>
          <p:cNvPr id="12" name="TextBox 11"/>
          <p:cNvSpPr txBox="1"/>
          <p:nvPr/>
        </p:nvSpPr>
        <p:spPr>
          <a:xfrm>
            <a:off x="123444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Click Save. You'll see 'Saved' immediately. The recorded count updates without a refresh.</a:t>
            </a:r>
          </a:p>
        </p:txBody>
      </p:sp>
      <p:sp>
        <p:nvSpPr>
          <p:cNvPr id="13" name="Oval 12"/>
          <p:cNvSpPr/>
          <p:nvPr/>
        </p:nvSpPr>
        <p:spPr>
          <a:xfrm>
            <a:off x="54864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4" name="TextBox 13"/>
          <p:cNvSpPr txBox="1"/>
          <p:nvPr/>
        </p:nvSpPr>
        <p:spPr>
          <a:xfrm>
            <a:off x="123444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Edit anytime</a:t>
            </a:r>
          </a:p>
        </p:txBody>
      </p:sp>
      <p:sp>
        <p:nvSpPr>
          <p:cNvPr id="15" name="TextBox 14"/>
          <p:cNvSpPr txBox="1"/>
          <p:nvPr/>
        </p:nvSpPr>
        <p:spPr>
          <a:xfrm>
            <a:off x="123444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Made a mistake? Edit and save again. Last value wins.</a:t>
            </a:r>
          </a:p>
        </p:txBody>
      </p:sp>
      <p:sp>
        <p:nvSpPr>
          <p:cNvPr id="16" name="Oval 15"/>
          <p:cNvSpPr/>
          <p:nvPr/>
        </p:nvSpPr>
        <p:spPr>
          <a:xfrm>
            <a:off x="640080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7" name="TextBox 16"/>
          <p:cNvSpPr txBox="1"/>
          <p:nvPr/>
        </p:nvSpPr>
        <p:spPr>
          <a:xfrm>
            <a:off x="708660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Private notes</a:t>
            </a:r>
          </a:p>
        </p:txBody>
      </p:sp>
      <p:sp>
        <p:nvSpPr>
          <p:cNvPr id="18" name="TextBox 17"/>
          <p:cNvSpPr txBox="1"/>
          <p:nvPr/>
        </p:nvSpPr>
        <p:spPr>
          <a:xfrm>
            <a:off x="708660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Your personal notes about this session — never shown to students. Use for what worked, what didn't, ideas for next time.</a:t>
            </a:r>
          </a:p>
        </p:txBody>
      </p:sp>
      <p:sp>
        <p:nvSpPr>
          <p:cNvPr id="19" name="Oval 18"/>
          <p:cNvSpPr/>
          <p:nvPr/>
        </p:nvSpPr>
        <p:spPr>
          <a:xfrm>
            <a:off x="640080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0" name="TextBox 19"/>
          <p:cNvSpPr txBox="1"/>
          <p:nvPr/>
        </p:nvSpPr>
        <p:spPr>
          <a:xfrm>
            <a:off x="708660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Faculty-only</a:t>
            </a:r>
          </a:p>
        </p:txBody>
      </p:sp>
      <p:sp>
        <p:nvSpPr>
          <p:cNvPr id="21" name="TextBox 20"/>
          <p:cNvSpPr txBox="1"/>
          <p:nvPr/>
        </p:nvSpPr>
        <p:spPr>
          <a:xfrm>
            <a:off x="708660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Even admins and super-admins viewing the course in oversight mode can't see your private notes.</a:t>
            </a:r>
          </a:p>
        </p:txBody>
      </p:sp>
      <p:sp>
        <p:nvSpPr>
          <p:cNvPr id="22" name="Oval 21"/>
          <p:cNvSpPr/>
          <p:nvPr/>
        </p:nvSpPr>
        <p:spPr>
          <a:xfrm>
            <a:off x="640080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3" name="TextBox 22"/>
          <p:cNvSpPr txBox="1"/>
          <p:nvPr/>
        </p:nvSpPr>
        <p:spPr>
          <a:xfrm>
            <a:off x="708660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Use it like a journal</a:t>
            </a:r>
          </a:p>
        </p:txBody>
      </p:sp>
      <p:sp>
        <p:nvSpPr>
          <p:cNvPr id="24" name="TextBox 23"/>
          <p:cNvSpPr txBox="1"/>
          <p:nvPr/>
        </p:nvSpPr>
        <p:spPr>
          <a:xfrm>
            <a:off x="708660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Track your observations across sessions. The notes are searchable when you come back next term.</a:t>
            </a:r>
          </a:p>
        </p:txBody>
      </p:sp>
      <p:sp>
        <p:nvSpPr>
          <p:cNvPr id="25" name="Rectangle 24"/>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7" name="TextBox 26"/>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MATERIALS</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The slide viewer</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20240"/>
            <a:ext cx="11064240" cy="402336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91440" cy="4023360"/>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77440"/>
            <a:ext cx="10607040" cy="1828800"/>
          </a:xfrm>
          <a:prstGeom prst="rect">
            <a:avLst/>
          </a:prstGeom>
          <a:noFill/>
        </p:spPr>
        <p:txBody>
          <a:bodyPr wrap="square" lIns="45720" rIns="45720" tIns="18288" bIns="18288" anchor="t">
            <a:spAutoFit/>
          </a:bodyPr>
          <a:lstStyle/>
          <a:p>
            <a:pPr algn="l"/>
            <a:r>
              <a:rPr sz="4400" b="1" i="0">
                <a:solidFill>
                  <a:srgbClr val="132B5E"/>
                </a:solidFill>
                <a:latin typeface="Calibri"/>
              </a:rPr>
              <a:t>Open Viewer → flip through slides → close.</a:t>
            </a:r>
          </a:p>
        </p:txBody>
      </p:sp>
      <p:sp>
        <p:nvSpPr>
          <p:cNvPr id="10" name="TextBox 9"/>
          <p:cNvSpPr txBox="1"/>
          <p:nvPr/>
        </p:nvSpPr>
        <p:spPr>
          <a:xfrm>
            <a:off x="914400" y="4297680"/>
            <a:ext cx="10607040" cy="1828800"/>
          </a:xfrm>
          <a:prstGeom prst="rect">
            <a:avLst/>
          </a:prstGeom>
          <a:noFill/>
        </p:spPr>
        <p:txBody>
          <a:bodyPr wrap="square" lIns="45720" rIns="45720" tIns="18288" bIns="18288" anchor="t">
            <a:spAutoFit/>
          </a:bodyPr>
          <a:lstStyle/>
          <a:p>
            <a:pPr algn="l"/>
            <a:r>
              <a:rPr sz="1800" b="0" i="0">
                <a:solidFill>
                  <a:srgbClr val="1A1A1A"/>
                </a:solidFill>
                <a:latin typeface="Arial"/>
              </a:rPr>
              <a:t>Click 'Open viewer' on any slide deck. The viewer opens with the lesson's slides. Use the left/right arrow keys to move between slides. There's a speaker notes panel if the curriculum team added presenter guidance. Press Escape (or click Back) to return to the session.</a:t>
            </a:r>
          </a:p>
        </p:txBody>
      </p:sp>
      <p:sp>
        <p:nvSpPr>
          <p:cNvPr id="11" name="Rectangle 10"/>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13" name="TextBox 12"/>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PROGRESS</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Marking a session complete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8288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1</a:t>
            </a:r>
          </a:p>
        </p:txBody>
      </p:sp>
      <p:sp>
        <p:nvSpPr>
          <p:cNvPr id="8" name="TextBox 7"/>
          <p:cNvSpPr txBox="1"/>
          <p:nvPr/>
        </p:nvSpPr>
        <p:spPr>
          <a:xfrm>
            <a:off x="1417320" y="18745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Take attendance first</a:t>
            </a:r>
          </a:p>
        </p:txBody>
      </p:sp>
      <p:sp>
        <p:nvSpPr>
          <p:cNvPr id="9" name="TextBox 8"/>
          <p:cNvSpPr txBox="1"/>
          <p:nvPr/>
        </p:nvSpPr>
        <p:spPr>
          <a:xfrm>
            <a:off x="1417320" y="22402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Mark Complete is disabled until you've recorded attendance for at least one student. The tooltip tells you why.</a:t>
            </a:r>
          </a:p>
        </p:txBody>
      </p:sp>
      <p:sp>
        <p:nvSpPr>
          <p:cNvPr id="10" name="Oval 9"/>
          <p:cNvSpPr/>
          <p:nvPr/>
        </p:nvSpPr>
        <p:spPr>
          <a:xfrm>
            <a:off x="548640" y="27432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2</a:t>
            </a:r>
          </a:p>
        </p:txBody>
      </p:sp>
      <p:sp>
        <p:nvSpPr>
          <p:cNvPr id="11" name="TextBox 10"/>
          <p:cNvSpPr txBox="1"/>
          <p:nvPr/>
        </p:nvSpPr>
        <p:spPr>
          <a:xfrm>
            <a:off x="1417320" y="27889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Click Mark complete</a:t>
            </a:r>
          </a:p>
        </p:txBody>
      </p:sp>
      <p:sp>
        <p:nvSpPr>
          <p:cNvPr id="12" name="TextBox 11"/>
          <p:cNvSpPr txBox="1"/>
          <p:nvPr/>
        </p:nvSpPr>
        <p:spPr>
          <a:xfrm>
            <a:off x="1417320" y="31546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Status changes from 'In progress' to 'Completed'. Your course progress bar moves.</a:t>
            </a:r>
          </a:p>
        </p:txBody>
      </p:sp>
      <p:sp>
        <p:nvSpPr>
          <p:cNvPr id="13" name="Oval 12"/>
          <p:cNvSpPr/>
          <p:nvPr/>
        </p:nvSpPr>
        <p:spPr>
          <a:xfrm>
            <a:off x="548640" y="36576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3</a:t>
            </a:r>
          </a:p>
        </p:txBody>
      </p:sp>
      <p:sp>
        <p:nvSpPr>
          <p:cNvPr id="14" name="TextBox 13"/>
          <p:cNvSpPr txBox="1"/>
          <p:nvPr/>
        </p:nvSpPr>
        <p:spPr>
          <a:xfrm>
            <a:off x="1417320" y="37033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7-day undo window</a:t>
            </a:r>
          </a:p>
        </p:txBody>
      </p:sp>
      <p:sp>
        <p:nvSpPr>
          <p:cNvPr id="15" name="TextBox 14"/>
          <p:cNvSpPr txBox="1"/>
          <p:nvPr/>
        </p:nvSpPr>
        <p:spPr>
          <a:xfrm>
            <a:off x="1417320" y="40690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Clicked by mistake? You have 7 days to click 'Undo'. After that, the completion locks.</a:t>
            </a:r>
          </a:p>
        </p:txBody>
      </p:sp>
      <p:sp>
        <p:nvSpPr>
          <p:cNvPr id="16" name="Oval 15"/>
          <p:cNvSpPr/>
          <p:nvPr/>
        </p:nvSpPr>
        <p:spPr>
          <a:xfrm>
            <a:off x="548640" y="45720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4</a:t>
            </a:r>
          </a:p>
        </p:txBody>
      </p:sp>
      <p:sp>
        <p:nvSpPr>
          <p:cNvPr id="17" name="TextBox 16"/>
          <p:cNvSpPr txBox="1"/>
          <p:nvPr/>
        </p:nvSpPr>
        <p:spPr>
          <a:xfrm>
            <a:off x="1417320" y="46177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Students see your progress</a:t>
            </a:r>
          </a:p>
        </p:txBody>
      </p:sp>
      <p:sp>
        <p:nvSpPr>
          <p:cNvPr id="18" name="TextBox 17"/>
          <p:cNvSpPr txBox="1"/>
          <p:nvPr/>
        </p:nvSpPr>
        <p:spPr>
          <a:xfrm>
            <a:off x="1417320" y="49834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Students see which sessions are complete on their own course view. They feel the momentum.</a:t>
            </a:r>
          </a:p>
        </p:txBody>
      </p:sp>
      <p:sp>
        <p:nvSpPr>
          <p:cNvPr id="19" name="Rectangle 18"/>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1" name="TextBox 20"/>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GRADING</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The Gradebook — your grading command centre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000"/>
              </a:spcAft>
            </a:pPr>
            <a:r>
              <a:rPr sz="1500" b="1">
                <a:solidFill>
                  <a:srgbClr val="F28C2C"/>
                </a:solidFill>
                <a:latin typeface="Arial"/>
              </a:rPr>
              <a:t>● </a:t>
            </a:r>
            <a:r>
              <a:rPr sz="1500">
                <a:solidFill>
                  <a:srgbClr val="1A1A1A"/>
                </a:solidFill>
                <a:latin typeface="Arial"/>
              </a:rPr>
              <a:t>Grid view: rows are your enrolled students, columns are the assignments in your course.</a:t>
            </a:r>
          </a:p>
          <a:p>
            <a:pPr algn="l">
              <a:spcAft>
                <a:spcPts val="1000"/>
              </a:spcAft>
            </a:pPr>
            <a:r>
              <a:rPr sz="1500" b="1">
                <a:solidFill>
                  <a:srgbClr val="F28C2C"/>
                </a:solidFill>
                <a:latin typeface="Arial"/>
              </a:rPr>
              <a:t>● </a:t>
            </a:r>
            <a:r>
              <a:rPr sz="1500">
                <a:solidFill>
                  <a:srgbClr val="1A1A1A"/>
                </a:solidFill>
                <a:latin typeface="Arial"/>
              </a:rPr>
              <a:t>Each cell shows the status: not started, submitted, draft grade, published.</a:t>
            </a:r>
          </a:p>
          <a:p>
            <a:pPr algn="l">
              <a:spcAft>
                <a:spcPts val="1000"/>
              </a:spcAft>
            </a:pPr>
            <a:r>
              <a:rPr sz="1500" b="1">
                <a:solidFill>
                  <a:srgbClr val="F28C2C"/>
                </a:solidFill>
                <a:latin typeface="Arial"/>
              </a:rPr>
              <a:t>● </a:t>
            </a:r>
            <a:r>
              <a:rPr sz="1500">
                <a:solidFill>
                  <a:srgbClr val="1A1A1A"/>
                </a:solidFill>
                <a:latin typeface="Arial"/>
              </a:rPr>
              <a:t>Header badge shows totals — e.g. '25 assignments · 3 students'.</a:t>
            </a:r>
          </a:p>
          <a:p>
            <a:pPr algn="l">
              <a:spcAft>
                <a:spcPts val="1000"/>
              </a:spcAft>
            </a:pPr>
            <a:r>
              <a:rPr sz="1500" b="1">
                <a:solidFill>
                  <a:srgbClr val="F28C2C"/>
                </a:solidFill>
                <a:latin typeface="Arial"/>
              </a:rPr>
              <a:t>● </a:t>
            </a:r>
            <a:r>
              <a:rPr sz="1500">
                <a:solidFill>
                  <a:srgbClr val="1A1A1A"/>
                </a:solidFill>
                <a:latin typeface="Arial"/>
              </a:rPr>
              <a:t>Backlog count at the top: how many submissions are waiting for you.</a:t>
            </a:r>
          </a:p>
          <a:p>
            <a:pPr algn="l">
              <a:spcAft>
                <a:spcPts val="1000"/>
              </a:spcAft>
            </a:pPr>
            <a:r>
              <a:rPr sz="1500" b="1">
                <a:solidFill>
                  <a:srgbClr val="F28C2C"/>
                </a:solidFill>
                <a:latin typeface="Arial"/>
              </a:rPr>
              <a:t>● </a:t>
            </a:r>
            <a:r>
              <a:rPr sz="1500">
                <a:solidFill>
                  <a:srgbClr val="1A1A1A"/>
                </a:solidFill>
                <a:latin typeface="Arial"/>
              </a:rPr>
              <a:t>Click any cell to open the per-student grading view; click any column header for per-assignment.</a:t>
            </a:r>
          </a:p>
          <a:p>
            <a:pPr algn="l">
              <a:spcAft>
                <a:spcPts val="1000"/>
              </a:spcAft>
            </a:pPr>
            <a:r>
              <a:rPr sz="1500" b="1">
                <a:solidFill>
                  <a:srgbClr val="F28C2C"/>
                </a:solidFill>
                <a:latin typeface="Arial"/>
              </a:rPr>
              <a:t>● </a:t>
            </a:r>
            <a:r>
              <a:rPr sz="1500">
                <a:solidFill>
                  <a:srgbClr val="1A1A1A"/>
                </a:solidFill>
                <a:latin typeface="Arial"/>
              </a:rPr>
              <a:t>Sort by name, by due date, or by status — find what you need fast.</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GRADING</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Per-assignment grading</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8" name="TextBox 7"/>
          <p:cNvSpPr txBox="1"/>
          <p:nvPr/>
        </p:nvSpPr>
        <p:spPr>
          <a:xfrm>
            <a:off x="123444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Needs grading</a:t>
            </a:r>
          </a:p>
        </p:txBody>
      </p:sp>
      <p:sp>
        <p:nvSpPr>
          <p:cNvPr id="9" name="TextBox 8"/>
          <p:cNvSpPr txBox="1"/>
          <p:nvPr/>
        </p:nvSpPr>
        <p:spPr>
          <a:xfrm>
            <a:off x="123444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Submissions that haven't been touched yet. Start here.</a:t>
            </a:r>
          </a:p>
        </p:txBody>
      </p:sp>
      <p:sp>
        <p:nvSpPr>
          <p:cNvPr id="10" name="Oval 9"/>
          <p:cNvSpPr/>
          <p:nvPr/>
        </p:nvSpPr>
        <p:spPr>
          <a:xfrm>
            <a:off x="54864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1" name="TextBox 10"/>
          <p:cNvSpPr txBox="1"/>
          <p:nvPr/>
        </p:nvSpPr>
        <p:spPr>
          <a:xfrm>
            <a:off x="123444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Drafts</a:t>
            </a:r>
          </a:p>
        </p:txBody>
      </p:sp>
      <p:sp>
        <p:nvSpPr>
          <p:cNvPr id="12" name="TextBox 11"/>
          <p:cNvSpPr txBox="1"/>
          <p:nvPr/>
        </p:nvSpPr>
        <p:spPr>
          <a:xfrm>
            <a:off x="123444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Grades you've saved as drafts but not yet published.</a:t>
            </a:r>
          </a:p>
        </p:txBody>
      </p:sp>
      <p:sp>
        <p:nvSpPr>
          <p:cNvPr id="13" name="Oval 12"/>
          <p:cNvSpPr/>
          <p:nvPr/>
        </p:nvSpPr>
        <p:spPr>
          <a:xfrm>
            <a:off x="640080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4" name="TextBox 13"/>
          <p:cNvSpPr txBox="1"/>
          <p:nvPr/>
        </p:nvSpPr>
        <p:spPr>
          <a:xfrm>
            <a:off x="708660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Graded</a:t>
            </a:r>
          </a:p>
        </p:txBody>
      </p:sp>
      <p:sp>
        <p:nvSpPr>
          <p:cNvPr id="15" name="TextBox 14"/>
          <p:cNvSpPr txBox="1"/>
          <p:nvPr/>
        </p:nvSpPr>
        <p:spPr>
          <a:xfrm>
            <a:off x="708660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Everything you've published. Visible to the student.</a:t>
            </a:r>
          </a:p>
        </p:txBody>
      </p:sp>
      <p:sp>
        <p:nvSpPr>
          <p:cNvPr id="16" name="Oval 15"/>
          <p:cNvSpPr/>
          <p:nvPr/>
        </p:nvSpPr>
        <p:spPr>
          <a:xfrm>
            <a:off x="640080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7" name="TextBox 16"/>
          <p:cNvSpPr txBox="1"/>
          <p:nvPr/>
        </p:nvSpPr>
        <p:spPr>
          <a:xfrm>
            <a:off x="708660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Missing</a:t>
            </a:r>
          </a:p>
        </p:txBody>
      </p:sp>
      <p:sp>
        <p:nvSpPr>
          <p:cNvPr id="18" name="TextBox 17"/>
          <p:cNvSpPr txBox="1"/>
          <p:nvPr/>
        </p:nvSpPr>
        <p:spPr>
          <a:xfrm>
            <a:off x="708660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Students enrolled who haven't submitted yet, past the due date.</a:t>
            </a:r>
          </a:p>
        </p:txBody>
      </p:sp>
      <p:sp>
        <p:nvSpPr>
          <p:cNvPr id="19" name="TextBox 18"/>
          <p:cNvSpPr txBox="1"/>
          <p:nvPr/>
        </p:nvSpPr>
        <p:spPr>
          <a:xfrm>
            <a:off x="548640" y="4846320"/>
            <a:ext cx="10972800" cy="1371600"/>
          </a:xfrm>
          <a:prstGeom prst="rect">
            <a:avLst/>
          </a:prstGeom>
          <a:noFill/>
        </p:spPr>
        <p:txBody>
          <a:bodyPr wrap="square" lIns="45720" rIns="45720" tIns="18288" bIns="18288" anchor="t">
            <a:spAutoFit/>
          </a:bodyPr>
          <a:lstStyle/>
          <a:p>
            <a:pPr algn="l"/>
            <a:r>
              <a:rPr sz="1300" b="0" i="1">
                <a:solidFill>
                  <a:srgbClr val="5C5C5C"/>
                </a:solidFill>
                <a:latin typeface="Arial"/>
              </a:rPr>
              <a:t>Switch between filters with the chips at the top. Each chip shows a count.</a:t>
            </a:r>
          </a:p>
        </p:txBody>
      </p:sp>
      <p:sp>
        <p:nvSpPr>
          <p:cNvPr id="20" name="Rectangle 19"/>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2" name="TextBox 21"/>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GRADING</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The two-step grading flow</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8288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1</a:t>
            </a:r>
          </a:p>
        </p:txBody>
      </p:sp>
      <p:sp>
        <p:nvSpPr>
          <p:cNvPr id="8" name="TextBox 7"/>
          <p:cNvSpPr txBox="1"/>
          <p:nvPr/>
        </p:nvSpPr>
        <p:spPr>
          <a:xfrm>
            <a:off x="1417320" y="18745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Save Draft</a:t>
            </a:r>
          </a:p>
        </p:txBody>
      </p:sp>
      <p:sp>
        <p:nvSpPr>
          <p:cNvPr id="9" name="TextBox 8"/>
          <p:cNvSpPr txBox="1"/>
          <p:nvPr/>
        </p:nvSpPr>
        <p:spPr>
          <a:xfrm>
            <a:off x="1417320" y="22402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Score the work and write your feedback. Click Save Draft. The student sees nothing yet — only you can see the score.</a:t>
            </a:r>
          </a:p>
        </p:txBody>
      </p:sp>
      <p:sp>
        <p:nvSpPr>
          <p:cNvPr id="10" name="Oval 9"/>
          <p:cNvSpPr/>
          <p:nvPr/>
        </p:nvSpPr>
        <p:spPr>
          <a:xfrm>
            <a:off x="548640" y="27432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2</a:t>
            </a:r>
          </a:p>
        </p:txBody>
      </p:sp>
      <p:sp>
        <p:nvSpPr>
          <p:cNvPr id="11" name="TextBox 10"/>
          <p:cNvSpPr txBox="1"/>
          <p:nvPr/>
        </p:nvSpPr>
        <p:spPr>
          <a:xfrm>
            <a:off x="1417320" y="27889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Edit freely</a:t>
            </a:r>
          </a:p>
        </p:txBody>
      </p:sp>
      <p:sp>
        <p:nvSpPr>
          <p:cNvPr id="12" name="TextBox 11"/>
          <p:cNvSpPr txBox="1"/>
          <p:nvPr/>
        </p:nvSpPr>
        <p:spPr>
          <a:xfrm>
            <a:off x="1417320" y="31546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Change the draft as many times as you want. Refine the feedback. No one else sees a thing.</a:t>
            </a:r>
          </a:p>
        </p:txBody>
      </p:sp>
      <p:sp>
        <p:nvSpPr>
          <p:cNvPr id="13" name="Oval 12"/>
          <p:cNvSpPr/>
          <p:nvPr/>
        </p:nvSpPr>
        <p:spPr>
          <a:xfrm>
            <a:off x="548640" y="36576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3</a:t>
            </a:r>
          </a:p>
        </p:txBody>
      </p:sp>
      <p:sp>
        <p:nvSpPr>
          <p:cNvPr id="14" name="TextBox 13"/>
          <p:cNvSpPr txBox="1"/>
          <p:nvPr/>
        </p:nvSpPr>
        <p:spPr>
          <a:xfrm>
            <a:off x="1417320" y="37033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Publish</a:t>
            </a:r>
          </a:p>
        </p:txBody>
      </p:sp>
      <p:sp>
        <p:nvSpPr>
          <p:cNvPr id="15" name="TextBox 14"/>
          <p:cNvSpPr txBox="1"/>
          <p:nvPr/>
        </p:nvSpPr>
        <p:spPr>
          <a:xfrm>
            <a:off x="1417320" y="40690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Click Publish when you're ready. Confirm the dialog. Now the student sees the grade and the feedback.</a:t>
            </a:r>
          </a:p>
        </p:txBody>
      </p:sp>
      <p:sp>
        <p:nvSpPr>
          <p:cNvPr id="16" name="Oval 15"/>
          <p:cNvSpPr/>
          <p:nvPr/>
        </p:nvSpPr>
        <p:spPr>
          <a:xfrm>
            <a:off x="548640" y="45720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4</a:t>
            </a:r>
          </a:p>
        </p:txBody>
      </p:sp>
      <p:sp>
        <p:nvSpPr>
          <p:cNvPr id="17" name="TextBox 16"/>
          <p:cNvSpPr txBox="1"/>
          <p:nvPr/>
        </p:nvSpPr>
        <p:spPr>
          <a:xfrm>
            <a:off x="1417320" y="46177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Editing a published grade?</a:t>
            </a:r>
          </a:p>
        </p:txBody>
      </p:sp>
      <p:sp>
        <p:nvSpPr>
          <p:cNvPr id="18" name="TextBox 17"/>
          <p:cNvSpPr txBox="1"/>
          <p:nvPr/>
        </p:nvSpPr>
        <p:spPr>
          <a:xfrm>
            <a:off x="1417320" y="49834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If you edit it later, it automatically flips back to draft. You must publish again — this is on purpose, so publish always means 'I'm sure'.</a:t>
            </a:r>
          </a:p>
        </p:txBody>
      </p:sp>
      <p:sp>
        <p:nvSpPr>
          <p:cNvPr id="19" name="Rectangle 18"/>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1" name="TextBox 20"/>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SCHEDULE</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Your timetable &amp; weekly digest</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8" name="TextBox 7"/>
          <p:cNvSpPr txBox="1"/>
          <p:nvPr/>
        </p:nvSpPr>
        <p:spPr>
          <a:xfrm>
            <a:off x="123444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Your weekly timetable</a:t>
            </a:r>
          </a:p>
        </p:txBody>
      </p:sp>
      <p:sp>
        <p:nvSpPr>
          <p:cNvPr id="9" name="TextBox 8"/>
          <p:cNvSpPr txBox="1"/>
          <p:nvPr/>
        </p:nvSpPr>
        <p:spPr>
          <a:xfrm>
            <a:off x="123444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See every class you're assigned to teach, the room, the course, the time. Filter by week.</a:t>
            </a:r>
          </a:p>
        </p:txBody>
      </p:sp>
      <p:sp>
        <p:nvSpPr>
          <p:cNvPr id="10" name="Oval 9"/>
          <p:cNvSpPr/>
          <p:nvPr/>
        </p:nvSpPr>
        <p:spPr>
          <a:xfrm>
            <a:off x="54864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1" name="TextBox 10"/>
          <p:cNvSpPr txBox="1"/>
          <p:nvPr/>
        </p:nvSpPr>
        <p:spPr>
          <a:xfrm>
            <a:off x="123444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Schedule changes flagged</a:t>
            </a:r>
          </a:p>
        </p:txBody>
      </p:sp>
      <p:sp>
        <p:nvSpPr>
          <p:cNvPr id="12" name="TextBox 11"/>
          <p:cNvSpPr txBox="1"/>
          <p:nvPr/>
        </p:nvSpPr>
        <p:spPr>
          <a:xfrm>
            <a:off x="123444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If a class is rescheduled or added, it's highlighted. You also get a notification.</a:t>
            </a:r>
          </a:p>
        </p:txBody>
      </p:sp>
      <p:sp>
        <p:nvSpPr>
          <p:cNvPr id="13" name="Oval 12"/>
          <p:cNvSpPr/>
          <p:nvPr/>
        </p:nvSpPr>
        <p:spPr>
          <a:xfrm>
            <a:off x="54864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4" name="TextBox 13"/>
          <p:cNvSpPr txBox="1"/>
          <p:nvPr/>
        </p:nvSpPr>
        <p:spPr>
          <a:xfrm>
            <a:off x="123444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Mobile-friendly</a:t>
            </a:r>
          </a:p>
        </p:txBody>
      </p:sp>
      <p:sp>
        <p:nvSpPr>
          <p:cNvPr id="15" name="TextBox 14"/>
          <p:cNvSpPr txBox="1"/>
          <p:nvPr/>
        </p:nvSpPr>
        <p:spPr>
          <a:xfrm>
            <a:off x="123444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Pull it up on your phone before class to see where you're meant to be.</a:t>
            </a:r>
          </a:p>
        </p:txBody>
      </p:sp>
      <p:sp>
        <p:nvSpPr>
          <p:cNvPr id="16" name="Oval 15"/>
          <p:cNvSpPr/>
          <p:nvPr/>
        </p:nvSpPr>
        <p:spPr>
          <a:xfrm>
            <a:off x="640080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7" name="TextBox 16"/>
          <p:cNvSpPr txBox="1"/>
          <p:nvPr/>
        </p:nvSpPr>
        <p:spPr>
          <a:xfrm>
            <a:off x="708660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Weekly Monday digest</a:t>
            </a:r>
          </a:p>
        </p:txBody>
      </p:sp>
      <p:sp>
        <p:nvSpPr>
          <p:cNvPr id="18" name="TextBox 17"/>
          <p:cNvSpPr txBox="1"/>
          <p:nvPr/>
        </p:nvSpPr>
        <p:spPr>
          <a:xfrm>
            <a:off x="708660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Every Monday 9 AM, you get an email summarising what's awaiting your feedback this week — drafts older than 7 days, ungraded essays, etc.</a:t>
            </a:r>
          </a:p>
        </p:txBody>
      </p:sp>
      <p:sp>
        <p:nvSpPr>
          <p:cNvPr id="19" name="Oval 18"/>
          <p:cNvSpPr/>
          <p:nvPr/>
        </p:nvSpPr>
        <p:spPr>
          <a:xfrm>
            <a:off x="640080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0" name="TextBox 19"/>
          <p:cNvSpPr txBox="1"/>
          <p:nvPr/>
        </p:nvSpPr>
        <p:spPr>
          <a:xfrm>
            <a:off x="708660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One link to action</a:t>
            </a:r>
          </a:p>
        </p:txBody>
      </p:sp>
      <p:sp>
        <p:nvSpPr>
          <p:cNvPr id="21" name="TextBox 20"/>
          <p:cNvSpPr txBox="1"/>
          <p:nvPr/>
        </p:nvSpPr>
        <p:spPr>
          <a:xfrm>
            <a:off x="708660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Each item in the digest is clickable — go straight to the work that needs you.</a:t>
            </a:r>
          </a:p>
        </p:txBody>
      </p:sp>
      <p:sp>
        <p:nvSpPr>
          <p:cNvPr id="22" name="Oval 21"/>
          <p:cNvSpPr/>
          <p:nvPr/>
        </p:nvSpPr>
        <p:spPr>
          <a:xfrm>
            <a:off x="640080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3" name="TextBox 22"/>
          <p:cNvSpPr txBox="1"/>
          <p:nvPr/>
        </p:nvSpPr>
        <p:spPr>
          <a:xfrm>
            <a:off x="708660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Skip it any time</a:t>
            </a:r>
          </a:p>
        </p:txBody>
      </p:sp>
      <p:sp>
        <p:nvSpPr>
          <p:cNvPr id="24" name="TextBox 23"/>
          <p:cNvSpPr txBox="1"/>
          <p:nvPr/>
        </p:nvSpPr>
        <p:spPr>
          <a:xfrm>
            <a:off x="708660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Don't want the digest? Turn it off in your notification preferences.</a:t>
            </a:r>
          </a:p>
        </p:txBody>
      </p:sp>
      <p:sp>
        <p:nvSpPr>
          <p:cNvPr id="25" name="Rectangle 24"/>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27" name="TextBox 26"/>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SETTINGS</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Profile and notification preferences</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200"/>
              </a:spcAft>
            </a:pPr>
            <a:r>
              <a:rPr sz="1500" b="1">
                <a:solidFill>
                  <a:srgbClr val="F28C2C"/>
                </a:solidFill>
                <a:latin typeface="Arial"/>
              </a:rPr>
              <a:t>● </a:t>
            </a:r>
            <a:r>
              <a:rPr sz="1500">
                <a:solidFill>
                  <a:srgbClr val="1A1A1A"/>
                </a:solidFill>
                <a:latin typeface="Arial"/>
              </a:rPr>
              <a:t>Profile: update your name, photo, phone, email.</a:t>
            </a:r>
          </a:p>
          <a:p>
            <a:pPr algn="l">
              <a:spcAft>
                <a:spcPts val="1200"/>
              </a:spcAft>
            </a:pPr>
            <a:r>
              <a:rPr sz="1500" b="1">
                <a:solidFill>
                  <a:srgbClr val="F28C2C"/>
                </a:solidFill>
                <a:latin typeface="Arial"/>
              </a:rPr>
              <a:t>● </a:t>
            </a:r>
            <a:r>
              <a:rPr sz="1500">
                <a:solidFill>
                  <a:srgbClr val="1A1A1A"/>
                </a:solidFill>
                <a:latin typeface="Arial"/>
              </a:rPr>
              <a:t>Change password anytime.</a:t>
            </a:r>
          </a:p>
          <a:p>
            <a:pPr algn="l">
              <a:spcAft>
                <a:spcPts val="1200"/>
              </a:spcAft>
            </a:pPr>
            <a:r>
              <a:rPr sz="1500" b="1">
                <a:solidFill>
                  <a:srgbClr val="F28C2C"/>
                </a:solidFill>
                <a:latin typeface="Arial"/>
              </a:rPr>
              <a:t>● </a:t>
            </a:r>
            <a:r>
              <a:rPr sz="1500">
                <a:solidFill>
                  <a:srgbClr val="1A1A1A"/>
                </a:solidFill>
                <a:latin typeface="Arial"/>
              </a:rPr>
              <a:t>Notification preferences: control which events email you, WhatsApp you, or notify you in-app.</a:t>
            </a:r>
          </a:p>
          <a:p>
            <a:pPr algn="l">
              <a:spcAft>
                <a:spcPts val="1200"/>
              </a:spcAft>
            </a:pPr>
            <a:r>
              <a:rPr sz="1500" b="1">
                <a:solidFill>
                  <a:srgbClr val="F28C2C"/>
                </a:solidFill>
                <a:latin typeface="Arial"/>
              </a:rPr>
              <a:t>● </a:t>
            </a:r>
            <a:r>
              <a:rPr sz="1500">
                <a:solidFill>
                  <a:srgbClr val="1A1A1A"/>
                </a:solidFill>
                <a:latin typeface="Arial"/>
              </a:rPr>
              <a:t>Turn the Monday digest on/off.</a:t>
            </a:r>
          </a:p>
          <a:p>
            <a:pPr algn="l">
              <a:spcAft>
                <a:spcPts val="1200"/>
              </a:spcAft>
            </a:pPr>
            <a:r>
              <a:rPr sz="1500" b="1">
                <a:solidFill>
                  <a:srgbClr val="F28C2C"/>
                </a:solidFill>
                <a:latin typeface="Arial"/>
              </a:rPr>
              <a:t>● </a:t>
            </a:r>
            <a:r>
              <a:rPr sz="1500">
                <a:solidFill>
                  <a:srgbClr val="1A1A1A"/>
                </a:solidFill>
                <a:latin typeface="Arial"/>
              </a:rPr>
              <a:t>Set quiet hours — no notifications during teaching hours, for example.</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SUPPORT</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Getting help</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20240"/>
            <a:ext cx="11064240" cy="402336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91440" cy="4023360"/>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77440"/>
            <a:ext cx="10607040" cy="1828800"/>
          </a:xfrm>
          <a:prstGeom prst="rect">
            <a:avLst/>
          </a:prstGeom>
          <a:noFill/>
        </p:spPr>
        <p:txBody>
          <a:bodyPr wrap="square" lIns="45720" rIns="45720" tIns="18288" bIns="18288" anchor="t">
            <a:spAutoFit/>
          </a:bodyPr>
          <a:lstStyle/>
          <a:p>
            <a:pPr algn="l"/>
            <a:r>
              <a:rPr sz="4400" b="1" i="0">
                <a:solidFill>
                  <a:srgbClr val="132B5E"/>
                </a:solidFill>
                <a:latin typeface="Calibri"/>
              </a:rPr>
              <a:t>Stuck? Reach out — we want you teaching, not debugging.</a:t>
            </a:r>
          </a:p>
        </p:txBody>
      </p:sp>
      <p:sp>
        <p:nvSpPr>
          <p:cNvPr id="10" name="TextBox 9"/>
          <p:cNvSpPr txBox="1"/>
          <p:nvPr/>
        </p:nvSpPr>
        <p:spPr>
          <a:xfrm>
            <a:off x="914400" y="4297680"/>
            <a:ext cx="10607040" cy="1828800"/>
          </a:xfrm>
          <a:prstGeom prst="rect">
            <a:avLst/>
          </a:prstGeom>
          <a:noFill/>
        </p:spPr>
        <p:txBody>
          <a:bodyPr wrap="square" lIns="45720" rIns="45720" tIns="18288" bIns="18288" anchor="t">
            <a:spAutoFit/>
          </a:bodyPr>
          <a:lstStyle/>
          <a:p>
            <a:pPr algn="l"/>
            <a:r>
              <a:rPr sz="1800" b="0" i="0">
                <a:solidFill>
                  <a:srgbClr val="1A1A1A"/>
                </a:solidFill>
                <a:latin typeface="Arial"/>
              </a:rPr>
              <a:t>Technical issue with the system: raise a Technical ticket from your dashboard, a real human responds within 24 hours. Question about your curriculum content: talk to your curriculum lead. Question about a student's enrolment or fee status: ping admin or finance directly.</a:t>
            </a:r>
          </a:p>
        </p:txBody>
      </p:sp>
      <p:sp>
        <p:nvSpPr>
          <p:cNvPr id="11" name="Rectangle 10"/>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Faculty guide</a:t>
            </a:r>
          </a:p>
        </p:txBody>
      </p:sp>
      <p:sp>
        <p:nvSpPr>
          <p:cNvPr id="13" name="TextBox 12"/>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