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 snapToObjects="1">
      <p:cViewPr varScale="1">
        <p:scale>
          <a:sx n="119" d="100"/>
          <a:sy n="119" d="100"/>
        </p:scale>
        <p:origin x="50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840480"/>
            <a:ext cx="12191695" cy="109728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 i="0">
                <a:solidFill>
                  <a:srgbClr val="F28C2C"/>
                </a:solidFill>
                <a:latin typeface="Arial"/>
              </a:rPr>
              <a:t>INDIA LEARNS LMS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515600" cy="1463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Calibri"/>
              </a:rPr>
              <a:t>Faculty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10515600" cy="37548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0" i="1" dirty="0">
                <a:solidFill>
                  <a:srgbClr val="F28C2C"/>
                </a:solidFill>
                <a:latin typeface="Arial"/>
              </a:rPr>
              <a:t>Detailed walkthrough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105156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 i="0">
                <a:solidFill>
                  <a:srgbClr val="FAF6EE"/>
                </a:solidFill>
                <a:latin typeface="Arial"/>
              </a:rPr>
              <a:t>A complete reference for faculty using India Learns LMS.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669280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5669280"/>
            <a:ext cx="219456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FOR FACULTY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Faculty guide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1 / 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132B5E"/>
                </a:solidFill>
                <a:latin typeface="Calibri"/>
              </a:rPr>
              <a:t>What you'll learn in this guide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0972800" cy="43891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F28C2C"/>
                </a:solidFill>
                <a:latin typeface="Arial"/>
              </a:rPr>
              <a:t>● </a:t>
            </a:r>
            <a:r>
              <a:rPr sz="1300">
                <a:solidFill>
                  <a:srgbClr val="1A1A1A"/>
                </a:solidFill>
                <a:latin typeface="Arial"/>
              </a:rPr>
              <a:t>How to sign in for the first time and reset your password.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F28C2C"/>
                </a:solidFill>
                <a:latin typeface="Arial"/>
              </a:rPr>
              <a:t>● </a:t>
            </a:r>
            <a:r>
              <a:rPr sz="1300">
                <a:solidFill>
                  <a:srgbClr val="1A1A1A"/>
                </a:solidFill>
                <a:latin typeface="Arial"/>
              </a:rPr>
              <a:t>The top navigation — every link explained.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F28C2C"/>
                </a:solidFill>
                <a:latin typeface="Arial"/>
              </a:rPr>
              <a:t>● </a:t>
            </a:r>
            <a:r>
              <a:rPr sz="1300">
                <a:solidFill>
                  <a:srgbClr val="1A1A1A"/>
                </a:solidFill>
                <a:latin typeface="Arial"/>
              </a:rPr>
              <a:t>Your dashboard — what each card means and how to act on it.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F28C2C"/>
                </a:solidFill>
                <a:latin typeface="Arial"/>
              </a:rPr>
              <a:t>● </a:t>
            </a:r>
            <a:r>
              <a:rPr sz="1300">
                <a:solidFill>
                  <a:srgbClr val="1A1A1A"/>
                </a:solidFill>
                <a:latin typeface="Arial"/>
              </a:rPr>
              <a:t>Your courses — Sandbox vs Published, and how to open one.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F28C2C"/>
                </a:solidFill>
                <a:latin typeface="Arial"/>
              </a:rPr>
              <a:t>● </a:t>
            </a:r>
            <a:r>
              <a:rPr sz="1300">
                <a:solidFill>
                  <a:srgbClr val="1A1A1A"/>
                </a:solidFill>
                <a:latin typeface="Arial"/>
              </a:rPr>
              <a:t>Inside a course — Overview, Content, Gradebook, Roster tabs.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F28C2C"/>
                </a:solidFill>
                <a:latin typeface="Arial"/>
              </a:rPr>
              <a:t>● </a:t>
            </a:r>
            <a:r>
              <a:rPr sz="1300">
                <a:solidFill>
                  <a:srgbClr val="1A1A1A"/>
                </a:solidFill>
                <a:latin typeface="Arial"/>
              </a:rPr>
              <a:t>Running a session — slide viewer, attendance, completion, undo.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F28C2C"/>
                </a:solidFill>
                <a:latin typeface="Arial"/>
              </a:rPr>
              <a:t>● </a:t>
            </a:r>
            <a:r>
              <a:rPr sz="1300">
                <a:solidFill>
                  <a:srgbClr val="1A1A1A"/>
                </a:solidFill>
                <a:latin typeface="Arial"/>
              </a:rPr>
              <a:t>Grading — the gradebook grid, per-assignment filters, score and feedback.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F28C2C"/>
                </a:solidFill>
                <a:latin typeface="Arial"/>
              </a:rPr>
              <a:t>● </a:t>
            </a:r>
            <a:r>
              <a:rPr sz="1300">
                <a:solidFill>
                  <a:srgbClr val="1A1A1A"/>
                </a:solidFill>
                <a:latin typeface="Arial"/>
              </a:rPr>
              <a:t>The two-step grading flow — save draft, then publish.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F28C2C"/>
                </a:solidFill>
                <a:latin typeface="Arial"/>
              </a:rPr>
              <a:t>● </a:t>
            </a:r>
            <a:r>
              <a:rPr sz="1300">
                <a:solidFill>
                  <a:srgbClr val="1A1A1A"/>
                </a:solidFill>
                <a:latin typeface="Arial"/>
              </a:rPr>
              <a:t>Your timetable, the Monday digest, and notifications.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F28C2C"/>
                </a:solidFill>
                <a:latin typeface="Arial"/>
              </a:rPr>
              <a:t>● </a:t>
            </a:r>
            <a:r>
              <a:rPr sz="1300">
                <a:solidFill>
                  <a:srgbClr val="1A1A1A"/>
                </a:solidFill>
                <a:latin typeface="Arial"/>
              </a:rPr>
              <a:t>Profile, password, notification preferences.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F28C2C"/>
                </a:solidFill>
                <a:latin typeface="Arial"/>
              </a:rPr>
              <a:t>● </a:t>
            </a:r>
            <a:r>
              <a:rPr sz="1300">
                <a:solidFill>
                  <a:srgbClr val="1A1A1A"/>
                </a:solidFill>
                <a:latin typeface="Arial"/>
              </a:rPr>
              <a:t>Common mistakes and how to recover from them.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F28C2C"/>
                </a:solidFill>
                <a:latin typeface="Arial"/>
              </a:rPr>
              <a:t>● </a:t>
            </a:r>
            <a:r>
              <a:rPr sz="1300">
                <a:solidFill>
                  <a:srgbClr val="1A1A1A"/>
                </a:solidFill>
                <a:latin typeface="Arial"/>
              </a:rPr>
              <a:t>Where to go when you need help.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Faculty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2 / 31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GETTING STARTED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132B5E"/>
                </a:solidFill>
                <a:latin typeface="Calibri"/>
              </a:rPr>
              <a:t>Signing in — the first 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3200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i="0">
                <a:solidFill>
                  <a:srgbClr val="132B5E"/>
                </a:solidFill>
                <a:latin typeface="Arial"/>
              </a:rPr>
              <a:t>What happens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3200400" cy="41148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1">
                <a:solidFill>
                  <a:srgbClr val="F28C2C"/>
                </a:solidFill>
                <a:latin typeface="Arial"/>
              </a:rPr>
              <a:t>● </a:t>
            </a:r>
            <a:r>
              <a:rPr sz="1100">
                <a:solidFill>
                  <a:srgbClr val="1A1A1A"/>
                </a:solidFill>
                <a:latin typeface="Arial"/>
              </a:rPr>
              <a:t>Admin emails you a magic-link invitation.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F28C2C"/>
                </a:solidFill>
                <a:latin typeface="Arial"/>
              </a:rPr>
              <a:t>● </a:t>
            </a:r>
            <a:r>
              <a:rPr sz="1100">
                <a:solidFill>
                  <a:srgbClr val="1A1A1A"/>
                </a:solidFill>
                <a:latin typeface="Arial"/>
              </a:rPr>
              <a:t>Click the link in the email.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F28C2C"/>
                </a:solidFill>
                <a:latin typeface="Arial"/>
              </a:rPr>
              <a:t>● </a:t>
            </a:r>
            <a:r>
              <a:rPr sz="1100">
                <a:solidFill>
                  <a:srgbClr val="1A1A1A"/>
                </a:solidFill>
                <a:latin typeface="Arial"/>
              </a:rPr>
              <a:t>Set a password (12+ chars, mix of letters and numbers).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F28C2C"/>
                </a:solidFill>
                <a:latin typeface="Arial"/>
              </a:rPr>
              <a:t>● </a:t>
            </a:r>
            <a:r>
              <a:rPr sz="1100">
                <a:solidFill>
                  <a:srgbClr val="1A1A1A"/>
                </a:solidFill>
                <a:latin typeface="Arial"/>
              </a:rPr>
              <a:t>You're signed in — bookmark the URL.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F28C2C"/>
                </a:solidFill>
                <a:latin typeface="Arial"/>
              </a:rPr>
              <a:t>● </a:t>
            </a:r>
            <a:r>
              <a:rPr sz="1100">
                <a:solidFill>
                  <a:srgbClr val="1A1A1A"/>
                </a:solidFill>
                <a:latin typeface="Arial"/>
              </a:rPr>
              <a:t>Link expires after 7 days — ask admin to resend if it does.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005072" y="1901952"/>
            <a:ext cx="7863840" cy="443484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onboarding-2-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828800"/>
            <a:ext cx="7863840" cy="44348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931920" y="1828800"/>
            <a:ext cx="7863840" cy="4434840"/>
          </a:xfrm>
          <a:prstGeom prst="rect">
            <a:avLst/>
          </a:prstGeom>
          <a:noFill/>
          <a:ln w="9525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931920" y="6309360"/>
            <a:ext cx="78638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 i="1">
                <a:solidFill>
                  <a:srgbClr val="5C5C5C"/>
                </a:solidFill>
                <a:latin typeface="Arial"/>
              </a:rPr>
              <a:t>The India Learns sign-in screen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Faculty guide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3 / 31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GETTING STARTED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132B5E"/>
                </a:solidFill>
                <a:latin typeface="Calibri"/>
              </a:rPr>
              <a:t>Signing in — every day after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0972800" cy="43891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 b="1">
                <a:solidFill>
                  <a:srgbClr val="132B5E"/>
                </a:solidFill>
                <a:latin typeface="Arial"/>
              </a:rPr>
              <a:t>URL — </a:t>
            </a:r>
            <a:r>
              <a:rPr sz="1200">
                <a:solidFill>
                  <a:srgbClr val="1A1A1A"/>
                </a:solidFill>
                <a:latin typeface="Arial"/>
              </a:rPr>
              <a:t>your bookmarked link (app.indialearns.com or your subdomain).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 b="1">
                <a:solidFill>
                  <a:srgbClr val="132B5E"/>
                </a:solidFill>
                <a:latin typeface="Arial"/>
              </a:rPr>
              <a:t>Email — </a:t>
            </a:r>
            <a:r>
              <a:rPr sz="1200">
                <a:solidFill>
                  <a:srgbClr val="1A1A1A"/>
                </a:solidFill>
                <a:latin typeface="Arial"/>
              </a:rPr>
              <a:t>the same one admin used when they invited you.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 b="1">
                <a:solidFill>
                  <a:srgbClr val="132B5E"/>
                </a:solidFill>
                <a:latin typeface="Arial"/>
              </a:rPr>
              <a:t>Password — </a:t>
            </a:r>
            <a:r>
              <a:rPr sz="1200">
                <a:solidFill>
                  <a:srgbClr val="1A1A1A"/>
                </a:solidFill>
                <a:latin typeface="Arial"/>
              </a:rPr>
              <a:t>the one you set on first login. Case-sensitive.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 b="1">
                <a:solidFill>
                  <a:srgbClr val="132B5E"/>
                </a:solidFill>
                <a:latin typeface="Arial"/>
              </a:rPr>
              <a:t>Stay signed in — </a:t>
            </a:r>
            <a:r>
              <a:rPr sz="1200">
                <a:solidFill>
                  <a:srgbClr val="1A1A1A"/>
                </a:solidFill>
                <a:latin typeface="Arial"/>
              </a:rPr>
              <a:t>tick this box on your own device. Don't tick it on a shared computer.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 b="1">
                <a:solidFill>
                  <a:srgbClr val="132B5E"/>
                </a:solidFill>
                <a:latin typeface="Arial"/>
              </a:rPr>
              <a:t>Sign in button — </a:t>
            </a:r>
            <a:r>
              <a:rPr sz="1200">
                <a:solidFill>
                  <a:srgbClr val="1A1A1A"/>
                </a:solidFill>
                <a:latin typeface="Arial"/>
              </a:rPr>
              <a:t>submits the form. If it shakes, the email/password don't match.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 b="1">
                <a:solidFill>
                  <a:srgbClr val="132B5E"/>
                </a:solidFill>
                <a:latin typeface="Arial"/>
              </a:rPr>
              <a:t>Forgot password? — </a:t>
            </a:r>
            <a:r>
              <a:rPr sz="1200">
                <a:solidFill>
                  <a:srgbClr val="1A1A1A"/>
                </a:solidFill>
                <a:latin typeface="Arial"/>
              </a:rPr>
              <a:t>the link under the form. Sends a reset email. Open the email, click the link, set a new password.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 b="1">
                <a:solidFill>
                  <a:srgbClr val="132B5E"/>
                </a:solidFill>
                <a:latin typeface="Arial"/>
              </a:rPr>
              <a:t>Three wrong attempts — </a:t>
            </a:r>
            <a:r>
              <a:rPr sz="1200">
                <a:solidFill>
                  <a:srgbClr val="1A1A1A"/>
                </a:solidFill>
                <a:latin typeface="Arial"/>
              </a:rPr>
              <a:t>the system locks you out for 15 minutes (security). Wait it out or reset.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 b="1">
                <a:solidFill>
                  <a:srgbClr val="132B5E"/>
                </a:solidFill>
                <a:latin typeface="Arial"/>
              </a:rPr>
              <a:t>Browser warnings — </a:t>
            </a:r>
            <a:r>
              <a:rPr sz="1200">
                <a:solidFill>
                  <a:srgbClr val="1A1A1A"/>
                </a:solidFill>
                <a:latin typeface="Arial"/>
              </a:rPr>
              <a:t>ignore Chrome's 'save password' prompt only if you're on a shared device.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Faculty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4 / 31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LAYOUT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132B5E"/>
                </a:solidFill>
                <a:latin typeface="Calibri"/>
              </a:rPr>
              <a:t>The top navigation — what each link does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3200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i="0">
                <a:solidFill>
                  <a:srgbClr val="132B5E"/>
                </a:solidFill>
                <a:latin typeface="Arial"/>
              </a:rPr>
              <a:t>Always available, top of every page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3200400" cy="41148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1">
                <a:solidFill>
                  <a:srgbClr val="F28C2C"/>
                </a:solidFill>
                <a:latin typeface="Arial"/>
              </a:rPr>
              <a:t>● </a:t>
            </a:r>
            <a:r>
              <a:rPr sz="1100">
                <a:solidFill>
                  <a:srgbClr val="1A1A1A"/>
                </a:solidFill>
                <a:latin typeface="Arial"/>
              </a:rPr>
              <a:t>Logo (top-left) — click to go home.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F28C2C"/>
                </a:solidFill>
                <a:latin typeface="Arial"/>
              </a:rPr>
              <a:t>● </a:t>
            </a:r>
            <a:r>
              <a:rPr sz="1100">
                <a:solidFill>
                  <a:srgbClr val="1A1A1A"/>
                </a:solidFill>
                <a:latin typeface="Arial"/>
              </a:rPr>
              <a:t>Dashboard — your daily home screen.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F28C2C"/>
                </a:solidFill>
                <a:latin typeface="Arial"/>
              </a:rPr>
              <a:t>● </a:t>
            </a:r>
            <a:r>
              <a:rPr sz="1100">
                <a:solidFill>
                  <a:srgbClr val="1A1A1A"/>
                </a:solidFill>
                <a:latin typeface="Arial"/>
              </a:rPr>
              <a:t>My Courses — every course you teach.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F28C2C"/>
                </a:solidFill>
                <a:latin typeface="Arial"/>
              </a:rPr>
              <a:t>● </a:t>
            </a:r>
            <a:r>
              <a:rPr sz="1100">
                <a:solidFill>
                  <a:srgbClr val="1A1A1A"/>
                </a:solidFill>
                <a:latin typeface="Arial"/>
              </a:rPr>
              <a:t>Timetable — your weekly schedule.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F28C2C"/>
                </a:solidFill>
                <a:latin typeface="Arial"/>
              </a:rPr>
              <a:t>● </a:t>
            </a:r>
            <a:r>
              <a:rPr sz="1100">
                <a:solidFill>
                  <a:srgbClr val="1A1A1A"/>
                </a:solidFill>
                <a:latin typeface="Arial"/>
              </a:rPr>
              <a:t>Tickets — raise &amp; track support issues.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F28C2C"/>
                </a:solidFill>
                <a:latin typeface="Arial"/>
              </a:rPr>
              <a:t>● </a:t>
            </a:r>
            <a:r>
              <a:rPr sz="1100">
                <a:solidFill>
                  <a:srgbClr val="1A1A1A"/>
                </a:solidFill>
                <a:latin typeface="Arial"/>
              </a:rPr>
              <a:t>Bell icon — unread notifications count.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F28C2C"/>
                </a:solidFill>
                <a:latin typeface="Arial"/>
              </a:rPr>
              <a:t>● </a:t>
            </a:r>
            <a:r>
              <a:rPr sz="1100">
                <a:solidFill>
                  <a:srgbClr val="1A1A1A"/>
                </a:solidFill>
                <a:latin typeface="Arial"/>
              </a:rPr>
              <a:t>Profile circle — settings, sign out.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1828800"/>
            <a:ext cx="786384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931920" y="1828800"/>
            <a:ext cx="7863840" cy="29260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023360" y="1920240"/>
            <a:ext cx="118872" cy="118872"/>
          </a:xfrm>
          <a:prstGeom prst="ellipse">
            <a:avLst/>
          </a:prstGeom>
          <a:solidFill>
            <a:srgbClr val="E06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206240" y="1920240"/>
            <a:ext cx="118872" cy="118872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389120" y="1920240"/>
            <a:ext cx="118872" cy="118872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0" y="1828800"/>
            <a:ext cx="694944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900" b="0" i="0">
                <a:solidFill>
                  <a:srgbClr val="5C5C5C"/>
                </a:solidFill>
                <a:latin typeface="Arial"/>
              </a:rPr>
              <a:t>app.indialearns.com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31920" y="2121408"/>
            <a:ext cx="7863840" cy="457200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0" y="2121408"/>
            <a:ext cx="219456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India Learns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2121408"/>
            <a:ext cx="219456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400" b="0" i="0">
                <a:solidFill>
                  <a:srgbClr val="FFFFFF"/>
                </a:solidFill>
                <a:latin typeface="Arial"/>
              </a:rPr>
              <a:t>·  ·  ·  ·  ·  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84280" y="2121408"/>
            <a:ext cx="32004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0520" y="2807208"/>
            <a:ext cx="2103120" cy="347472"/>
          </a:xfrm>
          <a:prstGeom prst="roundRect">
            <a:avLst>
              <a:gd name="adj" fmla="val 30000"/>
            </a:avLst>
          </a:prstGeom>
          <a:solidFill>
            <a:srgbClr val="E3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60520" y="2807208"/>
            <a:ext cx="2103120" cy="34747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132B5E"/>
                </a:solidFill>
                <a:latin typeface="Arial"/>
              </a:rPr>
              <a:t>Logo (top-left)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807208"/>
            <a:ext cx="320040" cy="34747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 i="0">
                <a:solidFill>
                  <a:srgbClr val="F28C2C"/>
                </a:solidFill>
                <a:latin typeface="Arial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807208"/>
            <a:ext cx="4892040" cy="34747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Click to go to your dashboard from anywhere.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60520" y="3264408"/>
            <a:ext cx="2103120" cy="347472"/>
          </a:xfrm>
          <a:prstGeom prst="roundRect">
            <a:avLst>
              <a:gd name="adj" fmla="val 30000"/>
            </a:avLst>
          </a:prstGeom>
          <a:solidFill>
            <a:srgbClr val="E3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60520" y="3264408"/>
            <a:ext cx="2103120" cy="34747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132B5E"/>
                </a:solidFill>
                <a:latin typeface="Arial"/>
              </a:rPr>
              <a:t>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264408"/>
            <a:ext cx="320040" cy="34747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 i="0">
                <a:solidFill>
                  <a:srgbClr val="F28C2C"/>
                </a:solidFill>
                <a:latin typeface="Arial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3264408"/>
            <a:ext cx="4892040" cy="34747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Your home — what needs attention today.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60520" y="3721608"/>
            <a:ext cx="2103120" cy="347472"/>
          </a:xfrm>
          <a:prstGeom prst="roundRect">
            <a:avLst>
              <a:gd name="adj" fmla="val 30000"/>
            </a:avLst>
          </a:prstGeom>
          <a:solidFill>
            <a:srgbClr val="E3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60520" y="3721608"/>
            <a:ext cx="2103120" cy="34747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132B5E"/>
                </a:solidFill>
                <a:latin typeface="Arial"/>
              </a:rPr>
              <a:t>My Courses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721608"/>
            <a:ext cx="320040" cy="34747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 i="0">
                <a:solidFill>
                  <a:srgbClr val="F28C2C"/>
                </a:solidFill>
                <a:latin typeface="Arial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3721608"/>
            <a:ext cx="4892040" cy="34747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Every course you teach. Sandbox or Published.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60520" y="4178808"/>
            <a:ext cx="2103120" cy="347472"/>
          </a:xfrm>
          <a:prstGeom prst="roundRect">
            <a:avLst>
              <a:gd name="adj" fmla="val 30000"/>
            </a:avLst>
          </a:prstGeom>
          <a:solidFill>
            <a:srgbClr val="E3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160520" y="4178808"/>
            <a:ext cx="2103120" cy="34747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132B5E"/>
                </a:solidFill>
                <a:latin typeface="Arial"/>
              </a:rPr>
              <a:t>Timetable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4178808"/>
            <a:ext cx="320040" cy="34747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 i="0">
                <a:solidFill>
                  <a:srgbClr val="F28C2C"/>
                </a:solidFill>
                <a:latin typeface="Arial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4178808"/>
            <a:ext cx="4892040" cy="34747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Your weekly schedule — only your classes.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60520" y="4636008"/>
            <a:ext cx="2103120" cy="347472"/>
          </a:xfrm>
          <a:prstGeom prst="roundRect">
            <a:avLst>
              <a:gd name="adj" fmla="val 30000"/>
            </a:avLst>
          </a:prstGeom>
          <a:solidFill>
            <a:srgbClr val="E3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160520" y="4636008"/>
            <a:ext cx="2103120" cy="34747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132B5E"/>
                </a:solidFill>
                <a:latin typeface="Arial"/>
              </a:rPr>
              <a:t>Tickets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4636008"/>
            <a:ext cx="320040" cy="34747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 i="0">
                <a:solidFill>
                  <a:srgbClr val="F28C2C"/>
                </a:solidFill>
                <a:latin typeface="Arial"/>
              </a:rP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4636008"/>
            <a:ext cx="4892040" cy="34747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Raise a tech issue. Track it through resolution.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60520" y="5093208"/>
            <a:ext cx="2103120" cy="347472"/>
          </a:xfrm>
          <a:prstGeom prst="roundRect">
            <a:avLst>
              <a:gd name="adj" fmla="val 30000"/>
            </a:avLst>
          </a:prstGeom>
          <a:solidFill>
            <a:srgbClr val="E3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160520" y="5093208"/>
            <a:ext cx="2103120" cy="34747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132B5E"/>
                </a:solidFill>
                <a:latin typeface="Arial"/>
              </a:rPr>
              <a:t>Bell icon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5093208"/>
            <a:ext cx="320040" cy="34747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 i="0">
                <a:solidFill>
                  <a:srgbClr val="F28C2C"/>
                </a:solidFill>
                <a:latin typeface="Arial"/>
              </a:rPr>
              <a:t>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0" y="5093208"/>
            <a:ext cx="4892040" cy="34747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Unread notifications count. Click for the full list.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60520" y="5550408"/>
            <a:ext cx="2103120" cy="347472"/>
          </a:xfrm>
          <a:prstGeom prst="roundRect">
            <a:avLst>
              <a:gd name="adj" fmla="val 30000"/>
            </a:avLst>
          </a:prstGeom>
          <a:solidFill>
            <a:srgbClr val="E3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160520" y="5550408"/>
            <a:ext cx="2103120" cy="34747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132B5E"/>
                </a:solidFill>
                <a:latin typeface="Arial"/>
              </a:rPr>
              <a:t>Profile circle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5550408"/>
            <a:ext cx="320040" cy="34747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 i="0">
                <a:solidFill>
                  <a:srgbClr val="F28C2C"/>
                </a:solidFill>
                <a:latin typeface="Arial"/>
              </a:rPr>
              <a:t>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0" y="5550408"/>
            <a:ext cx="4892040" cy="34747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Settings, preferences, sign out menu.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Faculty guide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5 / 31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HOME SCREEN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132B5E"/>
                </a:solidFill>
                <a:latin typeface="Calibri"/>
              </a:rPr>
              <a:t>Your dashboard — every card explained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3200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i="0">
                <a:solidFill>
                  <a:srgbClr val="132B5E"/>
                </a:solidFill>
                <a:latin typeface="Arial"/>
              </a:rPr>
              <a:t>What you see when you sign 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3200400" cy="41148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1">
                <a:solidFill>
                  <a:srgbClr val="F28C2C"/>
                </a:solidFill>
                <a:latin typeface="Arial"/>
              </a:rPr>
              <a:t>● </a:t>
            </a:r>
            <a:r>
              <a:rPr sz="1100">
                <a:solidFill>
                  <a:srgbClr val="1A1A1A"/>
                </a:solidFill>
                <a:latin typeface="Arial"/>
              </a:rPr>
              <a:t>Personal greeting — your name + time of day.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F28C2C"/>
                </a:solidFill>
                <a:latin typeface="Arial"/>
              </a:rPr>
              <a:t>● </a:t>
            </a:r>
            <a:r>
              <a:rPr sz="1100">
                <a:solidFill>
                  <a:srgbClr val="1A1A1A"/>
                </a:solidFill>
                <a:latin typeface="Arial"/>
              </a:rPr>
              <a:t>My Courses card — quick links to each course.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F28C2C"/>
                </a:solidFill>
                <a:latin typeface="Arial"/>
              </a:rPr>
              <a:t>● </a:t>
            </a:r>
            <a:r>
              <a:rPr sz="1100">
                <a:solidFill>
                  <a:srgbClr val="1A1A1A"/>
                </a:solidFill>
                <a:latin typeface="Arial"/>
              </a:rPr>
              <a:t>This Week card — your upcoming classes.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F28C2C"/>
                </a:solidFill>
                <a:latin typeface="Arial"/>
              </a:rPr>
              <a:t>● </a:t>
            </a:r>
            <a:r>
              <a:rPr sz="1100">
                <a:solidFill>
                  <a:srgbClr val="1A1A1A"/>
                </a:solidFill>
                <a:latin typeface="Arial"/>
              </a:rPr>
              <a:t>Awaiting your feedback — submissions to grade.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F28C2C"/>
                </a:solidFill>
                <a:latin typeface="Arial"/>
              </a:rPr>
              <a:t>● </a:t>
            </a:r>
            <a:r>
              <a:rPr sz="1100">
                <a:solidFill>
                  <a:srgbClr val="1A1A1A"/>
                </a:solidFill>
                <a:latin typeface="Arial"/>
              </a:rPr>
              <a:t>Notifications card — recent admin pings.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F28C2C"/>
                </a:solidFill>
                <a:latin typeface="Arial"/>
              </a:rPr>
              <a:t>● </a:t>
            </a:r>
            <a:r>
              <a:rPr sz="1100">
                <a:solidFill>
                  <a:srgbClr val="1A1A1A"/>
                </a:solidFill>
                <a:latin typeface="Arial"/>
              </a:rPr>
              <a:t>Every card is clickable — jumps you into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005072" y="1901952"/>
            <a:ext cx="7863840" cy="443484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aculty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828800"/>
            <a:ext cx="7863840" cy="44348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931920" y="1828800"/>
            <a:ext cx="7863840" cy="4434840"/>
          </a:xfrm>
          <a:prstGeom prst="rect">
            <a:avLst/>
          </a:prstGeom>
          <a:noFill/>
          <a:ln w="9525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931920" y="6309360"/>
            <a:ext cx="78638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 i="1">
                <a:solidFill>
                  <a:srgbClr val="5C5C5C"/>
                </a:solidFill>
                <a:latin typeface="Arial"/>
              </a:rPr>
              <a:t>Faculty dashboard — your home screen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Faculty guide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6 / 31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HOME SCREEN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132B5E"/>
                </a:solidFill>
                <a:latin typeface="Calibri"/>
              </a:rPr>
              <a:t>Dashboard cards — what to click and when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0972800" cy="43891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F28C2C"/>
                </a:solidFill>
                <a:latin typeface="Arial"/>
              </a:rPr>
              <a:t>● </a:t>
            </a:r>
            <a:r>
              <a:rPr sz="1300" b="1">
                <a:solidFill>
                  <a:srgbClr val="132B5E"/>
                </a:solidFill>
                <a:latin typeface="Arial"/>
              </a:rPr>
              <a:t>My Courses card — </a:t>
            </a:r>
            <a:r>
              <a:rPr sz="1300">
                <a:solidFill>
                  <a:srgbClr val="1A1A1A"/>
                </a:solidFill>
                <a:latin typeface="Arial"/>
              </a:rPr>
              <a:t>shows every course assigned to you. Click a course name to enter it.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F28C2C"/>
                </a:solidFill>
                <a:latin typeface="Arial"/>
              </a:rPr>
              <a:t>● </a:t>
            </a:r>
            <a:r>
              <a:rPr sz="1300" b="1">
                <a:solidFill>
                  <a:srgbClr val="132B5E"/>
                </a:solidFill>
                <a:latin typeface="Arial"/>
              </a:rPr>
              <a:t>This Week card — </a:t>
            </a:r>
            <a:r>
              <a:rPr sz="1300">
                <a:solidFill>
                  <a:srgbClr val="1A1A1A"/>
                </a:solidFill>
                <a:latin typeface="Arial"/>
              </a:rPr>
              <a:t>next 5–7 classes. Click any row to open that session directly.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F28C2C"/>
                </a:solidFill>
                <a:latin typeface="Arial"/>
              </a:rPr>
              <a:t>● </a:t>
            </a:r>
            <a:r>
              <a:rPr sz="1300" b="1">
                <a:solidFill>
                  <a:srgbClr val="132B5E"/>
                </a:solidFill>
                <a:latin typeface="Arial"/>
              </a:rPr>
              <a:t>Awaiting your feedback — </a:t>
            </a:r>
            <a:r>
              <a:rPr sz="1300">
                <a:solidFill>
                  <a:srgbClr val="1A1A1A"/>
                </a:solidFill>
                <a:latin typeface="Arial"/>
              </a:rPr>
              <a:t>submissions that need grading. Click any to open the grading screen.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F28C2C"/>
                </a:solidFill>
                <a:latin typeface="Arial"/>
              </a:rPr>
              <a:t>● </a:t>
            </a:r>
            <a:r>
              <a:rPr sz="1300" b="1">
                <a:solidFill>
                  <a:srgbClr val="132B5E"/>
                </a:solidFill>
                <a:latin typeface="Arial"/>
              </a:rPr>
              <a:t>Notifications card — </a:t>
            </a:r>
            <a:r>
              <a:rPr sz="1300">
                <a:solidFill>
                  <a:srgbClr val="1A1A1A"/>
                </a:solidFill>
                <a:latin typeface="Arial"/>
              </a:rPr>
              <a:t>the 5 newest unread messages. Click the bell at top-right to see ALL.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F28C2C"/>
                </a:solidFill>
                <a:latin typeface="Arial"/>
              </a:rPr>
              <a:t>● </a:t>
            </a:r>
            <a:r>
              <a:rPr sz="1300" b="1">
                <a:solidFill>
                  <a:srgbClr val="132B5E"/>
                </a:solidFill>
                <a:latin typeface="Arial"/>
              </a:rPr>
              <a:t>Quick actions (if shown) — </a:t>
            </a:r>
            <a:r>
              <a:rPr sz="1300">
                <a:solidFill>
                  <a:srgbClr val="1A1A1A"/>
                </a:solidFill>
                <a:latin typeface="Arial"/>
              </a:rPr>
              <a:t>shortcuts like 'Take attendance for today's class' or 'Open digest'.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F28C2C"/>
                </a:solidFill>
                <a:latin typeface="Arial"/>
              </a:rPr>
              <a:t>● </a:t>
            </a:r>
            <a:r>
              <a:rPr sz="1300" b="1">
                <a:solidFill>
                  <a:srgbClr val="132B5E"/>
                </a:solidFill>
                <a:latin typeface="Arial"/>
              </a:rPr>
              <a:t>Empty states — </a:t>
            </a:r>
            <a:r>
              <a:rPr sz="1300">
                <a:solidFill>
                  <a:srgbClr val="1A1A1A"/>
                </a:solidFill>
                <a:latin typeface="Arial"/>
              </a:rPr>
              <a:t>if a card says 'Nothing to do here', that's good. Means you're caught up.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F28C2C"/>
                </a:solidFill>
                <a:latin typeface="Arial"/>
              </a:rPr>
              <a:t>● </a:t>
            </a:r>
            <a:r>
              <a:rPr sz="1300" b="1">
                <a:solidFill>
                  <a:srgbClr val="132B5E"/>
                </a:solidFill>
                <a:latin typeface="Arial"/>
              </a:rPr>
              <a:t>Refresh — </a:t>
            </a:r>
            <a:r>
              <a:rPr sz="1300">
                <a:solidFill>
                  <a:srgbClr val="1A1A1A"/>
                </a:solidFill>
                <a:latin typeface="Arial"/>
              </a:rPr>
              <a:t>the dashboard refreshes automatically. Pull-to-refresh on phone, or use browser refresh.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Faculty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7 / 31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COURSES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132B5E"/>
                </a:solidFill>
                <a:latin typeface="Calibri"/>
              </a:rPr>
              <a:t>My Courses — opening a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3200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i="0">
                <a:solidFill>
                  <a:srgbClr val="132B5E"/>
                </a:solidFill>
                <a:latin typeface="Arial"/>
              </a:rPr>
              <a:t>One row per course you teach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3200400" cy="41148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1">
                <a:solidFill>
                  <a:srgbClr val="F28C2C"/>
                </a:solidFill>
                <a:latin typeface="Arial"/>
              </a:rPr>
              <a:t>● </a:t>
            </a:r>
            <a:r>
              <a:rPr sz="1100">
                <a:solidFill>
                  <a:srgbClr val="1A1A1A"/>
                </a:solidFill>
                <a:latin typeface="Arial"/>
              </a:rPr>
              <a:t>Course title and code (e.g. AVI-101).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F28C2C"/>
                </a:solidFill>
                <a:latin typeface="Arial"/>
              </a:rPr>
              <a:t>● </a:t>
            </a:r>
            <a:r>
              <a:rPr sz="1100">
                <a:solidFill>
                  <a:srgbClr val="1A1A1A"/>
                </a:solidFill>
                <a:latin typeface="Arial"/>
              </a:rPr>
              <a:t>State badge — Sandbox or Published.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F28C2C"/>
                </a:solidFill>
                <a:latin typeface="Arial"/>
              </a:rPr>
              <a:t>● </a:t>
            </a:r>
            <a:r>
              <a:rPr sz="1100">
                <a:solidFill>
                  <a:srgbClr val="1A1A1A"/>
                </a:solidFill>
                <a:latin typeface="Arial"/>
              </a:rPr>
              <a:t>Cohort/batch name.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F28C2C"/>
                </a:solidFill>
                <a:latin typeface="Arial"/>
              </a:rPr>
              <a:t>● </a:t>
            </a:r>
            <a:r>
              <a:rPr sz="1100">
                <a:solidFill>
                  <a:srgbClr val="1A1A1A"/>
                </a:solidFill>
                <a:latin typeface="Arial"/>
              </a:rPr>
              <a:t>Click any row to enter the course shell.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F28C2C"/>
                </a:solidFill>
                <a:latin typeface="Arial"/>
              </a:rPr>
              <a:t>● </a:t>
            </a:r>
            <a:r>
              <a:rPr sz="1100">
                <a:solidFill>
                  <a:srgbClr val="1A1A1A"/>
                </a:solidFill>
                <a:latin typeface="Arial"/>
              </a:rPr>
              <a:t>You only see your own courses.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005072" y="1901952"/>
            <a:ext cx="7863840" cy="443484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aculty-cour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828800"/>
            <a:ext cx="7863840" cy="44348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931920" y="1828800"/>
            <a:ext cx="7863840" cy="4434840"/>
          </a:xfrm>
          <a:prstGeom prst="rect">
            <a:avLst/>
          </a:prstGeom>
          <a:noFill/>
          <a:ln w="9525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931920" y="6309360"/>
            <a:ext cx="78638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 i="1">
                <a:solidFill>
                  <a:srgbClr val="5C5C5C"/>
                </a:solidFill>
                <a:latin typeface="Arial"/>
              </a:rPr>
              <a:t>The My Courses list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Faculty guide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8 / 31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COURSES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132B5E"/>
                </a:solidFill>
                <a:latin typeface="Calibri"/>
              </a:rPr>
              <a:t>Sandbox vs Published — what the badges mean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486400" cy="4206240"/>
          </a:xfrm>
          <a:prstGeom prst="roundRect">
            <a:avLst>
              <a:gd name="adj" fmla="val 12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512064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F28C2C"/>
                </a:solidFill>
                <a:latin typeface="Arial"/>
              </a:rPr>
              <a:t>SANDBOX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51206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i="0">
                <a:solidFill>
                  <a:srgbClr val="132B5E"/>
                </a:solidFill>
                <a:latin typeface="Arial"/>
              </a:rPr>
              <a:t>Course is still being prepared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5120640" cy="3017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>
                <a:solidFill>
                  <a:srgbClr val="1A1A1A"/>
                </a:solidFill>
                <a:latin typeface="Arial"/>
              </a:rPr>
              <a:t>Students enrolled in the batch CANNOT see the course.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>
                <a:solidFill>
                  <a:srgbClr val="1A1A1A"/>
                </a:solidFill>
                <a:latin typeface="Arial"/>
              </a:rPr>
              <a:t>You can edit content, change order, fix typos freely.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>
                <a:solidFill>
                  <a:srgbClr val="1A1A1A"/>
                </a:solidFill>
                <a:latin typeface="Arial"/>
              </a:rPr>
              <a:t>Curriculum team may still be loading materials.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>
                <a:solidFill>
                  <a:srgbClr val="1A1A1A"/>
                </a:solidFill>
                <a:latin typeface="Arial"/>
              </a:rPr>
              <a:t>Use this state to prepare — no student impact.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>
                <a:solidFill>
                  <a:srgbClr val="1A1A1A"/>
                </a:solidFill>
                <a:latin typeface="Arial"/>
              </a:rPr>
              <a:t>Admin flips to Published when ready.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828800"/>
            <a:ext cx="5486400" cy="4206240"/>
          </a:xfrm>
          <a:prstGeom prst="roundRect">
            <a:avLst>
              <a:gd name="adj" fmla="val 12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2011680"/>
            <a:ext cx="512064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  <a:latin typeface="Arial"/>
              </a:rPr>
              <a:t>PUBLISHED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423160"/>
            <a:ext cx="51206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i="0">
                <a:solidFill>
                  <a:srgbClr val="132B5E"/>
                </a:solidFill>
                <a:latin typeface="Arial"/>
              </a:rPr>
              <a:t>Course is live for students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926080"/>
            <a:ext cx="5120640" cy="3017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>
                <a:solidFill>
                  <a:srgbClr val="1A1A1A"/>
                </a:solidFill>
                <a:latin typeface="Arial"/>
              </a:rPr>
              <a:t>Students see the course on THEIR dashboard.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>
                <a:solidFill>
                  <a:srgbClr val="1A1A1A"/>
                </a:solidFill>
                <a:latin typeface="Arial"/>
              </a:rPr>
              <a:t>They can access content, submit assignments.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>
                <a:solidFill>
                  <a:srgbClr val="1A1A1A"/>
                </a:solidFill>
                <a:latin typeface="Arial"/>
              </a:rPr>
              <a:t>You can still edit, but changes are visible.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>
                <a:solidFill>
                  <a:srgbClr val="1A1A1A"/>
                </a:solidFill>
                <a:latin typeface="Arial"/>
              </a:rPr>
              <a:t>Attendance, grading, completion all active.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>
                <a:solidFill>
                  <a:srgbClr val="1A1A1A"/>
                </a:solidFill>
                <a:latin typeface="Arial"/>
              </a:rPr>
              <a:t>This is the 'live teaching' state.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Faculty guide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9 / 31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COURSE SHELL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132B5E"/>
                </a:solidFill>
                <a:latin typeface="Calibri"/>
              </a:rPr>
              <a:t>Inside a course — the four tabs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0972800" cy="43891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F28C2C"/>
                </a:solidFill>
                <a:latin typeface="Arial"/>
              </a:rPr>
              <a:t>● </a:t>
            </a:r>
            <a:r>
              <a:rPr sz="1300" b="1">
                <a:solidFill>
                  <a:srgbClr val="132B5E"/>
                </a:solidFill>
                <a:latin typeface="Arial"/>
              </a:rPr>
              <a:t>Overview — </a:t>
            </a:r>
            <a:r>
              <a:rPr sz="1300">
                <a:solidFill>
                  <a:srgbClr val="1A1A1A"/>
                </a:solidFill>
                <a:latin typeface="Arial"/>
              </a:rPr>
              <a:t>your control panel. Stat cards (modules, sessions, assignments, grading backlog) + upcoming sessions list.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F28C2C"/>
                </a:solidFill>
                <a:latin typeface="Arial"/>
              </a:rPr>
              <a:t>● </a:t>
            </a:r>
            <a:r>
              <a:rPr sz="1300" b="1">
                <a:solidFill>
                  <a:srgbClr val="132B5E"/>
                </a:solidFill>
                <a:latin typeface="Arial"/>
              </a:rPr>
              <a:t>Content — </a:t>
            </a:r>
            <a:r>
              <a:rPr sz="1300">
                <a:solidFill>
                  <a:srgbClr val="1A1A1A"/>
                </a:solidFill>
                <a:latin typeface="Arial"/>
              </a:rPr>
              <a:t>the module → session tree. Where you go to teach. Drag-to-reorder lives here.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F28C2C"/>
                </a:solidFill>
                <a:latin typeface="Arial"/>
              </a:rPr>
              <a:t>● </a:t>
            </a:r>
            <a:r>
              <a:rPr sz="1300" b="1">
                <a:solidFill>
                  <a:srgbClr val="132B5E"/>
                </a:solidFill>
                <a:latin typeface="Arial"/>
              </a:rPr>
              <a:t>Gradebook — </a:t>
            </a:r>
            <a:r>
              <a:rPr sz="1300">
                <a:solidFill>
                  <a:srgbClr val="1A1A1A"/>
                </a:solidFill>
                <a:latin typeface="Arial"/>
              </a:rPr>
              <a:t>the grading command centre. Grid view of every student × every assignment.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F28C2C"/>
                </a:solidFill>
                <a:latin typeface="Arial"/>
              </a:rPr>
              <a:t>● </a:t>
            </a:r>
            <a:r>
              <a:rPr sz="1300" b="1">
                <a:solidFill>
                  <a:srgbClr val="132B5E"/>
                </a:solidFill>
                <a:latin typeface="Arial"/>
              </a:rPr>
              <a:t>Roster — </a:t>
            </a:r>
            <a:r>
              <a:rPr sz="1300">
                <a:solidFill>
                  <a:srgbClr val="1A1A1A"/>
                </a:solidFill>
                <a:latin typeface="Arial"/>
              </a:rPr>
              <a:t>the list of students enrolled in this course. Names, emails, attendance summary.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F28C2C"/>
                </a:solidFill>
                <a:latin typeface="Arial"/>
              </a:rPr>
              <a:t>● </a:t>
            </a:r>
            <a:r>
              <a:rPr sz="1300" b="1">
                <a:solidFill>
                  <a:srgbClr val="132B5E"/>
                </a:solidFill>
                <a:latin typeface="Arial"/>
              </a:rPr>
              <a:t>Switching tabs — </a:t>
            </a:r>
            <a:r>
              <a:rPr sz="1300">
                <a:solidFill>
                  <a:srgbClr val="1A1A1A"/>
                </a:solidFill>
                <a:latin typeface="Arial"/>
              </a:rPr>
              <a:t>click the tab name. No data is lost — you can switch freely.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F28C2C"/>
                </a:solidFill>
                <a:latin typeface="Arial"/>
              </a:rPr>
              <a:t>● </a:t>
            </a:r>
            <a:r>
              <a:rPr sz="1300" b="1">
                <a:solidFill>
                  <a:srgbClr val="132B5E"/>
                </a:solidFill>
                <a:latin typeface="Arial"/>
              </a:rPr>
              <a:t>Browser back — </a:t>
            </a:r>
            <a:r>
              <a:rPr sz="1300">
                <a:solidFill>
                  <a:srgbClr val="1A1A1A"/>
                </a:solidFill>
                <a:latin typeface="Arial"/>
              </a:rPr>
              <a:t>takes you back to My Courses. Browser forward returns to the same tab.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F28C2C"/>
                </a:solidFill>
                <a:latin typeface="Arial"/>
              </a:rPr>
              <a:t>● </a:t>
            </a:r>
            <a:r>
              <a:rPr sz="1300" b="1">
                <a:solidFill>
                  <a:srgbClr val="132B5E"/>
                </a:solidFill>
                <a:latin typeface="Arial"/>
              </a:rPr>
              <a:t>URL bookmarking — </a:t>
            </a:r>
            <a:r>
              <a:rPr sz="1300">
                <a:solidFill>
                  <a:srgbClr val="1A1A1A"/>
                </a:solidFill>
                <a:latin typeface="Arial"/>
              </a:rPr>
              <a:t>the URL changes per tab. Bookmark 'Gradebook' to land there every time.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Faculty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10 / 31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INSIDE A COURSE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132B5E"/>
                </a:solidFill>
                <a:latin typeface="Calibri"/>
              </a:rPr>
              <a:t>Overview tab — your course control panel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3200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i="0">
                <a:solidFill>
                  <a:srgbClr val="132B5E"/>
                </a:solidFill>
                <a:latin typeface="Arial"/>
              </a:rPr>
              <a:t>Stat cards at the 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3200400" cy="41148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1">
                <a:solidFill>
                  <a:srgbClr val="F28C2C"/>
                </a:solidFill>
                <a:latin typeface="Arial"/>
              </a:rPr>
              <a:t>● </a:t>
            </a:r>
            <a:r>
              <a:rPr sz="1100">
                <a:solidFill>
                  <a:srgbClr val="1A1A1A"/>
                </a:solidFill>
                <a:latin typeface="Arial"/>
              </a:rPr>
              <a:t>Modules — how many modules in the course.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F28C2C"/>
                </a:solidFill>
                <a:latin typeface="Arial"/>
              </a:rPr>
              <a:t>● </a:t>
            </a:r>
            <a:r>
              <a:rPr sz="1100">
                <a:solidFill>
                  <a:srgbClr val="1A1A1A"/>
                </a:solidFill>
                <a:latin typeface="Arial"/>
              </a:rPr>
              <a:t>Sessions — total lessons across all modules.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F28C2C"/>
                </a:solidFill>
                <a:latin typeface="Arial"/>
              </a:rPr>
              <a:t>● </a:t>
            </a:r>
            <a:r>
              <a:rPr sz="1100">
                <a:solidFill>
                  <a:srgbClr val="1A1A1A"/>
                </a:solidFill>
                <a:latin typeface="Arial"/>
              </a:rPr>
              <a:t>Assignments — total assignments students will work through.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F28C2C"/>
                </a:solidFill>
                <a:latin typeface="Arial"/>
              </a:rPr>
              <a:t>● </a:t>
            </a:r>
            <a:r>
              <a:rPr sz="1100">
                <a:solidFill>
                  <a:srgbClr val="1A1A1A"/>
                </a:solidFill>
                <a:latin typeface="Arial"/>
              </a:rPr>
              <a:t>Grading backlog — submissions awaiting your action.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F28C2C"/>
                </a:solidFill>
                <a:latin typeface="Arial"/>
              </a:rPr>
              <a:t>● </a:t>
            </a:r>
            <a:r>
              <a:rPr sz="1100">
                <a:solidFill>
                  <a:srgbClr val="1A1A1A"/>
                </a:solidFill>
                <a:latin typeface="Arial"/>
              </a:rPr>
              <a:t>Upcoming sessions — your next 3-5 classes.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F28C2C"/>
                </a:solidFill>
                <a:latin typeface="Arial"/>
              </a:rPr>
              <a:t>● </a:t>
            </a:r>
            <a:r>
              <a:rPr sz="1100">
                <a:solidFill>
                  <a:srgbClr val="1A1A1A"/>
                </a:solidFill>
                <a:latin typeface="Arial"/>
              </a:rPr>
              <a:t>Click any number to jump straight to that view.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1828800"/>
            <a:ext cx="786384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931920" y="1828800"/>
            <a:ext cx="7863840" cy="29260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023360" y="1920240"/>
            <a:ext cx="118872" cy="118872"/>
          </a:xfrm>
          <a:prstGeom prst="ellipse">
            <a:avLst/>
          </a:prstGeom>
          <a:solidFill>
            <a:srgbClr val="E06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206240" y="1920240"/>
            <a:ext cx="118872" cy="118872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389120" y="1920240"/>
            <a:ext cx="118872" cy="118872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0" y="1828800"/>
            <a:ext cx="694944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900" b="0" i="0">
                <a:solidFill>
                  <a:srgbClr val="5C5C5C"/>
                </a:solidFill>
                <a:latin typeface="Arial"/>
              </a:rPr>
              <a:t>app.indialearns.com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31920" y="2121408"/>
            <a:ext cx="7863840" cy="41148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160520" y="2487168"/>
            <a:ext cx="868680" cy="45720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60520" y="2121408"/>
            <a:ext cx="86868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1" i="0">
                <a:solidFill>
                  <a:srgbClr val="132B5E"/>
                </a:solidFill>
                <a:latin typeface="Arial"/>
              </a:rPr>
              <a:t>Overview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2121408"/>
            <a:ext cx="86868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0" i="0">
                <a:solidFill>
                  <a:srgbClr val="5C5C5C"/>
                </a:solidFill>
                <a:latin typeface="Arial"/>
              </a:rPr>
              <a:t>Content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2121408"/>
            <a:ext cx="86868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0" i="0">
                <a:solidFill>
                  <a:srgbClr val="5C5C5C"/>
                </a:solidFill>
                <a:latin typeface="Arial"/>
              </a:rPr>
              <a:t>Gradebook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2121408"/>
            <a:ext cx="86868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0" i="0">
                <a:solidFill>
                  <a:srgbClr val="5C5C5C"/>
                </a:solidFill>
                <a:latin typeface="Arial"/>
              </a:rPr>
              <a:t>Roster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2715768"/>
            <a:ext cx="169164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206240" y="2715768"/>
            <a:ext cx="1691640" cy="7315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06240" y="2944368"/>
            <a:ext cx="1691640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3600" b="1" i="0">
                <a:solidFill>
                  <a:srgbClr val="132B5E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3675888"/>
            <a:ext cx="16916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 i="0">
                <a:solidFill>
                  <a:srgbClr val="5C5C5C"/>
                </a:solidFill>
                <a:latin typeface="Arial"/>
              </a:rPr>
              <a:t>Modules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2715768"/>
            <a:ext cx="169164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035040" y="2715768"/>
            <a:ext cx="1691640" cy="7315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035040" y="2944368"/>
            <a:ext cx="1691640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3600" b="1" i="0">
                <a:solidFill>
                  <a:srgbClr val="132B5E"/>
                </a:solidFill>
                <a:latin typeface="Calibri"/>
              </a:rPr>
              <a:t>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3675888"/>
            <a:ext cx="16916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 i="0">
                <a:solidFill>
                  <a:srgbClr val="5C5C5C"/>
                </a:solidFill>
                <a:latin typeface="Arial"/>
              </a:rPr>
              <a:t>Sessions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63840" y="2715768"/>
            <a:ext cx="169164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863840" y="2715768"/>
            <a:ext cx="1691640" cy="7315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863840" y="2944368"/>
            <a:ext cx="1691640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3600" b="1" i="0">
                <a:solidFill>
                  <a:srgbClr val="132B5E"/>
                </a:solidFill>
                <a:latin typeface="Calibri"/>
              </a:rP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3675888"/>
            <a:ext cx="16916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 i="0">
                <a:solidFill>
                  <a:srgbClr val="5C5C5C"/>
                </a:solidFill>
                <a:latin typeface="Arial"/>
              </a:rPr>
              <a:t>Assignments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92640" y="2715768"/>
            <a:ext cx="169164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692640" y="2715768"/>
            <a:ext cx="1691640" cy="73152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692640" y="2944368"/>
            <a:ext cx="1691640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3600" b="1" i="0">
                <a:solidFill>
                  <a:srgbClr val="F28C2C"/>
                </a:solidFill>
                <a:latin typeface="Calibri"/>
              </a:rPr>
              <a:t>14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0" y="3675888"/>
            <a:ext cx="16916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 i="0">
                <a:solidFill>
                  <a:srgbClr val="5C5C5C"/>
                </a:solidFill>
                <a:latin typeface="Arial"/>
              </a:rPr>
              <a:t>Grading backlog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06240" y="4361688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1">
                <a:solidFill>
                  <a:srgbClr val="5C5C5C"/>
                </a:solidFill>
                <a:latin typeface="Arial"/>
              </a:rPr>
              <a:t>All counts are clickable — jump straight to that view.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0" y="4727448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 i="0">
                <a:solidFill>
                  <a:srgbClr val="F28C2C"/>
                </a:solidFill>
                <a:latin typeface="Arial"/>
              </a:rPr>
              <a:t>UPCOMING SESSIONS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06240" y="5047488"/>
            <a:ext cx="7315200" cy="29260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343400" y="5047488"/>
            <a:ext cx="182880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1" i="0">
                <a:solidFill>
                  <a:srgbClr val="132B5E"/>
                </a:solidFill>
                <a:latin typeface="Arial"/>
              </a:rPr>
              <a:t>Mon 20 May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5047488"/>
            <a:ext cx="457200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S1.2 Industry overview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24160" y="5047488"/>
            <a:ext cx="109728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Room 204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06240" y="5376672"/>
            <a:ext cx="7315200" cy="29260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343400" y="5376672"/>
            <a:ext cx="182880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1" i="0">
                <a:solidFill>
                  <a:srgbClr val="132B5E"/>
                </a:solidFill>
                <a:latin typeface="Arial"/>
              </a:rPr>
              <a:t>Tue 21 May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5376672"/>
            <a:ext cx="457200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S1.3 Safety basics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24160" y="5376672"/>
            <a:ext cx="109728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Room 204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06240" y="5705856"/>
            <a:ext cx="7315200" cy="29260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343400" y="5705856"/>
            <a:ext cx="182880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1" i="0">
                <a:solidFill>
                  <a:srgbClr val="132B5E"/>
                </a:solidFill>
                <a:latin typeface="Arial"/>
              </a:rPr>
              <a:t>Thu 23 May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0" y="5705856"/>
            <a:ext cx="457200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S2.1 Customer interaction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24160" y="5705856"/>
            <a:ext cx="109728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Room 204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Faculty guide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11 / 31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INSIDE A COURSE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132B5E"/>
                </a:solidFill>
                <a:latin typeface="Calibri"/>
              </a:rPr>
              <a:t>Content tab — your course tree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3200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i="0">
                <a:solidFill>
                  <a:srgbClr val="132B5E"/>
                </a:solidFill>
                <a:latin typeface="Arial"/>
              </a:rPr>
              <a:t>Module → Session hierarchy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3200400" cy="41148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1">
                <a:solidFill>
                  <a:srgbClr val="F28C2C"/>
                </a:solidFill>
                <a:latin typeface="Arial"/>
              </a:rPr>
              <a:t>● </a:t>
            </a:r>
            <a:r>
              <a:rPr sz="1100">
                <a:solidFill>
                  <a:srgbClr val="1A1A1A"/>
                </a:solidFill>
                <a:latin typeface="Arial"/>
              </a:rPr>
              <a:t>Top level: Modules (M1, M2, M3…).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F28C2C"/>
                </a:solidFill>
                <a:latin typeface="Arial"/>
              </a:rPr>
              <a:t>● </a:t>
            </a:r>
            <a:r>
              <a:rPr sz="1100">
                <a:solidFill>
                  <a:srgbClr val="1A1A1A"/>
                </a:solidFill>
                <a:latin typeface="Arial"/>
              </a:rPr>
              <a:t>Click ▼ to expand a module's sessions.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F28C2C"/>
                </a:solidFill>
                <a:latin typeface="Arial"/>
              </a:rPr>
              <a:t>● </a:t>
            </a:r>
            <a:r>
              <a:rPr sz="1100">
                <a:solidFill>
                  <a:srgbClr val="1A1A1A"/>
                </a:solidFill>
                <a:latin typeface="Arial"/>
              </a:rPr>
              <a:t>Click again to collapse.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F28C2C"/>
                </a:solidFill>
                <a:latin typeface="Arial"/>
              </a:rPr>
              <a:t>● </a:t>
            </a:r>
            <a:r>
              <a:rPr sz="1100">
                <a:solidFill>
                  <a:srgbClr val="1A1A1A"/>
                </a:solidFill>
                <a:latin typeface="Arial"/>
              </a:rPr>
              <a:t>Each session is a lesson — its own page.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F28C2C"/>
                </a:solidFill>
                <a:latin typeface="Arial"/>
              </a:rPr>
              <a:t>● </a:t>
            </a:r>
            <a:r>
              <a:rPr sz="1100">
                <a:solidFill>
                  <a:srgbClr val="1A1A1A"/>
                </a:solidFill>
                <a:latin typeface="Arial"/>
              </a:rPr>
              <a:t>Drag the ⋮⋮ handle to reorder sessions.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F28C2C"/>
                </a:solidFill>
                <a:latin typeface="Arial"/>
              </a:rPr>
              <a:t>● </a:t>
            </a:r>
            <a:r>
              <a:rPr sz="1100">
                <a:solidFill>
                  <a:srgbClr val="1A1A1A"/>
                </a:solidFill>
                <a:latin typeface="Arial"/>
              </a:rPr>
              <a:t>Auto-generated finals are locked from reorder.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1828800"/>
            <a:ext cx="786384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931920" y="1828800"/>
            <a:ext cx="7863840" cy="29260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023360" y="1920240"/>
            <a:ext cx="118872" cy="118872"/>
          </a:xfrm>
          <a:prstGeom prst="ellipse">
            <a:avLst/>
          </a:prstGeom>
          <a:solidFill>
            <a:srgbClr val="E06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206240" y="1920240"/>
            <a:ext cx="118872" cy="118872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389120" y="1920240"/>
            <a:ext cx="118872" cy="118872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0" y="1828800"/>
            <a:ext cx="694944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900" b="0" i="0">
                <a:solidFill>
                  <a:srgbClr val="5C5C5C"/>
                </a:solidFill>
                <a:latin typeface="Arial"/>
              </a:rPr>
              <a:t>app.indialearns.com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31920" y="2121408"/>
            <a:ext cx="7863840" cy="41148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60520" y="2121408"/>
            <a:ext cx="86868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0" i="0">
                <a:solidFill>
                  <a:srgbClr val="5C5C5C"/>
                </a:solidFill>
                <a:latin typeface="Arial"/>
              </a:rPr>
              <a:t>Overview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74920" y="2487168"/>
            <a:ext cx="868680" cy="45720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74920" y="2121408"/>
            <a:ext cx="86868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1" i="0">
                <a:solidFill>
                  <a:srgbClr val="132B5E"/>
                </a:solidFill>
                <a:latin typeface="Arial"/>
              </a:rPr>
              <a:t>Content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2121408"/>
            <a:ext cx="86868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0" i="0">
                <a:solidFill>
                  <a:srgbClr val="5C5C5C"/>
                </a:solidFill>
                <a:latin typeface="Arial"/>
              </a:rPr>
              <a:t>Gradebook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2121408"/>
            <a:ext cx="86868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0" i="0">
                <a:solidFill>
                  <a:srgbClr val="5C5C5C"/>
                </a:solidFill>
                <a:latin typeface="Arial"/>
              </a:rPr>
              <a:t>Roster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0" y="2624328"/>
            <a:ext cx="7498080" cy="310896"/>
          </a:xfrm>
          <a:prstGeom prst="rect">
            <a:avLst/>
          </a:prstGeom>
          <a:solidFill>
            <a:srgbClr val="E3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06240" y="2624328"/>
            <a:ext cx="365760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0">
                <a:solidFill>
                  <a:srgbClr val="132B5E"/>
                </a:solidFill>
                <a:latin typeface="Arial"/>
              </a:rPr>
              <a:t>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624328"/>
            <a:ext cx="6949440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 i="0">
                <a:solidFill>
                  <a:srgbClr val="132B5E"/>
                </a:solidFill>
                <a:latin typeface="Arial"/>
              </a:rPr>
              <a:t>M1 — Foundations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34840" y="2971800"/>
            <a:ext cx="71780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0" y="2971800"/>
            <a:ext cx="27432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⋮⋮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2971800"/>
            <a:ext cx="667512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S1.1  Welcome &amp; syllabus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34840" y="3264408"/>
            <a:ext cx="71780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0" y="3264408"/>
            <a:ext cx="27432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⋮⋮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3264408"/>
            <a:ext cx="667512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S1.2  Industry overview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34840" y="3557016"/>
            <a:ext cx="71780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0" y="3557016"/>
            <a:ext cx="27432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⋮⋮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3557016"/>
            <a:ext cx="667512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S1.3  Safety basics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0" y="3941064"/>
            <a:ext cx="7498080" cy="310896"/>
          </a:xfrm>
          <a:prstGeom prst="rect">
            <a:avLst/>
          </a:prstGeom>
          <a:solidFill>
            <a:srgbClr val="E3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206240" y="3941064"/>
            <a:ext cx="365760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0">
                <a:solidFill>
                  <a:srgbClr val="132B5E"/>
                </a:solidFill>
                <a:latin typeface="Arial"/>
              </a:rPr>
              <a:t>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3941064"/>
            <a:ext cx="6949440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 i="0">
                <a:solidFill>
                  <a:srgbClr val="132B5E"/>
                </a:solidFill>
                <a:latin typeface="Arial"/>
              </a:rPr>
              <a:t>M2 — Core skills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34840" y="4288536"/>
            <a:ext cx="71780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2000" y="4288536"/>
            <a:ext cx="27432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⋮⋮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46320" y="4288536"/>
            <a:ext cx="667512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S2.1  Customer interaction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34840" y="4581144"/>
            <a:ext cx="71780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72000" y="4581144"/>
            <a:ext cx="27432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⋮⋮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46320" y="4581144"/>
            <a:ext cx="667512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S2.2  Product knowledge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0" y="4965192"/>
            <a:ext cx="7498080" cy="310896"/>
          </a:xfrm>
          <a:prstGeom prst="rect">
            <a:avLst/>
          </a:prstGeom>
          <a:solidFill>
            <a:srgbClr val="E3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206240" y="4965192"/>
            <a:ext cx="365760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0">
                <a:solidFill>
                  <a:srgbClr val="132B5E"/>
                </a:solidFill>
                <a:latin typeface="Arial"/>
              </a:rPr>
              <a:t>▼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965192"/>
            <a:ext cx="6949440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 i="0">
                <a:solidFill>
                  <a:srgbClr val="132B5E"/>
                </a:solidFill>
                <a:latin typeface="Arial"/>
              </a:rPr>
              <a:t>M3 — Assessment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434840" y="5312664"/>
            <a:ext cx="71780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72000" y="5312664"/>
            <a:ext cx="27432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⋮⋮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46320" y="5312664"/>
            <a:ext cx="667512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Final quiz (auto-generated)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Faculty guide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12 / 31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INSIDE A COURSE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132B5E"/>
                </a:solidFill>
                <a:latin typeface="Calibri"/>
              </a:rPr>
              <a:t>Content tab — every button explained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0972800" cy="43891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F28C2C"/>
                </a:solidFill>
                <a:latin typeface="Arial"/>
              </a:rPr>
              <a:t>● </a:t>
            </a:r>
            <a:r>
              <a:rPr sz="1300" b="1">
                <a:solidFill>
                  <a:srgbClr val="132B5E"/>
                </a:solidFill>
                <a:latin typeface="Arial"/>
              </a:rPr>
              <a:t>▼ Expand triangle — </a:t>
            </a:r>
            <a:r>
              <a:rPr sz="1300">
                <a:solidFill>
                  <a:srgbClr val="1A1A1A"/>
                </a:solidFill>
                <a:latin typeface="Arial"/>
              </a:rPr>
              <a:t>click to show a module's sessions. Click again to hide them.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F28C2C"/>
                </a:solidFill>
                <a:latin typeface="Arial"/>
              </a:rPr>
              <a:t>● </a:t>
            </a:r>
            <a:r>
              <a:rPr sz="1300" b="1">
                <a:solidFill>
                  <a:srgbClr val="132B5E"/>
                </a:solidFill>
                <a:latin typeface="Arial"/>
              </a:rPr>
              <a:t>⋮⋮ Drag handle (left of each session) — </a:t>
            </a:r>
            <a:r>
              <a:rPr sz="1300">
                <a:solidFill>
                  <a:srgbClr val="1A1A1A"/>
                </a:solidFill>
                <a:latin typeface="Arial"/>
              </a:rPr>
              <a:t>click and hold, then drag to reorder. Drop on the target spot.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F28C2C"/>
                </a:solidFill>
                <a:latin typeface="Arial"/>
              </a:rPr>
              <a:t>● </a:t>
            </a:r>
            <a:r>
              <a:rPr sz="1300" b="1">
                <a:solidFill>
                  <a:srgbClr val="132B5E"/>
                </a:solidFill>
                <a:latin typeface="Arial"/>
              </a:rPr>
              <a:t>Session title — </a:t>
            </a:r>
            <a:r>
              <a:rPr sz="1300">
                <a:solidFill>
                  <a:srgbClr val="1A1A1A"/>
                </a:solidFill>
                <a:latin typeface="Arial"/>
              </a:rPr>
              <a:t>click to open the session detail page. That's where attendance + complete live.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F28C2C"/>
                </a:solidFill>
                <a:latin typeface="Arial"/>
              </a:rPr>
              <a:t>● </a:t>
            </a:r>
            <a:r>
              <a:rPr sz="1300" b="1">
                <a:solidFill>
                  <a:srgbClr val="132B5E"/>
                </a:solidFill>
                <a:latin typeface="Arial"/>
              </a:rPr>
              <a:t>Module title — </a:t>
            </a:r>
            <a:r>
              <a:rPr sz="1300">
                <a:solidFill>
                  <a:srgbClr val="1A1A1A"/>
                </a:solidFill>
                <a:latin typeface="Arial"/>
              </a:rPr>
              <a:t>click anywhere on the navy bar to expand/collapse.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F28C2C"/>
                </a:solidFill>
                <a:latin typeface="Arial"/>
              </a:rPr>
              <a:t>● </a:t>
            </a:r>
            <a:r>
              <a:rPr sz="1300" b="1">
                <a:solidFill>
                  <a:srgbClr val="132B5E"/>
                </a:solidFill>
                <a:latin typeface="Arial"/>
              </a:rPr>
              <a:t>Lock icon (if shown) — </a:t>
            </a:r>
            <a:r>
              <a:rPr sz="1300">
                <a:solidFill>
                  <a:srgbClr val="1A1A1A"/>
                </a:solidFill>
                <a:latin typeface="Arial"/>
              </a:rPr>
              <a:t>auto-generated sessions (finals, exams) can't be reordered.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F28C2C"/>
                </a:solidFill>
                <a:latin typeface="Arial"/>
              </a:rPr>
              <a:t>● </a:t>
            </a:r>
            <a:r>
              <a:rPr sz="1300" b="1">
                <a:solidFill>
                  <a:srgbClr val="132B5E"/>
                </a:solidFill>
                <a:latin typeface="Arial"/>
              </a:rPr>
              <a:t>Drag across modules — </a:t>
            </a:r>
            <a:r>
              <a:rPr sz="1300">
                <a:solidFill>
                  <a:srgbClr val="1A1A1A"/>
                </a:solidFill>
                <a:latin typeface="Arial"/>
              </a:rPr>
              <a:t>yes, you can drag a session from M1 into M2 if curriculum allows.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F28C2C"/>
                </a:solidFill>
                <a:latin typeface="Arial"/>
              </a:rPr>
              <a:t>● </a:t>
            </a:r>
            <a:r>
              <a:rPr sz="1300" b="1">
                <a:solidFill>
                  <a:srgbClr val="132B5E"/>
                </a:solidFill>
                <a:latin typeface="Arial"/>
              </a:rPr>
              <a:t>Undo a drag — </a:t>
            </a:r>
            <a:r>
              <a:rPr sz="1300">
                <a:solidFill>
                  <a:srgbClr val="1A1A1A"/>
                </a:solidFill>
                <a:latin typeface="Arial"/>
              </a:rPr>
              <a:t>browser back doesn't undo it. Drag it back manually.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F28C2C"/>
                </a:solidFill>
                <a:latin typeface="Arial"/>
              </a:rPr>
              <a:t>● </a:t>
            </a:r>
            <a:r>
              <a:rPr sz="1300" b="1">
                <a:solidFill>
                  <a:srgbClr val="132B5E"/>
                </a:solidFill>
                <a:latin typeface="Arial"/>
              </a:rPr>
              <a:t>No 'add session' button — </a:t>
            </a:r>
            <a:r>
              <a:rPr sz="1300">
                <a:solidFill>
                  <a:srgbClr val="1A1A1A"/>
                </a:solidFill>
                <a:latin typeface="Arial"/>
              </a:rPr>
              <a:t>sessions come from the curriculum. To add, talk to admin or curriculum lead.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Faculty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13 / 31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SESSION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132B5E"/>
                </a:solidFill>
                <a:latin typeface="Calibri"/>
              </a:rPr>
              <a:t>Inside a session — left side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3200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i="0">
                <a:solidFill>
                  <a:srgbClr val="132B5E"/>
                </a:solidFill>
                <a:latin typeface="Arial"/>
              </a:rPr>
              <a:t>What students learn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3200400" cy="41148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1">
                <a:solidFill>
                  <a:srgbClr val="F28C2C"/>
                </a:solidFill>
                <a:latin typeface="Arial"/>
              </a:rPr>
              <a:t>● </a:t>
            </a:r>
            <a:r>
              <a:rPr sz="1100">
                <a:solidFill>
                  <a:srgbClr val="1A1A1A"/>
                </a:solidFill>
                <a:latin typeface="Arial"/>
              </a:rPr>
              <a:t>Description — what this lesson covers.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F28C2C"/>
                </a:solidFill>
                <a:latin typeface="Arial"/>
              </a:rPr>
              <a:t>● </a:t>
            </a:r>
            <a:r>
              <a:rPr sz="1100">
                <a:solidFill>
                  <a:srgbClr val="1A1A1A"/>
                </a:solidFill>
                <a:latin typeface="Arial"/>
              </a:rPr>
              <a:t>Materials — the slide deck.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F28C2C"/>
                </a:solidFill>
                <a:latin typeface="Arial"/>
              </a:rPr>
              <a:t>● </a:t>
            </a:r>
            <a:r>
              <a:rPr sz="1100">
                <a:solidFill>
                  <a:srgbClr val="1A1A1A"/>
                </a:solidFill>
                <a:latin typeface="Arial"/>
              </a:rPr>
              <a:t>'Open viewer' button — to preview slides.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F28C2C"/>
                </a:solidFill>
                <a:latin typeface="Arial"/>
              </a:rPr>
              <a:t>● </a:t>
            </a:r>
            <a:r>
              <a:rPr sz="1100">
                <a:solidFill>
                  <a:srgbClr val="1A1A1A"/>
                </a:solidFill>
                <a:latin typeface="Arial"/>
              </a:rPr>
              <a:t>Assignments — what students will submit.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F28C2C"/>
                </a:solidFill>
                <a:latin typeface="Arial"/>
              </a:rPr>
              <a:t>● </a:t>
            </a:r>
            <a:r>
              <a:rPr sz="1100">
                <a:solidFill>
                  <a:srgbClr val="1A1A1A"/>
                </a:solidFill>
                <a:latin typeface="Arial"/>
              </a:rPr>
              <a:t>Mark Complete button — when session is done.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F28C2C"/>
                </a:solidFill>
                <a:latin typeface="Arial"/>
              </a:rPr>
              <a:t>● </a:t>
            </a:r>
            <a:r>
              <a:rPr sz="1100">
                <a:solidFill>
                  <a:srgbClr val="1A1A1A"/>
                </a:solidFill>
                <a:latin typeface="Arial"/>
              </a:rPr>
              <a:t>7-day undo window — you can revert.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1828800"/>
            <a:ext cx="786384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931920" y="1828800"/>
            <a:ext cx="7863840" cy="29260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023360" y="1920240"/>
            <a:ext cx="118872" cy="118872"/>
          </a:xfrm>
          <a:prstGeom prst="ellipse">
            <a:avLst/>
          </a:prstGeom>
          <a:solidFill>
            <a:srgbClr val="E06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206240" y="1920240"/>
            <a:ext cx="118872" cy="118872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389120" y="1920240"/>
            <a:ext cx="118872" cy="118872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0" y="1828800"/>
            <a:ext cx="694944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900" b="0" i="0">
                <a:solidFill>
                  <a:srgbClr val="5C5C5C"/>
                </a:solidFill>
                <a:latin typeface="Arial"/>
              </a:rPr>
              <a:t>app.indialearns.com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2167128"/>
            <a:ext cx="74066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0">
                <a:solidFill>
                  <a:srgbClr val="5C5C5C"/>
                </a:solidFill>
                <a:latin typeface="Arial"/>
              </a:rPr>
              <a:t>Aviation › M1 Foundations › S1.2 Industry overview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2441448"/>
            <a:ext cx="74066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700" b="1" i="0">
                <a:solidFill>
                  <a:srgbClr val="132B5E"/>
                </a:solidFill>
                <a:latin typeface="Arial"/>
              </a:rPr>
              <a:t>S1.2 — Industry overview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0520" y="2990088"/>
            <a:ext cx="7406640" cy="91440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43400" y="3035808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1" i="0">
                <a:solidFill>
                  <a:srgbClr val="F28C2C"/>
                </a:solidFill>
                <a:latin typeface="Arial"/>
              </a:rPr>
              <a:t>DESCRIPTION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3264408"/>
            <a:ext cx="704088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Introduces India's aviation sector, key regulators,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and the major career pathways for diploma graduates.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60520" y="4041648"/>
            <a:ext cx="7406640" cy="822960"/>
          </a:xfrm>
          <a:prstGeom prst="roundRect">
            <a:avLst>
              <a:gd name="adj" fmla="val 12000"/>
            </a:avLst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43400" y="4087368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1" i="0">
                <a:solidFill>
                  <a:srgbClr val="F28C2C"/>
                </a:solidFill>
                <a:latin typeface="Arial"/>
              </a:rPr>
              <a:t>MATERIALS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4361688"/>
            <a:ext cx="70408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80560" y="4361688"/>
            <a:ext cx="365760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📑  s1.2-industry-overview.pdf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12680" y="4407408"/>
            <a:ext cx="1280160" cy="292608"/>
          </a:xfrm>
          <a:prstGeom prst="roundRect">
            <a:avLst>
              <a:gd name="adj" fmla="val 12000"/>
            </a:avLst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12680" y="4407408"/>
            <a:ext cx="128016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Open viewer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60520" y="5001768"/>
            <a:ext cx="7406640" cy="64008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43400" y="5047488"/>
            <a:ext cx="2743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1" i="0">
                <a:solidFill>
                  <a:srgbClr val="F28C2C"/>
                </a:solidFill>
                <a:latin typeface="Arial"/>
              </a:rPr>
              <a:t>ASSIGNMENTS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5276088"/>
            <a:ext cx="7040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A1.2 Industry stakeholders worksheet · Due Friday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60520" y="5824728"/>
            <a:ext cx="2103120" cy="384048"/>
          </a:xfrm>
          <a:prstGeom prst="roundRect">
            <a:avLst>
              <a:gd name="adj" fmla="val 12000"/>
            </a:avLst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160520" y="5824728"/>
            <a:ext cx="210312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✓  Mark Complete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5870447"/>
            <a:ext cx="3657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1">
                <a:solidFill>
                  <a:srgbClr val="5C5C5C"/>
                </a:solidFill>
                <a:latin typeface="Arial"/>
              </a:rPr>
              <a:t>7-day undo window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Faculty guide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14 / 31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SESSION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132B5E"/>
                </a:solidFill>
                <a:latin typeface="Calibri"/>
              </a:rPr>
              <a:t>Inside a session — right side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3200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i="0">
                <a:solidFill>
                  <a:srgbClr val="132B5E"/>
                </a:solidFill>
                <a:latin typeface="Arial"/>
              </a:rPr>
              <a:t>Your tools as the teacher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3200400" cy="41148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1">
                <a:solidFill>
                  <a:srgbClr val="F28C2C"/>
                </a:solidFill>
                <a:latin typeface="Arial"/>
              </a:rPr>
              <a:t>● </a:t>
            </a:r>
            <a:r>
              <a:rPr sz="1100">
                <a:solidFill>
                  <a:srgbClr val="1A1A1A"/>
                </a:solidFill>
                <a:latin typeface="Arial"/>
              </a:rPr>
              <a:t>Attendance panel — every enrolled student.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F28C2C"/>
                </a:solidFill>
                <a:latin typeface="Arial"/>
              </a:rPr>
              <a:t>● </a:t>
            </a:r>
            <a:r>
              <a:rPr sz="1100">
                <a:solidFill>
                  <a:srgbClr val="1A1A1A"/>
                </a:solidFill>
                <a:latin typeface="Arial"/>
              </a:rPr>
              <a:t>Status dropdown per student.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F28C2C"/>
                </a:solidFill>
                <a:latin typeface="Arial"/>
              </a:rPr>
              <a:t>● </a:t>
            </a:r>
            <a:r>
              <a:rPr sz="1100">
                <a:solidFill>
                  <a:srgbClr val="1A1A1A"/>
                </a:solidFill>
                <a:latin typeface="Arial"/>
              </a:rPr>
              <a:t>Defaults to Present for everyone.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F28C2C"/>
                </a:solidFill>
                <a:latin typeface="Arial"/>
              </a:rPr>
              <a:t>● </a:t>
            </a:r>
            <a:r>
              <a:rPr sz="1100">
                <a:solidFill>
                  <a:srgbClr val="1A1A1A"/>
                </a:solidFill>
                <a:latin typeface="Arial"/>
              </a:rPr>
              <a:t>Save attendance — commits the row.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F28C2C"/>
                </a:solidFill>
                <a:latin typeface="Arial"/>
              </a:rPr>
              <a:t>● </a:t>
            </a:r>
            <a:r>
              <a:rPr sz="1100">
                <a:solidFill>
                  <a:srgbClr val="1A1A1A"/>
                </a:solidFill>
                <a:latin typeface="Arial"/>
              </a:rPr>
              <a:t>Counter — '26 of 28 recorded'.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F28C2C"/>
                </a:solidFill>
                <a:latin typeface="Arial"/>
              </a:rPr>
              <a:t>● </a:t>
            </a:r>
            <a:r>
              <a:rPr sz="1100">
                <a:solidFill>
                  <a:srgbClr val="1A1A1A"/>
                </a:solidFill>
                <a:latin typeface="Arial"/>
              </a:rPr>
              <a:t>Private notes below — only you see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1828800"/>
            <a:ext cx="786384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931920" y="1828800"/>
            <a:ext cx="7863840" cy="29260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023360" y="1920240"/>
            <a:ext cx="118872" cy="118872"/>
          </a:xfrm>
          <a:prstGeom prst="ellipse">
            <a:avLst/>
          </a:prstGeom>
          <a:solidFill>
            <a:srgbClr val="E06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206240" y="1920240"/>
            <a:ext cx="118872" cy="118872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389120" y="1920240"/>
            <a:ext cx="118872" cy="118872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0" y="1828800"/>
            <a:ext cx="694944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900" b="0" i="0">
                <a:solidFill>
                  <a:srgbClr val="5C5C5C"/>
                </a:solidFill>
                <a:latin typeface="Arial"/>
              </a:rPr>
              <a:t>app.indialearns.com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2167128"/>
            <a:ext cx="74066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132B5E"/>
                </a:solidFill>
                <a:latin typeface="Arial"/>
              </a:rPr>
              <a:t>Attendance — S1.2 Industry overview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0" y="2212848"/>
            <a:ext cx="16459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900" b="0" i="0">
                <a:solidFill>
                  <a:srgbClr val="2E7D32"/>
                </a:solidFill>
                <a:latin typeface="Arial"/>
              </a:rPr>
              <a:t>26 of 28 recorded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60520" y="2578608"/>
            <a:ext cx="7406640" cy="2743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97680" y="2578608"/>
            <a:ext cx="274320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800" b="1" i="0">
                <a:solidFill>
                  <a:srgbClr val="5C5C5C"/>
                </a:solidFill>
                <a:latin typeface="Arial"/>
              </a:rPr>
              <a:t>STUDENT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2578608"/>
            <a:ext cx="146304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800" b="1" i="0">
                <a:solidFill>
                  <a:srgbClr val="5C5C5C"/>
                </a:solidFill>
                <a:latin typeface="Arial"/>
              </a:rPr>
              <a:t>STATUS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2898648"/>
            <a:ext cx="74066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97680" y="2898648"/>
            <a:ext cx="274320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Aarav Sharma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66960" y="2953512"/>
            <a:ext cx="1280160" cy="182880"/>
          </a:xfrm>
          <a:prstGeom prst="roundRect">
            <a:avLst>
              <a:gd name="adj" fmla="val 40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966960" y="2953512"/>
            <a:ext cx="1280160" cy="1828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Present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60520" y="3191256"/>
            <a:ext cx="74066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97680" y="3191256"/>
            <a:ext cx="274320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Diya Mehta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66960" y="3246120"/>
            <a:ext cx="1280160" cy="182880"/>
          </a:xfrm>
          <a:prstGeom prst="roundRect">
            <a:avLst>
              <a:gd name="adj" fmla="val 40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966960" y="3246120"/>
            <a:ext cx="1280160" cy="1828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Present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60520" y="3483864"/>
            <a:ext cx="74066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297680" y="3483864"/>
            <a:ext cx="274320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Ishaan Patel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66960" y="3538728"/>
            <a:ext cx="1280160" cy="182880"/>
          </a:xfrm>
          <a:prstGeom prst="roundRect">
            <a:avLst>
              <a:gd name="adj" fmla="val 40000"/>
            </a:avLst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966960" y="3538728"/>
            <a:ext cx="1280160" cy="1828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Late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60520" y="3776472"/>
            <a:ext cx="74066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297680" y="3776472"/>
            <a:ext cx="274320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Kavya Reddy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966960" y="3831336"/>
            <a:ext cx="1280160" cy="182880"/>
          </a:xfrm>
          <a:prstGeom prst="roundRect">
            <a:avLst>
              <a:gd name="adj" fmla="val 4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966960" y="3831336"/>
            <a:ext cx="1280160" cy="1828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Absent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60520" y="4069080"/>
            <a:ext cx="74066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297680" y="4069080"/>
            <a:ext cx="274320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Mira Bose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966960" y="4123944"/>
            <a:ext cx="1280160" cy="182880"/>
          </a:xfrm>
          <a:prstGeom prst="roundRect">
            <a:avLst>
              <a:gd name="adj" fmla="val 40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966960" y="4123944"/>
            <a:ext cx="1280160" cy="1828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Present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60520" y="4361688"/>
            <a:ext cx="74066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297680" y="4361688"/>
            <a:ext cx="274320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Rohan Nair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966960" y="4416552"/>
            <a:ext cx="1280160" cy="182880"/>
          </a:xfrm>
          <a:prstGeom prst="roundRect">
            <a:avLst>
              <a:gd name="adj" fmla="val 40000"/>
            </a:avLst>
          </a:prstGeom>
          <a:solidFill>
            <a:srgbClr val="5C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966960" y="4416552"/>
            <a:ext cx="1280160" cy="1828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Excused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60520" y="4654296"/>
            <a:ext cx="74066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297680" y="4654296"/>
            <a:ext cx="274320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Sara Iyer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966960" y="4709160"/>
            <a:ext cx="1280160" cy="182880"/>
          </a:xfrm>
          <a:prstGeom prst="roundRect">
            <a:avLst>
              <a:gd name="adj" fmla="val 40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966960" y="4709160"/>
            <a:ext cx="1280160" cy="1828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Present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160520" y="5038344"/>
            <a:ext cx="1828800" cy="365760"/>
          </a:xfrm>
          <a:prstGeom prst="roundRect">
            <a:avLst>
              <a:gd name="adj" fmla="val 12000"/>
            </a:avLst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160520" y="5038344"/>
            <a:ext cx="18288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Save attendance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0" y="5084064"/>
            <a:ext cx="45720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1">
                <a:solidFill>
                  <a:srgbClr val="5C5C5C"/>
                </a:solidFill>
                <a:latin typeface="Arial"/>
              </a:rPr>
              <a:t>🔒  Private notes below — only you see them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Faculty guide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15 / 31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132B5E"/>
                </a:solidFill>
                <a:latin typeface="Calibri"/>
              </a:rPr>
              <a:t>Attendance statuses — when to use which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256032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Present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68880"/>
            <a:ext cx="2560320" cy="1828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Student attended the full session. The default. Use for everyone unless you note otherwise.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920240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83280" y="1920240"/>
            <a:ext cx="256032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468880"/>
            <a:ext cx="2560320" cy="1828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Student arrived after the session started but did attend. Use for partial attendance.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920240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1920240"/>
            <a:ext cx="256032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Absent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468880"/>
            <a:ext cx="2560320" cy="1828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Student did not attend. Counts against attendance percentage.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1920240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5C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52560" y="1920240"/>
            <a:ext cx="256032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Excused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2468880"/>
            <a:ext cx="2560320" cy="1828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Pre-approved absence (illness, family emergency). Doesn't count against attendance %.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029200"/>
            <a:ext cx="10972800" cy="1371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rial"/>
              </a:rPr>
              <a:t>A note about percentages: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Arial"/>
              </a:rPr>
              <a:t>The attendance % shown on the student's dashboard counts only Present and Late as 'attended'. Absent counts against. Excused is neutral.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Arial"/>
              </a:rPr>
              <a:t>If unsure, mark Absent — you can edit later. The audit log keeps the history.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Faculty guide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16 / 31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DAILY ROUTINE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132B5E"/>
                </a:solidFill>
                <a:latin typeface="Calibri"/>
              </a:rPr>
              <a:t>Taking attendance — step by step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801368"/>
            <a:ext cx="104241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132B5E"/>
                </a:solidFill>
                <a:latin typeface="Arial"/>
              </a:rPr>
              <a:t>Open the session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112264"/>
            <a:ext cx="104241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From Content tab, click the session you're teaching. Attendance panel is on the right.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496312"/>
            <a:ext cx="502920" cy="502920"/>
          </a:xfrm>
          <a:prstGeom prst="ellipse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514600"/>
            <a:ext cx="104241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132B5E"/>
                </a:solidFill>
                <a:latin typeface="Arial"/>
              </a:rPr>
              <a:t>Skim the 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825496"/>
            <a:ext cx="104241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Every enrolled student shows up. All default to Present.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209544"/>
            <a:ext cx="502920" cy="502920"/>
          </a:xfrm>
          <a:prstGeom prst="ellipse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27832"/>
            <a:ext cx="104241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132B5E"/>
                </a:solidFill>
                <a:latin typeface="Arial"/>
              </a:rPr>
              <a:t>Toggle exceptions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538728"/>
            <a:ext cx="104241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Click the dropdown next to a student. Pick Absent / Late / Excused as needed.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922776"/>
            <a:ext cx="502920" cy="502920"/>
          </a:xfrm>
          <a:prstGeom prst="ellipse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941064"/>
            <a:ext cx="104241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132B5E"/>
                </a:solidFill>
                <a:latin typeface="Arial"/>
              </a:rPr>
              <a:t>Save attendance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251960"/>
            <a:ext cx="104241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Click the orange 'Save attendance' button. You'll see 'Saved.' confirmation.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636008"/>
            <a:ext cx="502920" cy="502920"/>
          </a:xfrm>
          <a:prstGeom prst="ellipse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654296"/>
            <a:ext cx="104241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132B5E"/>
                </a:solidFill>
                <a:latin typeface="Arial"/>
              </a:rPr>
              <a:t>Counter updates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965192"/>
            <a:ext cx="104241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The header now shows 'X of N recorded'. Hits 'N of N' once everyone's marked.</a:t>
            </a:r>
          </a:p>
        </p:txBody>
      </p:sp>
      <p:sp>
        <p:nvSpPr>
          <p:cNvPr id="22" name="Oval 21"/>
          <p:cNvSpPr/>
          <p:nvPr/>
        </p:nvSpPr>
        <p:spPr>
          <a:xfrm>
            <a:off x="548640" y="5349240"/>
            <a:ext cx="502920" cy="502920"/>
          </a:xfrm>
          <a:prstGeom prst="ellipse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367528"/>
            <a:ext cx="104241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132B5E"/>
                </a:solidFill>
                <a:latin typeface="Arial"/>
              </a:rPr>
              <a:t>Edit anytime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678424"/>
            <a:ext cx="104241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Made a mistake? Edit and save again. Last save wins. All changes audit-logged.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Faculty guide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17 / 31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MATERIALS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132B5E"/>
                </a:solidFill>
                <a:latin typeface="Calibri"/>
              </a:rPr>
              <a:t>The slide viewer — keyboard &amp; buttons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0972800" cy="43891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spcAft>
                <a:spcPts val="9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 b="1">
                <a:solidFill>
                  <a:srgbClr val="132B5E"/>
                </a:solidFill>
                <a:latin typeface="Arial"/>
              </a:rPr>
              <a:t>Open viewer button — </a:t>
            </a:r>
            <a:r>
              <a:rPr sz="1200">
                <a:solidFill>
                  <a:srgbClr val="1A1A1A"/>
                </a:solidFill>
                <a:latin typeface="Arial"/>
              </a:rPr>
              <a:t>click on the session detail page. Viewer opens fullscreen.</a:t>
            </a:r>
          </a:p>
          <a:p>
            <a:pPr algn="l">
              <a:spcAft>
                <a:spcPts val="9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 b="1">
                <a:solidFill>
                  <a:srgbClr val="132B5E"/>
                </a:solidFill>
                <a:latin typeface="Arial"/>
              </a:rPr>
              <a:t>→ Right arrow key — </a:t>
            </a:r>
            <a:r>
              <a:rPr sz="1200">
                <a:solidFill>
                  <a:srgbClr val="1A1A1A"/>
                </a:solidFill>
                <a:latin typeface="Arial"/>
              </a:rPr>
              <a:t>next slide. Also Space bar or PgDn.</a:t>
            </a:r>
          </a:p>
          <a:p>
            <a:pPr algn="l">
              <a:spcAft>
                <a:spcPts val="9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 b="1">
                <a:solidFill>
                  <a:srgbClr val="132B5E"/>
                </a:solidFill>
                <a:latin typeface="Arial"/>
              </a:rPr>
              <a:t>← Left arrow key — </a:t>
            </a:r>
            <a:r>
              <a:rPr sz="1200">
                <a:solidFill>
                  <a:srgbClr val="1A1A1A"/>
                </a:solidFill>
                <a:latin typeface="Arial"/>
              </a:rPr>
              <a:t>previous slide. Also PgUp.</a:t>
            </a:r>
          </a:p>
          <a:p>
            <a:pPr algn="l">
              <a:spcAft>
                <a:spcPts val="9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 b="1">
                <a:solidFill>
                  <a:srgbClr val="132B5E"/>
                </a:solidFill>
                <a:latin typeface="Arial"/>
              </a:rPr>
              <a:t>Home key — </a:t>
            </a:r>
            <a:r>
              <a:rPr sz="1200">
                <a:solidFill>
                  <a:srgbClr val="1A1A1A"/>
                </a:solidFill>
                <a:latin typeface="Arial"/>
              </a:rPr>
              <a:t>jump to first slide.</a:t>
            </a:r>
          </a:p>
          <a:p>
            <a:pPr algn="l">
              <a:spcAft>
                <a:spcPts val="9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 b="1">
                <a:solidFill>
                  <a:srgbClr val="132B5E"/>
                </a:solidFill>
                <a:latin typeface="Arial"/>
              </a:rPr>
              <a:t>End key — </a:t>
            </a:r>
            <a:r>
              <a:rPr sz="1200">
                <a:solidFill>
                  <a:srgbClr val="1A1A1A"/>
                </a:solidFill>
                <a:latin typeface="Arial"/>
              </a:rPr>
              <a:t>jump to last slide.</a:t>
            </a:r>
          </a:p>
          <a:p>
            <a:pPr algn="l">
              <a:spcAft>
                <a:spcPts val="9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 b="1">
                <a:solidFill>
                  <a:srgbClr val="132B5E"/>
                </a:solidFill>
                <a:latin typeface="Arial"/>
              </a:rPr>
              <a:t>Speaker notes panel — </a:t>
            </a:r>
            <a:r>
              <a:rPr sz="1200">
                <a:solidFill>
                  <a:srgbClr val="1A1A1A"/>
                </a:solidFill>
                <a:latin typeface="Arial"/>
              </a:rPr>
              <a:t>shows presenter guidance from your curriculum team. Toggle on/off via the notes icon.</a:t>
            </a:r>
          </a:p>
          <a:p>
            <a:pPr algn="l">
              <a:spcAft>
                <a:spcPts val="9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 b="1">
                <a:solidFill>
                  <a:srgbClr val="132B5E"/>
                </a:solidFill>
                <a:latin typeface="Arial"/>
              </a:rPr>
              <a:t>Slide counter (bottom) — </a:t>
            </a:r>
            <a:r>
              <a:rPr sz="1200">
                <a:solidFill>
                  <a:srgbClr val="1A1A1A"/>
                </a:solidFill>
                <a:latin typeface="Arial"/>
              </a:rPr>
              <a:t>shows current slide and total (e.g. '7 / 24').</a:t>
            </a:r>
          </a:p>
          <a:p>
            <a:pPr algn="l">
              <a:spcAft>
                <a:spcPts val="9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 b="1">
                <a:solidFill>
                  <a:srgbClr val="132B5E"/>
                </a:solidFill>
                <a:latin typeface="Arial"/>
              </a:rPr>
              <a:t>Escape key (or 'Back to session') — </a:t>
            </a:r>
            <a:r>
              <a:rPr sz="1200">
                <a:solidFill>
                  <a:srgbClr val="1A1A1A"/>
                </a:solidFill>
                <a:latin typeface="Arial"/>
              </a:rPr>
              <a:t>closes the viewer, returns to session detail.</a:t>
            </a:r>
          </a:p>
          <a:p>
            <a:pPr algn="l">
              <a:spcAft>
                <a:spcPts val="9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 b="1">
                <a:solidFill>
                  <a:srgbClr val="132B5E"/>
                </a:solidFill>
                <a:latin typeface="Arial"/>
              </a:rPr>
              <a:t>No PowerPoint download — </a:t>
            </a:r>
            <a:r>
              <a:rPr sz="1200">
                <a:solidFill>
                  <a:srgbClr val="1A1A1A"/>
                </a:solidFill>
                <a:latin typeface="Arial"/>
              </a:rPr>
              <a:t>slides render in the browser. To save a copy, ask your curriculum lead.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Faculty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18 / 31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SESSION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132B5E"/>
                </a:solidFill>
                <a:latin typeface="Calibri"/>
              </a:rPr>
              <a:t>Marking a session complete — and undoing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801368"/>
            <a:ext cx="104241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132B5E"/>
                </a:solidFill>
                <a:latin typeface="Arial"/>
              </a:rPr>
              <a:t>Take attendance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112264"/>
            <a:ext cx="104241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The Mark Complete button stays disabled until you've saved at least one attendance row.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496312"/>
            <a:ext cx="502920" cy="502920"/>
          </a:xfrm>
          <a:prstGeom prst="ellipse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514600"/>
            <a:ext cx="104241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132B5E"/>
                </a:solidFill>
                <a:latin typeface="Arial"/>
              </a:rPr>
              <a:t>Click Mark Complete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825496"/>
            <a:ext cx="104241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The session is now 'Done'. Students see a green tick. Auto-advances them to the next.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209544"/>
            <a:ext cx="502920" cy="502920"/>
          </a:xfrm>
          <a:prstGeom prst="ellipse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27832"/>
            <a:ext cx="104241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132B5E"/>
                </a:solidFill>
                <a:latin typeface="Arial"/>
              </a:rPr>
              <a:t>Confirmation banner appears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538728"/>
            <a:ext cx="104241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'Session marked complete. Undo within 7 days.' shown at the top.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922776"/>
            <a:ext cx="502920" cy="502920"/>
          </a:xfrm>
          <a:prstGeom prst="ellipse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941064"/>
            <a:ext cx="104241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132B5E"/>
                </a:solidFill>
                <a:latin typeface="Arial"/>
              </a:rPr>
              <a:t>Need to undo? Click Undo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251960"/>
            <a:ext cx="104241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Reverts to Not Started. Attendance is preserved — only the completion flag flips.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636008"/>
            <a:ext cx="502920" cy="502920"/>
          </a:xfrm>
          <a:prstGeom prst="ellipse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654296"/>
            <a:ext cx="104241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132B5E"/>
                </a:solidFill>
                <a:latin typeface="Arial"/>
              </a:rPr>
              <a:t>After 7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965192"/>
            <a:ext cx="104241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Undo button disappears. To revert later, talk to admin.</a:t>
            </a:r>
          </a:p>
        </p:txBody>
      </p:sp>
      <p:sp>
        <p:nvSpPr>
          <p:cNvPr id="22" name="Oval 21"/>
          <p:cNvSpPr/>
          <p:nvPr/>
        </p:nvSpPr>
        <p:spPr>
          <a:xfrm>
            <a:off x="548640" y="5349240"/>
            <a:ext cx="502920" cy="502920"/>
          </a:xfrm>
          <a:prstGeom prst="ellipse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367528"/>
            <a:ext cx="104241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132B5E"/>
                </a:solidFill>
                <a:latin typeface="Arial"/>
              </a:rPr>
              <a:t>What students see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678424"/>
            <a:ext cx="104241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A 'Completed' badge. Their progress bar advances.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Faculty guide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19 / 31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GRADING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132B5E"/>
                </a:solidFill>
                <a:latin typeface="Calibri"/>
              </a:rPr>
              <a:t>Gradebook — the big picture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3200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i="0">
                <a:solidFill>
                  <a:srgbClr val="132B5E"/>
                </a:solidFill>
                <a:latin typeface="Arial"/>
              </a:rPr>
              <a:t>What this grid tells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3200400" cy="41148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1">
                <a:solidFill>
                  <a:srgbClr val="F28C2C"/>
                </a:solidFill>
                <a:latin typeface="Arial"/>
              </a:rPr>
              <a:t>● </a:t>
            </a:r>
            <a:r>
              <a:rPr sz="1100">
                <a:solidFill>
                  <a:srgbClr val="1A1A1A"/>
                </a:solidFill>
                <a:latin typeface="Arial"/>
              </a:rPr>
              <a:t>Rows = students enrolled.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F28C2C"/>
                </a:solidFill>
                <a:latin typeface="Arial"/>
              </a:rPr>
              <a:t>● </a:t>
            </a:r>
            <a:r>
              <a:rPr sz="1100">
                <a:solidFill>
                  <a:srgbClr val="1A1A1A"/>
                </a:solidFill>
                <a:latin typeface="Arial"/>
              </a:rPr>
              <a:t>Columns = assignments in course.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F28C2C"/>
                </a:solidFill>
                <a:latin typeface="Arial"/>
              </a:rPr>
              <a:t>● </a:t>
            </a:r>
            <a:r>
              <a:rPr sz="1100">
                <a:solidFill>
                  <a:srgbClr val="1A1A1A"/>
                </a:solidFill>
                <a:latin typeface="Arial"/>
              </a:rPr>
              <a:t>Each dot = state of that submission.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F28C2C"/>
                </a:solidFill>
                <a:latin typeface="Arial"/>
              </a:rPr>
              <a:t>● </a:t>
            </a:r>
            <a:r>
              <a:rPr sz="1100">
                <a:solidFill>
                  <a:srgbClr val="1A1A1A"/>
                </a:solidFill>
                <a:latin typeface="Arial"/>
              </a:rPr>
              <a:t>Click any cell to grade that student.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F28C2C"/>
                </a:solidFill>
                <a:latin typeface="Arial"/>
              </a:rPr>
              <a:t>● </a:t>
            </a:r>
            <a:r>
              <a:rPr sz="1100">
                <a:solidFill>
                  <a:srgbClr val="1A1A1A"/>
                </a:solidFill>
                <a:latin typeface="Arial"/>
              </a:rPr>
              <a:t>Click a column header for bulk view.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F28C2C"/>
                </a:solidFill>
                <a:latin typeface="Arial"/>
              </a:rPr>
              <a:t>● </a:t>
            </a:r>
            <a:r>
              <a:rPr sz="1100">
                <a:solidFill>
                  <a:srgbClr val="1A1A1A"/>
                </a:solidFill>
                <a:latin typeface="Arial"/>
              </a:rPr>
              <a:t>Backlog chip — what needs action.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1828800"/>
            <a:ext cx="786384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931920" y="1828800"/>
            <a:ext cx="7863840" cy="29260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023360" y="1920240"/>
            <a:ext cx="118872" cy="118872"/>
          </a:xfrm>
          <a:prstGeom prst="ellipse">
            <a:avLst/>
          </a:prstGeom>
          <a:solidFill>
            <a:srgbClr val="E06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206240" y="1920240"/>
            <a:ext cx="118872" cy="118872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389120" y="1920240"/>
            <a:ext cx="118872" cy="118872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0" y="1828800"/>
            <a:ext cx="694944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900" b="0" i="0">
                <a:solidFill>
                  <a:srgbClr val="5C5C5C"/>
                </a:solidFill>
                <a:latin typeface="Arial"/>
              </a:rPr>
              <a:t>app.indialearns.com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2212848"/>
            <a:ext cx="3200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132B5E"/>
                </a:solidFill>
                <a:latin typeface="Arial"/>
              </a:rPr>
              <a:t>Gradebook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258568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E3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9360" y="2258568"/>
            <a:ext cx="1371600" cy="2560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 b="1" i="0">
                <a:solidFill>
                  <a:srgbClr val="132B5E"/>
                </a:solidFill>
                <a:latin typeface="Arial"/>
              </a:rPr>
              <a:t>8 assignments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2258568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E3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0" y="2258568"/>
            <a:ext cx="1280160" cy="2560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 b="1" i="0">
                <a:solidFill>
                  <a:srgbClr val="132B5E"/>
                </a:solidFill>
                <a:latin typeface="Arial"/>
              </a:rPr>
              <a:t>28 students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66960" y="2258568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966960" y="2258568"/>
            <a:ext cx="1554480" cy="2560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14 to grade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60520" y="2715768"/>
            <a:ext cx="1828800" cy="329184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60520" y="2715768"/>
            <a:ext cx="182880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Student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89320" y="2715768"/>
            <a:ext cx="868680" cy="329184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89320" y="2715768"/>
            <a:ext cx="86868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A1.1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2715768"/>
            <a:ext cx="868680" cy="329184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58000" y="2715768"/>
            <a:ext cx="86868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A1.2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26680" y="2715768"/>
            <a:ext cx="868680" cy="329184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26680" y="2715768"/>
            <a:ext cx="86868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A1.3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95360" y="2715768"/>
            <a:ext cx="868680" cy="329184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595360" y="2715768"/>
            <a:ext cx="86868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A2.1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464040" y="2715768"/>
            <a:ext cx="868680" cy="329184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464040" y="2715768"/>
            <a:ext cx="86868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A2.2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332720" y="2715768"/>
            <a:ext cx="868680" cy="329184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332720" y="2715768"/>
            <a:ext cx="86868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A3.1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60520" y="3044952"/>
            <a:ext cx="1828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251960" y="3044952"/>
            <a:ext cx="173736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Aarav Sharma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89320" y="3044952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304788" y="3090672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04788" y="3090672"/>
            <a:ext cx="237744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0" y="3044952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7173468" y="3090672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173468" y="3090672"/>
            <a:ext cx="237744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26680" y="3044952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8042148" y="3090672"/>
            <a:ext cx="237744" cy="237744"/>
          </a:xfrm>
          <a:prstGeom prst="ellipse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042148" y="3090672"/>
            <a:ext cx="237744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95360" y="3044952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8910828" y="3090672"/>
            <a:ext cx="237744" cy="237744"/>
          </a:xfrm>
          <a:prstGeom prst="ellipse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910828" y="3090672"/>
            <a:ext cx="237744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464040" y="3044952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9779508" y="3090672"/>
            <a:ext cx="237744" cy="237744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779508" y="3090672"/>
            <a:ext cx="237744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332720" y="3044952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10648188" y="3090672"/>
            <a:ext cx="237744" cy="237744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648188" y="3090672"/>
            <a:ext cx="237744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—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60520" y="3374136"/>
            <a:ext cx="1828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251960" y="3374136"/>
            <a:ext cx="173736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Diya Mehta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989320" y="3374136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6304788" y="3419856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304788" y="3419856"/>
            <a:ext cx="237744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858000" y="3374136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7173468" y="3419856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173468" y="3419856"/>
            <a:ext cx="237744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726680" y="3374136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8042148" y="3419856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042148" y="3419856"/>
            <a:ext cx="237744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595360" y="3374136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8910828" y="3419856"/>
            <a:ext cx="237744" cy="237744"/>
          </a:xfrm>
          <a:prstGeom prst="ellipse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910828" y="3419856"/>
            <a:ext cx="237744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464040" y="3374136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9779508" y="3419856"/>
            <a:ext cx="237744" cy="237744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9779508" y="3419856"/>
            <a:ext cx="237744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✕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332720" y="3374136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10648188" y="3419856"/>
            <a:ext cx="237744" cy="237744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10648188" y="3419856"/>
            <a:ext cx="237744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—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160520" y="3703320"/>
            <a:ext cx="1828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4251960" y="3703320"/>
            <a:ext cx="173736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Ishaan Patel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989320" y="3703320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6304788" y="3749040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304788" y="3749040"/>
            <a:ext cx="237744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858000" y="3703320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7173468" y="3749040"/>
            <a:ext cx="237744" cy="237744"/>
          </a:xfrm>
          <a:prstGeom prst="ellipse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7173468" y="3749040"/>
            <a:ext cx="237744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726680" y="3703320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8042148" y="3749040"/>
            <a:ext cx="237744" cy="237744"/>
          </a:xfrm>
          <a:prstGeom prst="ellipse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8042148" y="3749040"/>
            <a:ext cx="237744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595360" y="3703320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8910828" y="3749040"/>
            <a:ext cx="237744" cy="237744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910828" y="3749040"/>
            <a:ext cx="237744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—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464040" y="3703320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9779508" y="3749040"/>
            <a:ext cx="237744" cy="237744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9779508" y="3749040"/>
            <a:ext cx="237744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—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0332720" y="3703320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10648188" y="3749040"/>
            <a:ext cx="237744" cy="237744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10648188" y="3749040"/>
            <a:ext cx="237744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—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160520" y="4032504"/>
            <a:ext cx="1828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4251960" y="4032504"/>
            <a:ext cx="173736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Kavya Reddy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989320" y="4032504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8"/>
          <p:cNvSpPr/>
          <p:nvPr/>
        </p:nvSpPr>
        <p:spPr>
          <a:xfrm>
            <a:off x="6304788" y="4078224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6304788" y="4078224"/>
            <a:ext cx="237744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858000" y="4032504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Oval 101"/>
          <p:cNvSpPr/>
          <p:nvPr/>
        </p:nvSpPr>
        <p:spPr>
          <a:xfrm>
            <a:off x="7173468" y="4078224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7173468" y="4078224"/>
            <a:ext cx="237744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726680" y="4032504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Oval 104"/>
          <p:cNvSpPr/>
          <p:nvPr/>
        </p:nvSpPr>
        <p:spPr>
          <a:xfrm>
            <a:off x="8042148" y="4078224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8042148" y="4078224"/>
            <a:ext cx="237744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595360" y="4032504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Oval 107"/>
          <p:cNvSpPr/>
          <p:nvPr/>
        </p:nvSpPr>
        <p:spPr>
          <a:xfrm>
            <a:off x="8910828" y="4078224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8910828" y="4078224"/>
            <a:ext cx="237744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9464040" y="4032504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Oval 110"/>
          <p:cNvSpPr/>
          <p:nvPr/>
        </p:nvSpPr>
        <p:spPr>
          <a:xfrm>
            <a:off x="9779508" y="4078224"/>
            <a:ext cx="237744" cy="237744"/>
          </a:xfrm>
          <a:prstGeom prst="ellipse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9779508" y="4078224"/>
            <a:ext cx="237744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0332720" y="4032504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Oval 113"/>
          <p:cNvSpPr/>
          <p:nvPr/>
        </p:nvSpPr>
        <p:spPr>
          <a:xfrm>
            <a:off x="10648188" y="4078224"/>
            <a:ext cx="237744" cy="237744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10648188" y="4078224"/>
            <a:ext cx="237744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—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4160520" y="4361688"/>
            <a:ext cx="1828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4251960" y="4361688"/>
            <a:ext cx="173736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Mira Bose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5989320" y="4361688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Oval 118"/>
          <p:cNvSpPr/>
          <p:nvPr/>
        </p:nvSpPr>
        <p:spPr>
          <a:xfrm>
            <a:off x="6304788" y="4407408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6304788" y="4407408"/>
            <a:ext cx="237744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6858000" y="4361688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Oval 121"/>
          <p:cNvSpPr/>
          <p:nvPr/>
        </p:nvSpPr>
        <p:spPr>
          <a:xfrm>
            <a:off x="7173468" y="4407408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7173468" y="4407408"/>
            <a:ext cx="237744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7726680" y="4361688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Oval 124"/>
          <p:cNvSpPr/>
          <p:nvPr/>
        </p:nvSpPr>
        <p:spPr>
          <a:xfrm>
            <a:off x="8042148" y="4407408"/>
            <a:ext cx="237744" cy="237744"/>
          </a:xfrm>
          <a:prstGeom prst="ellipse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8042148" y="4407408"/>
            <a:ext cx="237744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S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8595360" y="4361688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Oval 127"/>
          <p:cNvSpPr/>
          <p:nvPr/>
        </p:nvSpPr>
        <p:spPr>
          <a:xfrm>
            <a:off x="8910828" y="4407408"/>
            <a:ext cx="237744" cy="237744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8910828" y="4407408"/>
            <a:ext cx="237744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✕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464040" y="4361688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Oval 130"/>
          <p:cNvSpPr/>
          <p:nvPr/>
        </p:nvSpPr>
        <p:spPr>
          <a:xfrm>
            <a:off x="9779508" y="4407408"/>
            <a:ext cx="237744" cy="237744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9779508" y="4407408"/>
            <a:ext cx="237744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—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0332720" y="4361688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Oval 133"/>
          <p:cNvSpPr/>
          <p:nvPr/>
        </p:nvSpPr>
        <p:spPr>
          <a:xfrm>
            <a:off x="10648188" y="4407408"/>
            <a:ext cx="237744" cy="237744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10648188" y="4407408"/>
            <a:ext cx="237744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—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4160520" y="4690872"/>
            <a:ext cx="1828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4251960" y="4690872"/>
            <a:ext cx="173736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Rohan Nair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5989320" y="4690872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Oval 138"/>
          <p:cNvSpPr/>
          <p:nvPr/>
        </p:nvSpPr>
        <p:spPr>
          <a:xfrm>
            <a:off x="6304788" y="4736592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6304788" y="4736592"/>
            <a:ext cx="237744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858000" y="4690872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Oval 141"/>
          <p:cNvSpPr/>
          <p:nvPr/>
        </p:nvSpPr>
        <p:spPr>
          <a:xfrm>
            <a:off x="7173468" y="4736592"/>
            <a:ext cx="237744" cy="237744"/>
          </a:xfrm>
          <a:prstGeom prst="ellipse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7173468" y="4736592"/>
            <a:ext cx="237744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7726680" y="4690872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Oval 144"/>
          <p:cNvSpPr/>
          <p:nvPr/>
        </p:nvSpPr>
        <p:spPr>
          <a:xfrm>
            <a:off x="8042148" y="4736592"/>
            <a:ext cx="237744" cy="237744"/>
          </a:xfrm>
          <a:prstGeom prst="ellipse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8042148" y="4736592"/>
            <a:ext cx="237744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8595360" y="4690872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Oval 147"/>
          <p:cNvSpPr/>
          <p:nvPr/>
        </p:nvSpPr>
        <p:spPr>
          <a:xfrm>
            <a:off x="8910828" y="4736592"/>
            <a:ext cx="237744" cy="237744"/>
          </a:xfrm>
          <a:prstGeom prst="ellipse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8910828" y="4736592"/>
            <a:ext cx="237744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S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9464040" y="4690872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Oval 150"/>
          <p:cNvSpPr/>
          <p:nvPr/>
        </p:nvSpPr>
        <p:spPr>
          <a:xfrm>
            <a:off x="9779508" y="4736592"/>
            <a:ext cx="237744" cy="237744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9779508" y="4736592"/>
            <a:ext cx="237744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—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0332720" y="4690872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Oval 153"/>
          <p:cNvSpPr/>
          <p:nvPr/>
        </p:nvSpPr>
        <p:spPr>
          <a:xfrm>
            <a:off x="10648188" y="4736592"/>
            <a:ext cx="237744" cy="237744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10648188" y="4736592"/>
            <a:ext cx="237744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—</a:t>
            </a:r>
          </a:p>
        </p:txBody>
      </p:sp>
      <p:sp>
        <p:nvSpPr>
          <p:cNvPr id="156" name="Oval 155"/>
          <p:cNvSpPr/>
          <p:nvPr/>
        </p:nvSpPr>
        <p:spPr>
          <a:xfrm>
            <a:off x="4160520" y="5111496"/>
            <a:ext cx="182880" cy="18288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4160520" y="5111496"/>
            <a:ext cx="182880" cy="1828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4398264" y="5093208"/>
            <a:ext cx="1097280" cy="2560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900" b="0" i="0">
                <a:solidFill>
                  <a:srgbClr val="5C5C5C"/>
                </a:solidFill>
                <a:latin typeface="Arial"/>
              </a:rPr>
              <a:t>Published</a:t>
            </a:r>
          </a:p>
        </p:txBody>
      </p:sp>
      <p:sp>
        <p:nvSpPr>
          <p:cNvPr id="159" name="Oval 158"/>
          <p:cNvSpPr/>
          <p:nvPr/>
        </p:nvSpPr>
        <p:spPr>
          <a:xfrm>
            <a:off x="5532120" y="5111496"/>
            <a:ext cx="182880" cy="182880"/>
          </a:xfrm>
          <a:prstGeom prst="ellipse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5532120" y="5111496"/>
            <a:ext cx="182880" cy="1828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5769864" y="5093208"/>
            <a:ext cx="1097280" cy="2560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900" b="0" i="0">
                <a:solidFill>
                  <a:srgbClr val="5C5C5C"/>
                </a:solidFill>
                <a:latin typeface="Arial"/>
              </a:rPr>
              <a:t>Draft</a:t>
            </a:r>
          </a:p>
        </p:txBody>
      </p:sp>
      <p:sp>
        <p:nvSpPr>
          <p:cNvPr id="162" name="Oval 161"/>
          <p:cNvSpPr/>
          <p:nvPr/>
        </p:nvSpPr>
        <p:spPr>
          <a:xfrm>
            <a:off x="6903720" y="5111496"/>
            <a:ext cx="182880" cy="182880"/>
          </a:xfrm>
          <a:prstGeom prst="ellipse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6903720" y="5111496"/>
            <a:ext cx="182880" cy="1828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S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7141464" y="5093208"/>
            <a:ext cx="1097280" cy="2560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900" b="0" i="0">
                <a:solidFill>
                  <a:srgbClr val="5C5C5C"/>
                </a:solidFill>
                <a:latin typeface="Arial"/>
              </a:rPr>
              <a:t>Submitted</a:t>
            </a:r>
          </a:p>
        </p:txBody>
      </p:sp>
      <p:sp>
        <p:nvSpPr>
          <p:cNvPr id="165" name="Oval 164"/>
          <p:cNvSpPr/>
          <p:nvPr/>
        </p:nvSpPr>
        <p:spPr>
          <a:xfrm>
            <a:off x="8275320" y="5111496"/>
            <a:ext cx="182880" cy="18288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8275320" y="5111496"/>
            <a:ext cx="182880" cy="1828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✕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8513064" y="5093208"/>
            <a:ext cx="1097280" cy="2560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900" b="0" i="0">
                <a:solidFill>
                  <a:srgbClr val="5C5C5C"/>
                </a:solidFill>
                <a:latin typeface="Arial"/>
              </a:rPr>
              <a:t>Missing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TextBox 168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Faculty guide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20 / 31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GRADING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132B5E"/>
                </a:solidFill>
                <a:latin typeface="Calibri"/>
              </a:rPr>
              <a:t>Per-assignment view — four filters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3200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i="0">
                <a:solidFill>
                  <a:srgbClr val="132B5E"/>
                </a:solidFill>
                <a:latin typeface="Arial"/>
              </a:rPr>
              <a:t>What each filter shows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3200400" cy="41148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1">
                <a:solidFill>
                  <a:srgbClr val="F28C2C"/>
                </a:solidFill>
                <a:latin typeface="Arial"/>
              </a:rPr>
              <a:t>● </a:t>
            </a:r>
            <a:r>
              <a:rPr sz="1100">
                <a:solidFill>
                  <a:srgbClr val="1A1A1A"/>
                </a:solidFill>
                <a:latin typeface="Arial"/>
              </a:rPr>
              <a:t>Needs grading — start here. Not yet touched.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F28C2C"/>
                </a:solidFill>
                <a:latin typeface="Arial"/>
              </a:rPr>
              <a:t>● </a:t>
            </a:r>
            <a:r>
              <a:rPr sz="1100">
                <a:solidFill>
                  <a:srgbClr val="1A1A1A"/>
                </a:solidFill>
                <a:latin typeface="Arial"/>
              </a:rPr>
              <a:t>Drafts — saved, not yet published.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F28C2C"/>
                </a:solidFill>
                <a:latin typeface="Arial"/>
              </a:rPr>
              <a:t>● </a:t>
            </a:r>
            <a:r>
              <a:rPr sz="1100">
                <a:solidFill>
                  <a:srgbClr val="1A1A1A"/>
                </a:solidFill>
                <a:latin typeface="Arial"/>
              </a:rPr>
              <a:t>Graded — published. Visible to student.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F28C2C"/>
                </a:solidFill>
                <a:latin typeface="Arial"/>
              </a:rPr>
              <a:t>● </a:t>
            </a:r>
            <a:r>
              <a:rPr sz="1100">
                <a:solidFill>
                  <a:srgbClr val="1A1A1A"/>
                </a:solidFill>
                <a:latin typeface="Arial"/>
              </a:rPr>
              <a:t>Missing — past due, no submission.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F28C2C"/>
                </a:solidFill>
                <a:latin typeface="Arial"/>
              </a:rPr>
              <a:t>● </a:t>
            </a:r>
            <a:r>
              <a:rPr sz="1100">
                <a:solidFill>
                  <a:srgbClr val="1A1A1A"/>
                </a:solidFill>
                <a:latin typeface="Arial"/>
              </a:rPr>
              <a:t>All — everyone, regardless of state.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F28C2C"/>
                </a:solidFill>
                <a:latin typeface="Arial"/>
              </a:rPr>
              <a:t>● </a:t>
            </a:r>
            <a:r>
              <a:rPr sz="1100">
                <a:solidFill>
                  <a:srgbClr val="1A1A1A"/>
                </a:solidFill>
                <a:latin typeface="Arial"/>
              </a:rPr>
              <a:t>Numbers update as you grade.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1828800"/>
            <a:ext cx="786384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931920" y="1828800"/>
            <a:ext cx="7863840" cy="29260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023360" y="1920240"/>
            <a:ext cx="118872" cy="118872"/>
          </a:xfrm>
          <a:prstGeom prst="ellipse">
            <a:avLst/>
          </a:prstGeom>
          <a:solidFill>
            <a:srgbClr val="E06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206240" y="1920240"/>
            <a:ext cx="118872" cy="118872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389120" y="1920240"/>
            <a:ext cx="118872" cy="118872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0" y="1828800"/>
            <a:ext cx="694944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900" b="0" i="0">
                <a:solidFill>
                  <a:srgbClr val="5C5C5C"/>
                </a:solidFill>
                <a:latin typeface="Arial"/>
              </a:rPr>
              <a:t>app.indialearns.com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2212848"/>
            <a:ext cx="740664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132B5E"/>
                </a:solidFill>
                <a:latin typeface="Arial"/>
              </a:rPr>
              <a:t>A1.2 — Industry stakeholders worksheet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2532888"/>
            <a:ext cx="740664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0">
                <a:solidFill>
                  <a:srgbClr val="5C5C5C"/>
                </a:solidFill>
                <a:latin typeface="Arial"/>
              </a:rPr>
              <a:t>Due Fri 23 May  ·  Max marks 20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0520" y="2898648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123944" y="2862072"/>
            <a:ext cx="1536192" cy="420624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F28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60520" y="2898648"/>
            <a:ext cx="1463040" cy="34747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Needs grading · 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0720" y="2898648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760720" y="2898648"/>
            <a:ext cx="1463040" cy="34747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Drafts · 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2898648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60920" y="2898648"/>
            <a:ext cx="1463040" cy="34747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Graded · 12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20" y="2898648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61120" y="2898648"/>
            <a:ext cx="1463040" cy="34747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Missing · 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561320" y="2898648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561320" y="2898648"/>
            <a:ext cx="1463040" cy="34747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132B5E"/>
                </a:solidFill>
                <a:latin typeface="Arial"/>
              </a:rPr>
              <a:t>All · 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3447288"/>
            <a:ext cx="74066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1" i="0">
                <a:solidFill>
                  <a:srgbClr val="F28C2C"/>
                </a:solidFill>
                <a:latin typeface="Arial"/>
              </a:rPr>
              <a:t>SHOWING: NEEDS GRADING (6)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60520" y="3767328"/>
            <a:ext cx="74066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297680" y="3840480"/>
            <a:ext cx="219456" cy="219456"/>
          </a:xfrm>
          <a:prstGeom prst="ellipse">
            <a:avLst/>
          </a:prstGeom>
          <a:solidFill>
            <a:srgbClr val="E3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297680" y="3840480"/>
            <a:ext cx="219456" cy="21945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132B5E"/>
                </a:solidFill>
                <a:latin typeface="Arial"/>
              </a:rPr>
              <a:t>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3767328"/>
            <a:ext cx="22860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rial"/>
              </a:rPr>
              <a:t>Aarav Sharma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3767328"/>
            <a:ext cx="27432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900" b="0" i="0">
                <a:solidFill>
                  <a:srgbClr val="5C5C5C"/>
                </a:solidFill>
                <a:latin typeface="Arial"/>
              </a:rPr>
              <a:t>Submitted 19 May, 18:42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607040" y="3822192"/>
            <a:ext cx="914400" cy="256032"/>
          </a:xfrm>
          <a:prstGeom prst="roundRect">
            <a:avLst>
              <a:gd name="adj" fmla="val 12000"/>
            </a:avLst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607040" y="3822192"/>
            <a:ext cx="914400" cy="2560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Grade 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60520" y="4169664"/>
            <a:ext cx="74066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4297680" y="4242816"/>
            <a:ext cx="219456" cy="219456"/>
          </a:xfrm>
          <a:prstGeom prst="ellipse">
            <a:avLst/>
          </a:prstGeom>
          <a:solidFill>
            <a:srgbClr val="E3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297680" y="4242816"/>
            <a:ext cx="219456" cy="21945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132B5E"/>
                </a:solidFill>
                <a:latin typeface="Arial"/>
              </a:rPr>
              <a:t>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17720" y="4169664"/>
            <a:ext cx="22860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rial"/>
              </a:rPr>
              <a:t>Diya Mehta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4169664"/>
            <a:ext cx="27432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900" b="0" i="0">
                <a:solidFill>
                  <a:srgbClr val="5C5C5C"/>
                </a:solidFill>
                <a:latin typeface="Arial"/>
              </a:rPr>
              <a:t>Submitted 19 May, 20:11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607040" y="4224528"/>
            <a:ext cx="914400" cy="256032"/>
          </a:xfrm>
          <a:prstGeom prst="roundRect">
            <a:avLst>
              <a:gd name="adj" fmla="val 12000"/>
            </a:avLst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607040" y="4224528"/>
            <a:ext cx="914400" cy="2560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Grade 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60520" y="4572000"/>
            <a:ext cx="74066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4297680" y="4645152"/>
            <a:ext cx="219456" cy="219456"/>
          </a:xfrm>
          <a:prstGeom prst="ellipse">
            <a:avLst/>
          </a:prstGeom>
          <a:solidFill>
            <a:srgbClr val="E3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297680" y="4645152"/>
            <a:ext cx="219456" cy="21945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132B5E"/>
                </a:solidFill>
                <a:latin typeface="Arial"/>
              </a:rPr>
              <a:t>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17720" y="4572000"/>
            <a:ext cx="22860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rial"/>
              </a:rPr>
              <a:t>Ishaan Patel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49440" y="4572000"/>
            <a:ext cx="27432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900" b="0" i="0">
                <a:solidFill>
                  <a:srgbClr val="5C5C5C"/>
                </a:solidFill>
                <a:latin typeface="Arial"/>
              </a:rPr>
              <a:t>Submitted 20 May, 09:05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607040" y="4626864"/>
            <a:ext cx="914400" cy="256032"/>
          </a:xfrm>
          <a:prstGeom prst="roundRect">
            <a:avLst>
              <a:gd name="adj" fmla="val 12000"/>
            </a:avLst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607040" y="4626864"/>
            <a:ext cx="914400" cy="2560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Grade →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60520" y="4974336"/>
            <a:ext cx="74066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4297680" y="5047488"/>
            <a:ext cx="219456" cy="219456"/>
          </a:xfrm>
          <a:prstGeom prst="ellipse">
            <a:avLst/>
          </a:prstGeom>
          <a:solidFill>
            <a:srgbClr val="E3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297680" y="5047488"/>
            <a:ext cx="219456" cy="21945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132B5E"/>
                </a:solidFill>
                <a:latin typeface="Arial"/>
              </a:rPr>
              <a:t>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17720" y="4974336"/>
            <a:ext cx="22860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rial"/>
              </a:rPr>
              <a:t>Kavya Reddy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49440" y="4974336"/>
            <a:ext cx="27432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900" b="0" i="0">
                <a:solidFill>
                  <a:srgbClr val="5C5C5C"/>
                </a:solidFill>
                <a:latin typeface="Arial"/>
              </a:rPr>
              <a:t>Submitted 20 May, 11:30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607040" y="5029200"/>
            <a:ext cx="914400" cy="256032"/>
          </a:xfrm>
          <a:prstGeom prst="roundRect">
            <a:avLst>
              <a:gd name="adj" fmla="val 12000"/>
            </a:avLst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0607040" y="5029200"/>
            <a:ext cx="914400" cy="2560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Grade →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60520" y="5376672"/>
            <a:ext cx="74066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4297680" y="5449824"/>
            <a:ext cx="219456" cy="219456"/>
          </a:xfrm>
          <a:prstGeom prst="ellipse">
            <a:avLst/>
          </a:prstGeom>
          <a:solidFill>
            <a:srgbClr val="E3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297680" y="5449824"/>
            <a:ext cx="219456" cy="21945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132B5E"/>
                </a:solidFill>
                <a:latin typeface="Arial"/>
              </a:rPr>
              <a:t>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17720" y="5376672"/>
            <a:ext cx="22860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rial"/>
              </a:rPr>
              <a:t>Mira Bose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49440" y="5376672"/>
            <a:ext cx="27432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900" b="0" i="0">
                <a:solidFill>
                  <a:srgbClr val="5C5C5C"/>
                </a:solidFill>
                <a:latin typeface="Arial"/>
              </a:rPr>
              <a:t>Submitted 20 May, 14:12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607040" y="5431536"/>
            <a:ext cx="914400" cy="256032"/>
          </a:xfrm>
          <a:prstGeom prst="roundRect">
            <a:avLst>
              <a:gd name="adj" fmla="val 12000"/>
            </a:avLst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607040" y="5431536"/>
            <a:ext cx="914400" cy="2560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Grade →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Faculty guide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21 / 31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GRADING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132B5E"/>
                </a:solidFill>
                <a:latin typeface="Calibri"/>
              </a:rPr>
              <a:t>The grading screen — every field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3200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i="0">
                <a:solidFill>
                  <a:srgbClr val="132B5E"/>
                </a:solidFill>
                <a:latin typeface="Arial"/>
              </a:rPr>
              <a:t>Two panels side-by-side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3200400" cy="41148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1">
                <a:solidFill>
                  <a:srgbClr val="F28C2C"/>
                </a:solidFill>
                <a:latin typeface="Arial"/>
              </a:rPr>
              <a:t>● </a:t>
            </a:r>
            <a:r>
              <a:rPr sz="1100">
                <a:solidFill>
                  <a:srgbClr val="1A1A1A"/>
                </a:solidFill>
                <a:latin typeface="Arial"/>
              </a:rPr>
              <a:t>LEFT — the student's submission.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F28C2C"/>
                </a:solidFill>
                <a:latin typeface="Arial"/>
              </a:rPr>
              <a:t>● </a:t>
            </a:r>
            <a:r>
              <a:rPr sz="1100">
                <a:solidFill>
                  <a:srgbClr val="1A1A1A"/>
                </a:solidFill>
                <a:latin typeface="Arial"/>
              </a:rPr>
              <a:t>Their text answer, attached files.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F28C2C"/>
                </a:solidFill>
                <a:latin typeface="Arial"/>
              </a:rPr>
              <a:t>● </a:t>
            </a:r>
            <a:r>
              <a:rPr sz="1100">
                <a:solidFill>
                  <a:srgbClr val="1A1A1A"/>
                </a:solidFill>
                <a:latin typeface="Arial"/>
              </a:rPr>
              <a:t>Click any attachment to preview.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F28C2C"/>
                </a:solidFill>
                <a:latin typeface="Arial"/>
              </a:rPr>
              <a:t>● </a:t>
            </a:r>
            <a:r>
              <a:rPr sz="1100">
                <a:solidFill>
                  <a:srgbClr val="1A1A1A"/>
                </a:solidFill>
                <a:latin typeface="Arial"/>
              </a:rPr>
              <a:t>RIGHT — your grading panel.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F28C2C"/>
                </a:solidFill>
                <a:latin typeface="Arial"/>
              </a:rPr>
              <a:t>● </a:t>
            </a:r>
            <a:r>
              <a:rPr sz="1100">
                <a:solidFill>
                  <a:srgbClr val="1A1A1A"/>
                </a:solidFill>
                <a:latin typeface="Arial"/>
              </a:rPr>
              <a:t>Score input, feedback textarea.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F28C2C"/>
                </a:solidFill>
                <a:latin typeface="Arial"/>
              </a:rPr>
              <a:t>● </a:t>
            </a:r>
            <a:r>
              <a:rPr sz="1100">
                <a:solidFill>
                  <a:srgbClr val="1A1A1A"/>
                </a:solidFill>
                <a:latin typeface="Arial"/>
              </a:rPr>
              <a:t>Save draft, then Publish.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1828800"/>
            <a:ext cx="786384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931920" y="1828800"/>
            <a:ext cx="7863840" cy="29260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023360" y="1920240"/>
            <a:ext cx="118872" cy="118872"/>
          </a:xfrm>
          <a:prstGeom prst="ellipse">
            <a:avLst/>
          </a:prstGeom>
          <a:solidFill>
            <a:srgbClr val="E06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206240" y="1920240"/>
            <a:ext cx="118872" cy="118872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389120" y="1920240"/>
            <a:ext cx="118872" cy="118872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0" y="1828800"/>
            <a:ext cx="694944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900" b="0" i="0">
                <a:solidFill>
                  <a:srgbClr val="5C5C5C"/>
                </a:solidFill>
                <a:latin typeface="Arial"/>
              </a:rPr>
              <a:t>app.indialearns.com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31920" y="2121408"/>
            <a:ext cx="7863840" cy="502920"/>
          </a:xfrm>
          <a:prstGeom prst="rect">
            <a:avLst/>
          </a:prstGeom>
          <a:solidFill>
            <a:srgbClr val="E3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114800" y="2231136"/>
            <a:ext cx="292608" cy="292608"/>
          </a:xfrm>
          <a:prstGeom prst="ellipse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800" y="2231136"/>
            <a:ext cx="292608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167128"/>
            <a:ext cx="457200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 i="0">
                <a:solidFill>
                  <a:srgbClr val="132B5E"/>
                </a:solidFill>
                <a:latin typeface="Arial"/>
              </a:rPr>
              <a:t>Aarav Sharma  ·  A1.2 Industry stakeholders worksheet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395728"/>
            <a:ext cx="4572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0">
                <a:solidFill>
                  <a:srgbClr val="5C5C5C"/>
                </a:solidFill>
                <a:latin typeface="Arial"/>
              </a:rPr>
              <a:t>Submitted 19 May 18:42  ·  3 days early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2807208"/>
            <a:ext cx="3749039" cy="3520440"/>
          </a:xfrm>
          <a:prstGeom prst="rect">
            <a:avLst/>
          </a:prstGeom>
          <a:solidFill>
            <a:srgbClr val="F4F4F4"/>
          </a:solidFill>
          <a:ln w="6350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97680" y="2898648"/>
            <a:ext cx="3474719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F28C2C"/>
                </a:solidFill>
                <a:latin typeface="Arial"/>
              </a:rPr>
              <a:t>SUBMISSION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3172968"/>
            <a:ext cx="3474719" cy="2926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The Indian aviation sector is regulated primarily by the DGCA,</a:t>
            </a:r>
          </a:p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with the Airports Authority of India (AAI) overseeing infrastructure.</a:t>
            </a:r>
          </a:p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Major career pathways for diploma graduates include:</a:t>
            </a:r>
          </a:p>
          <a:p>
            <a:pPr algn="l"/>
            <a:endParaRPr sz="900" b="0" i="0">
              <a:solidFill>
                <a:srgbClr val="1A1A1A"/>
              </a:solidFill>
              <a:latin typeface="Arial"/>
            </a:endParaRPr>
          </a:p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  • Ground operations &amp; customer service</a:t>
            </a:r>
          </a:p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  • Cabin crew (with airline-specific training)</a:t>
            </a:r>
          </a:p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  • Cargo handling &amp; logistics</a:t>
            </a:r>
          </a:p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  • Aviation security (with BCAS certification)</a:t>
            </a:r>
          </a:p>
          <a:p>
            <a:pPr algn="l"/>
            <a:endParaRPr sz="900" b="0" i="0">
              <a:solidFill>
                <a:srgbClr val="1A1A1A"/>
              </a:solidFill>
              <a:latin typeface="Arial"/>
            </a:endParaRPr>
          </a:p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Each pathway requires specific certifications…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60520" y="6053328"/>
            <a:ext cx="3749039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297680" y="6053328"/>
            <a:ext cx="3474719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900" b="0" i="0">
                <a:solidFill>
                  <a:srgbClr val="132B5E"/>
                </a:solidFill>
                <a:latin typeface="Arial"/>
              </a:rPr>
              <a:t>📎  industry-stakeholders.pdf  ·  423 KB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2807208"/>
            <a:ext cx="35661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83880" y="2898648"/>
            <a:ext cx="32918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F28C2C"/>
                </a:solidFill>
                <a:latin typeface="Arial"/>
              </a:rPr>
              <a:t>SCORE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83880" y="3172968"/>
            <a:ext cx="10972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32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83880" y="3172968"/>
            <a:ext cx="109728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800" b="1" i="0">
                <a:solidFill>
                  <a:srgbClr val="132B5E"/>
                </a:solidFill>
                <a:latin typeface="Arial"/>
              </a:rPr>
              <a:t>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3172968"/>
            <a:ext cx="182880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0" i="0">
                <a:solidFill>
                  <a:srgbClr val="5C5C5C"/>
                </a:solidFill>
                <a:latin typeface="Arial"/>
              </a:rPr>
              <a:t>/ 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80" y="3721608"/>
            <a:ext cx="32918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F28C2C"/>
                </a:solidFill>
                <a:latin typeface="Arial"/>
              </a:rPr>
              <a:t>FEEDBACK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83880" y="3995928"/>
            <a:ext cx="3291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75320" y="4041648"/>
            <a:ext cx="3108960" cy="1417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Solid work, Aarav.</a:t>
            </a:r>
          </a:p>
          <a:p>
            <a:pPr algn="l"/>
            <a:endParaRPr sz="900" b="0" i="0">
              <a:solidFill>
                <a:srgbClr val="1A1A1A"/>
              </a:solidFill>
              <a:latin typeface="Arial"/>
            </a:endParaRPr>
          </a:p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Strong on regulatory bodies. Would have liked</a:t>
            </a:r>
          </a:p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to see one more career pathway (technical /</a:t>
            </a:r>
          </a:p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maintenance side). Watch the spelling on</a:t>
            </a:r>
          </a:p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'BCAS' — capitalised.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83880" y="5824728"/>
            <a:ext cx="1554480" cy="36576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183880" y="5824728"/>
            <a:ext cx="15544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132B5E"/>
                </a:solidFill>
                <a:latin typeface="Arial"/>
              </a:rPr>
              <a:t>Save draft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875520" y="5824728"/>
            <a:ext cx="1554480" cy="365760"/>
          </a:xfrm>
          <a:prstGeom prst="roundRect">
            <a:avLst>
              <a:gd name="adj" fmla="val 12000"/>
            </a:avLst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875520" y="5824728"/>
            <a:ext cx="15544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Publish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Faculty guide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22 / 31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GRADING PHILOSOPHY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132B5E"/>
                </a:solidFill>
                <a:latin typeface="Calibri"/>
              </a:rPr>
              <a:t>Why two steps? Save draft, then Publish.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801368"/>
            <a:ext cx="104241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132B5E"/>
                </a:solidFill>
                <a:latin typeface="Arial"/>
              </a:rPr>
              <a:t>Save draft = private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112264"/>
            <a:ext cx="104241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Score and feedback are saved on your account only. The student sees nothing yet.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496312"/>
            <a:ext cx="502920" cy="502920"/>
          </a:xfrm>
          <a:prstGeom prst="ellipse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514600"/>
            <a:ext cx="104241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132B5E"/>
                </a:solidFill>
                <a:latin typeface="Arial"/>
              </a:rPr>
              <a:t>Refine freely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825496"/>
            <a:ext cx="104241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Reopen later. Adjust the score. Rewrite feedback. As many times as you want.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209544"/>
            <a:ext cx="502920" cy="502920"/>
          </a:xfrm>
          <a:prstGeom prst="ellipse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27832"/>
            <a:ext cx="104241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132B5E"/>
                </a:solidFill>
                <a:latin typeface="Arial"/>
              </a:rPr>
              <a:t>Publish = visible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538728"/>
            <a:ext cx="104241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Click Publish. Confirm. NOW the student sees the score and feedback.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922776"/>
            <a:ext cx="502920" cy="502920"/>
          </a:xfrm>
          <a:prstGeom prst="ellipse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941064"/>
            <a:ext cx="104241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132B5E"/>
                </a:solidFill>
                <a:latin typeface="Arial"/>
              </a:rPr>
              <a:t>Editing a published grade?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251960"/>
            <a:ext cx="104241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Auto-flips back to Draft. You must Publish again. Forces a 'I'm sure' moment.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636008"/>
            <a:ext cx="502920" cy="502920"/>
          </a:xfrm>
          <a:prstGeom prst="ellipse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654296"/>
            <a:ext cx="104241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132B5E"/>
                </a:solidFill>
                <a:latin typeface="Arial"/>
              </a:rPr>
              <a:t>Bulk publish from gradebook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965192"/>
            <a:ext cx="104241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Select multiple drafts → Publish all. One audit-log entry per row.</a:t>
            </a:r>
          </a:p>
        </p:txBody>
      </p:sp>
      <p:sp>
        <p:nvSpPr>
          <p:cNvPr id="22" name="Oval 21"/>
          <p:cNvSpPr/>
          <p:nvPr/>
        </p:nvSpPr>
        <p:spPr>
          <a:xfrm>
            <a:off x="548640" y="5349240"/>
            <a:ext cx="502920" cy="502920"/>
          </a:xfrm>
          <a:prstGeom prst="ellipse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367528"/>
            <a:ext cx="104241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132B5E"/>
                </a:solidFill>
                <a:latin typeface="Arial"/>
              </a:rPr>
              <a:t>No accidental sends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678424"/>
            <a:ext cx="104241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Publish is always a deliberate two-click action. No surprise visibility flips.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Faculty guide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23 / 31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GRADING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132B5E"/>
                </a:solidFill>
                <a:latin typeface="Calibri"/>
              </a:rPr>
              <a:t>What students see before and after Publish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486400" cy="4206240"/>
          </a:xfrm>
          <a:prstGeom prst="roundRect">
            <a:avLst>
              <a:gd name="adj" fmla="val 12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512064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F28C2C"/>
                </a:solidFill>
                <a:latin typeface="Arial"/>
              </a:rPr>
              <a:t>WHILE IT'S A DRAFT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51206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132B5E"/>
                </a:solidFill>
                <a:latin typeface="Arial"/>
              </a:rPr>
              <a:t>Student sees: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34640"/>
            <a:ext cx="5120640" cy="31089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>
                <a:solidFill>
                  <a:srgbClr val="1A1A1A"/>
                </a:solidFill>
                <a:latin typeface="Arial"/>
              </a:rPr>
              <a:t>'Submitted on [date]' — the date they uploaded.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>
                <a:solidFill>
                  <a:srgbClr val="1A1A1A"/>
                </a:solidFill>
                <a:latin typeface="Arial"/>
              </a:rPr>
              <a:t>'Awaiting feedback' — nothing else.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>
                <a:solidFill>
                  <a:srgbClr val="1A1A1A"/>
                </a:solidFill>
                <a:latin typeface="Arial"/>
              </a:rPr>
              <a:t>No score, no comments.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>
                <a:solidFill>
                  <a:srgbClr val="1A1A1A"/>
                </a:solidFill>
                <a:latin typeface="Arial"/>
              </a:rPr>
              <a:t>No notification fires.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>
                <a:solidFill>
                  <a:srgbClr val="1A1A1A"/>
                </a:solidFill>
                <a:latin typeface="Arial"/>
              </a:rPr>
              <a:t>They can resubmit if window is open.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828800"/>
            <a:ext cx="5486400" cy="4206240"/>
          </a:xfrm>
          <a:prstGeom prst="roundRect">
            <a:avLst>
              <a:gd name="adj" fmla="val 12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2011680"/>
            <a:ext cx="512064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  <a:latin typeface="Arial"/>
              </a:rPr>
              <a:t>AFTER YOU PUBLISH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423160"/>
            <a:ext cx="51206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132B5E"/>
                </a:solidFill>
                <a:latin typeface="Arial"/>
              </a:rPr>
              <a:t>Student sees: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834640"/>
            <a:ext cx="5120640" cy="31089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>
                <a:solidFill>
                  <a:srgbClr val="1A1A1A"/>
                </a:solidFill>
                <a:latin typeface="Arial"/>
              </a:rPr>
              <a:t>Their score (e.g. 17 / 20) — prominently.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>
                <a:solidFill>
                  <a:srgbClr val="1A1A1A"/>
                </a:solidFill>
                <a:latin typeface="Arial"/>
              </a:rPr>
              <a:t>Your written feedback — full text.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>
                <a:solidFill>
                  <a:srgbClr val="1A1A1A"/>
                </a:solidFill>
                <a:latin typeface="Arial"/>
              </a:rPr>
              <a:t>Notification: email + in-app + WhatsApp.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>
                <a:solidFill>
                  <a:srgbClr val="1A1A1A"/>
                </a:solidFill>
                <a:latin typeface="Arial"/>
              </a:rPr>
              <a:t>Their dashboard 'Recent feedback' updates.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>
                <a:solidFill>
                  <a:srgbClr val="1A1A1A"/>
                </a:solidFill>
                <a:latin typeface="Arial"/>
              </a:rPr>
              <a:t>Cannot resubmit (unless reopened by admin).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Faculty guide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24 / 31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132B5E"/>
                </a:solidFill>
                <a:latin typeface="Calibri"/>
              </a:rPr>
              <a:t>Your timetable &amp; Monday digest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3200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i="0">
                <a:solidFill>
                  <a:srgbClr val="132B5E"/>
                </a:solidFill>
                <a:latin typeface="Arial"/>
              </a:rPr>
              <a:t>Two ways to plan your week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3200400" cy="41148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1">
                <a:solidFill>
                  <a:srgbClr val="F28C2C"/>
                </a:solidFill>
                <a:latin typeface="Arial"/>
              </a:rPr>
              <a:t>● </a:t>
            </a:r>
            <a:r>
              <a:rPr sz="1100">
                <a:solidFill>
                  <a:srgbClr val="1A1A1A"/>
                </a:solidFill>
                <a:latin typeface="Arial"/>
              </a:rPr>
              <a:t>Timetable — your week, your classes only.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F28C2C"/>
                </a:solidFill>
                <a:latin typeface="Arial"/>
              </a:rPr>
              <a:t>● </a:t>
            </a:r>
            <a:r>
              <a:rPr sz="1100">
                <a:solidFill>
                  <a:srgbClr val="1A1A1A"/>
                </a:solidFill>
                <a:latin typeface="Arial"/>
              </a:rPr>
              <a:t>Week-picker to jump to any week.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F28C2C"/>
                </a:solidFill>
                <a:latin typeface="Arial"/>
              </a:rPr>
              <a:t>● </a:t>
            </a:r>
            <a:r>
              <a:rPr sz="1100">
                <a:solidFill>
                  <a:srgbClr val="1A1A1A"/>
                </a:solidFill>
                <a:latin typeface="Arial"/>
              </a:rPr>
              <a:t>Rescheduled classes highlighted in orange.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F28C2C"/>
                </a:solidFill>
                <a:latin typeface="Arial"/>
              </a:rPr>
              <a:t>● </a:t>
            </a:r>
            <a:r>
              <a:rPr sz="1100">
                <a:solidFill>
                  <a:srgbClr val="1A1A1A"/>
                </a:solidFill>
                <a:latin typeface="Arial"/>
              </a:rPr>
              <a:t>Mobile-friendly — open before class.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F28C2C"/>
                </a:solidFill>
                <a:latin typeface="Arial"/>
              </a:rPr>
              <a:t>● </a:t>
            </a:r>
            <a:r>
              <a:rPr sz="1100">
                <a:solidFill>
                  <a:srgbClr val="1A1A1A"/>
                </a:solidFill>
                <a:latin typeface="Arial"/>
              </a:rPr>
              <a:t>Monday digest — email every Mon 9 AM.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F28C2C"/>
                </a:solidFill>
                <a:latin typeface="Arial"/>
              </a:rPr>
              <a:t>● </a:t>
            </a:r>
            <a:r>
              <a:rPr sz="1100">
                <a:solidFill>
                  <a:srgbClr val="1A1A1A"/>
                </a:solidFill>
                <a:latin typeface="Arial"/>
              </a:rPr>
              <a:t>Drafts &gt;7 days old + ungraded essays flagged.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1828800"/>
            <a:ext cx="786384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931920" y="1828800"/>
            <a:ext cx="7863840" cy="29260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023360" y="1920240"/>
            <a:ext cx="118872" cy="118872"/>
          </a:xfrm>
          <a:prstGeom prst="ellipse">
            <a:avLst/>
          </a:prstGeom>
          <a:solidFill>
            <a:srgbClr val="E06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206240" y="1920240"/>
            <a:ext cx="118872" cy="118872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389120" y="1920240"/>
            <a:ext cx="118872" cy="118872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0" y="1828800"/>
            <a:ext cx="694944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900" b="0" i="0">
                <a:solidFill>
                  <a:srgbClr val="5C5C5C"/>
                </a:solidFill>
                <a:latin typeface="Arial"/>
              </a:rPr>
              <a:t>app.indialearns.com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2212848"/>
            <a:ext cx="3200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132B5E"/>
                </a:solidFill>
                <a:latin typeface="Arial"/>
              </a:rPr>
              <a:t>Your week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9760" y="2212848"/>
            <a:ext cx="2011680" cy="27432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509760" y="2212848"/>
            <a:ext cx="201168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132B5E"/>
                </a:solidFill>
                <a:latin typeface="Arial"/>
              </a:rPr>
              <a:t>‹  Week of 18 May  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2624328"/>
            <a:ext cx="640080" cy="320040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800600" y="2624328"/>
            <a:ext cx="1353312" cy="320040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00600" y="2624328"/>
            <a:ext cx="1353312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Mon 18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53912" y="2624328"/>
            <a:ext cx="1353312" cy="320040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53912" y="2624328"/>
            <a:ext cx="1353312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Tue 19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07224" y="2624328"/>
            <a:ext cx="1353312" cy="320040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07224" y="2624328"/>
            <a:ext cx="1353312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Wed 20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60536" y="2624328"/>
            <a:ext cx="1353312" cy="320040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860536" y="2624328"/>
            <a:ext cx="1353312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Thu 21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13848" y="2624328"/>
            <a:ext cx="1353312" cy="320040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213848" y="2624328"/>
            <a:ext cx="1353312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Fri 22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60520" y="2944368"/>
            <a:ext cx="640080" cy="7315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160520" y="2944368"/>
            <a:ext cx="640080" cy="7315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5C5C5C"/>
                </a:solidFill>
                <a:latin typeface="Arial"/>
              </a:rPr>
              <a:t>09:00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00600" y="2944368"/>
            <a:ext cx="1353312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4855464" y="3017520"/>
            <a:ext cx="1243584" cy="585216"/>
          </a:xfrm>
          <a:prstGeom prst="roundRect">
            <a:avLst>
              <a:gd name="adj" fmla="val 10000"/>
            </a:avLst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855464" y="3054096"/>
            <a:ext cx="1243584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S1.2 Industry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55464" y="3310128"/>
            <a:ext cx="1243584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Arial"/>
              </a:rPr>
              <a:t>Room 204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53912" y="2944368"/>
            <a:ext cx="1353312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6208776" y="3017520"/>
            <a:ext cx="1243584" cy="585216"/>
          </a:xfrm>
          <a:prstGeom prst="roundRect">
            <a:avLst>
              <a:gd name="adj" fmla="val 10000"/>
            </a:avLst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08776" y="3054096"/>
            <a:ext cx="1243584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S2.1 Customer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08776" y="3310128"/>
            <a:ext cx="1243584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Arial"/>
              </a:rPr>
              <a:t>Room 204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07224" y="2944368"/>
            <a:ext cx="1353312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860536" y="2944368"/>
            <a:ext cx="1353312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8915400" y="3017520"/>
            <a:ext cx="1243584" cy="585216"/>
          </a:xfrm>
          <a:prstGeom prst="roundRect">
            <a:avLst>
              <a:gd name="adj" fmla="val 10000"/>
            </a:avLst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915400" y="3054096"/>
            <a:ext cx="1243584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S3.1 Final review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15400" y="3310128"/>
            <a:ext cx="1243584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Arial"/>
              </a:rPr>
              <a:t>Room 204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213848" y="2944368"/>
            <a:ext cx="1353312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160520" y="3675888"/>
            <a:ext cx="640080" cy="7315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160520" y="3675888"/>
            <a:ext cx="640080" cy="7315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5C5C5C"/>
                </a:solidFill>
                <a:latin typeface="Arial"/>
              </a:rPr>
              <a:t>11:00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800600" y="3675888"/>
            <a:ext cx="1353312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4855464" y="3749040"/>
            <a:ext cx="1243584" cy="585216"/>
          </a:xfrm>
          <a:prstGeom prst="roundRect">
            <a:avLst>
              <a:gd name="adj" fmla="val 10000"/>
            </a:avLst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855464" y="3785616"/>
            <a:ext cx="1243584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S1.3 Safety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55464" y="4041648"/>
            <a:ext cx="1243584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Arial"/>
              </a:rPr>
              <a:t>Room 204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53912" y="3675888"/>
            <a:ext cx="1353312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7507224" y="3675888"/>
            <a:ext cx="1353312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8860536" y="3675888"/>
            <a:ext cx="1353312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10213848" y="3675888"/>
            <a:ext cx="1353312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10268712" y="3749040"/>
            <a:ext cx="1243584" cy="585216"/>
          </a:xfrm>
          <a:prstGeom prst="roundRect">
            <a:avLst>
              <a:gd name="adj" fmla="val 10000"/>
            </a:avLst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0268712" y="3785616"/>
            <a:ext cx="1243584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Office hour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68712" y="4041648"/>
            <a:ext cx="1243584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Arial"/>
              </a:rPr>
              <a:t>Room 101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60520" y="4407408"/>
            <a:ext cx="640080" cy="7315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160520" y="4407408"/>
            <a:ext cx="640080" cy="7315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5C5C5C"/>
                </a:solidFill>
                <a:latin typeface="Arial"/>
              </a:rPr>
              <a:t>14:00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800600" y="4407408"/>
            <a:ext cx="1353312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6153912" y="4407408"/>
            <a:ext cx="1353312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7507224" y="4407408"/>
            <a:ext cx="1353312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7562088" y="4480560"/>
            <a:ext cx="1243584" cy="585216"/>
          </a:xfrm>
          <a:prstGeom prst="roundRect">
            <a:avLst>
              <a:gd name="adj" fmla="val 10000"/>
            </a:avLst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562088" y="4517136"/>
            <a:ext cx="1243584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S2.2 Product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562088" y="4773168"/>
            <a:ext cx="1243584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Arial"/>
              </a:rPr>
              <a:t>Room 204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860536" y="4407408"/>
            <a:ext cx="1353312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10213848" y="4407408"/>
            <a:ext cx="1353312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ounded Rectangle 67"/>
          <p:cNvSpPr/>
          <p:nvPr/>
        </p:nvSpPr>
        <p:spPr>
          <a:xfrm>
            <a:off x="4160520" y="5230368"/>
            <a:ext cx="7406640" cy="384048"/>
          </a:xfrm>
          <a:prstGeom prst="roundRect">
            <a:avLst>
              <a:gd name="adj" fmla="val 12000"/>
            </a:avLst>
          </a:prstGeom>
          <a:solidFill>
            <a:srgbClr val="E3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4343400" y="5230368"/>
            <a:ext cx="704088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1" i="0">
                <a:solidFill>
                  <a:srgbClr val="132B5E"/>
                </a:solidFill>
                <a:latin typeface="Arial"/>
              </a:rPr>
              <a:t>📧  Monday digest · Sent 9 AM · 3 items awaiting feedback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Faculty guide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25 / 31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ALERTS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132B5E"/>
                </a:solidFill>
                <a:latin typeface="Calibri"/>
              </a:rPr>
              <a:t>Notifications — what fires and when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0972800" cy="43891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spcAft>
                <a:spcPts val="9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 b="1">
                <a:solidFill>
                  <a:srgbClr val="132B5E"/>
                </a:solidFill>
                <a:latin typeface="Arial"/>
              </a:rPr>
              <a:t>Bell icon (top right) — </a:t>
            </a:r>
            <a:r>
              <a:rPr sz="1200">
                <a:solidFill>
                  <a:srgbClr val="1A1A1A"/>
                </a:solidFill>
                <a:latin typeface="Arial"/>
              </a:rPr>
              <a:t>shows unread count. Click for the full list.</a:t>
            </a:r>
          </a:p>
          <a:p>
            <a:pPr algn="l">
              <a:spcAft>
                <a:spcPts val="9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 b="1">
                <a:solidFill>
                  <a:srgbClr val="132B5E"/>
                </a:solidFill>
                <a:latin typeface="Arial"/>
              </a:rPr>
              <a:t>In-app notification — </a:t>
            </a:r>
            <a:r>
              <a:rPr sz="1200">
                <a:solidFill>
                  <a:srgbClr val="1A1A1A"/>
                </a:solidFill>
                <a:latin typeface="Arial"/>
              </a:rPr>
              <a:t>appears on the dashboard 'Notifications' card too.</a:t>
            </a:r>
          </a:p>
          <a:p>
            <a:pPr algn="l">
              <a:spcAft>
                <a:spcPts val="9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 b="1">
                <a:solidFill>
                  <a:srgbClr val="132B5E"/>
                </a:solidFill>
                <a:latin typeface="Arial"/>
              </a:rPr>
              <a:t>Email notification — </a:t>
            </a:r>
            <a:r>
              <a:rPr sz="1200">
                <a:solidFill>
                  <a:srgbClr val="1A1A1A"/>
                </a:solidFill>
                <a:latin typeface="Arial"/>
              </a:rPr>
              <a:t>to the email admin has on file for you.</a:t>
            </a:r>
          </a:p>
          <a:p>
            <a:pPr algn="l">
              <a:spcAft>
                <a:spcPts val="9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 b="1">
                <a:solidFill>
                  <a:srgbClr val="132B5E"/>
                </a:solidFill>
                <a:latin typeface="Arial"/>
              </a:rPr>
              <a:t>WhatsApp notification — </a:t>
            </a:r>
            <a:r>
              <a:rPr sz="1200">
                <a:solidFill>
                  <a:srgbClr val="1A1A1A"/>
                </a:solidFill>
                <a:latin typeface="Arial"/>
              </a:rPr>
              <a:t>to your number, if WhatsApp is enabled in your profile.</a:t>
            </a:r>
          </a:p>
          <a:p>
            <a:pPr algn="l">
              <a:spcAft>
                <a:spcPts val="9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 b="1">
                <a:solidFill>
                  <a:srgbClr val="132B5E"/>
                </a:solidFill>
                <a:latin typeface="Arial"/>
              </a:rPr>
              <a:t>Triggers — </a:t>
            </a:r>
            <a:r>
              <a:rPr sz="1200">
                <a:solidFill>
                  <a:srgbClr val="1A1A1A"/>
                </a:solidFill>
                <a:latin typeface="Arial"/>
              </a:rPr>
              <a:t>Class scheduled/rescheduled, schedule cancelled, student message via ticket, admin announcement, submission awaiting your grade, drafts &gt;7 days old.</a:t>
            </a:r>
          </a:p>
          <a:p>
            <a:pPr algn="l">
              <a:spcAft>
                <a:spcPts val="9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 b="1">
                <a:solidFill>
                  <a:srgbClr val="132B5E"/>
                </a:solidFill>
                <a:latin typeface="Arial"/>
              </a:rPr>
              <a:t>Monday digest email — </a:t>
            </a:r>
            <a:r>
              <a:rPr sz="1200">
                <a:solidFill>
                  <a:srgbClr val="1A1A1A"/>
                </a:solidFill>
                <a:latin typeface="Arial"/>
              </a:rPr>
              <a:t>weekly summary of what's awaiting your feedback.</a:t>
            </a:r>
          </a:p>
          <a:p>
            <a:pPr algn="l">
              <a:spcAft>
                <a:spcPts val="9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 b="1">
                <a:solidFill>
                  <a:srgbClr val="132B5E"/>
                </a:solidFill>
                <a:latin typeface="Arial"/>
              </a:rPr>
              <a:t>Mark as read — </a:t>
            </a:r>
            <a:r>
              <a:rPr sz="1200">
                <a:solidFill>
                  <a:srgbClr val="1A1A1A"/>
                </a:solidFill>
                <a:latin typeface="Arial"/>
              </a:rPr>
              <a:t>click the notification. Or 'Mark all as read' at the top of the list.</a:t>
            </a:r>
          </a:p>
          <a:p>
            <a:pPr algn="l">
              <a:spcAft>
                <a:spcPts val="9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 b="1">
                <a:solidFill>
                  <a:srgbClr val="132B5E"/>
                </a:solidFill>
                <a:latin typeface="Arial"/>
              </a:rPr>
              <a:t>Per-channel control — </a:t>
            </a:r>
            <a:r>
              <a:rPr sz="1200">
                <a:solidFill>
                  <a:srgbClr val="1A1A1A"/>
                </a:solidFill>
                <a:latin typeface="Arial"/>
              </a:rPr>
              <a:t>Profile → Notification preferences lets you turn each channel on or off per event type.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Faculty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26 / 31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SETTINGS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132B5E"/>
                </a:solidFill>
                <a:latin typeface="Calibri"/>
              </a:rPr>
              <a:t>Profile &amp; preferences — what you can change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0972800" cy="43891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 b="1">
                <a:solidFill>
                  <a:srgbClr val="132B5E"/>
                </a:solidFill>
                <a:latin typeface="Arial"/>
              </a:rPr>
              <a:t>Display name — </a:t>
            </a:r>
            <a:r>
              <a:rPr sz="1200">
                <a:solidFill>
                  <a:srgbClr val="1A1A1A"/>
                </a:solidFill>
                <a:latin typeface="Arial"/>
              </a:rPr>
              <a:t>how you appear to students. Use your professional name.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 b="1">
                <a:solidFill>
                  <a:srgbClr val="132B5E"/>
                </a:solidFill>
                <a:latin typeface="Arial"/>
              </a:rPr>
              <a:t>Photo — </a:t>
            </a:r>
            <a:r>
              <a:rPr sz="1200">
                <a:solidFill>
                  <a:srgbClr val="1A1A1A"/>
                </a:solidFill>
                <a:latin typeface="Arial"/>
              </a:rPr>
              <a:t>optional. Helps students identify you. JPG/PNG up to 2 MB.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 b="1">
                <a:solidFill>
                  <a:srgbClr val="132B5E"/>
                </a:solidFill>
                <a:latin typeface="Arial"/>
              </a:rPr>
              <a:t>Phone number — </a:t>
            </a:r>
            <a:r>
              <a:rPr sz="1200">
                <a:solidFill>
                  <a:srgbClr val="1A1A1A"/>
                </a:solidFill>
                <a:latin typeface="Arial"/>
              </a:rPr>
              <a:t>for WhatsApp messages. Include country code.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 b="1">
                <a:solidFill>
                  <a:srgbClr val="132B5E"/>
                </a:solidFill>
                <a:latin typeface="Arial"/>
              </a:rPr>
              <a:t>Email — </a:t>
            </a:r>
            <a:r>
              <a:rPr sz="1200">
                <a:solidFill>
                  <a:srgbClr val="1A1A1A"/>
                </a:solidFill>
                <a:latin typeface="Arial"/>
              </a:rPr>
              <a:t>your sign-in email. Changing it requires admin approval.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 b="1">
                <a:solidFill>
                  <a:srgbClr val="132B5E"/>
                </a:solidFill>
                <a:latin typeface="Arial"/>
              </a:rPr>
              <a:t>Change password — </a:t>
            </a:r>
            <a:r>
              <a:rPr sz="1200">
                <a:solidFill>
                  <a:srgbClr val="1A1A1A"/>
                </a:solidFill>
                <a:latin typeface="Arial"/>
              </a:rPr>
              <a:t>current password + new password (twice). 12+ chars.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 b="1">
                <a:solidFill>
                  <a:srgbClr val="132B5E"/>
                </a:solidFill>
                <a:latin typeface="Arial"/>
              </a:rPr>
              <a:t>Notification preferences — </a:t>
            </a:r>
            <a:r>
              <a:rPr sz="1200">
                <a:solidFill>
                  <a:srgbClr val="1A1A1A"/>
                </a:solidFill>
                <a:latin typeface="Arial"/>
              </a:rPr>
              <a:t>matrix of event × channel (in-app, email, WhatsApp). Toggle each.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 b="1">
                <a:solidFill>
                  <a:srgbClr val="132B5E"/>
                </a:solidFill>
                <a:latin typeface="Arial"/>
              </a:rPr>
              <a:t>Monday digest — </a:t>
            </a:r>
            <a:r>
              <a:rPr sz="1200">
                <a:solidFill>
                  <a:srgbClr val="1A1A1A"/>
                </a:solidFill>
                <a:latin typeface="Arial"/>
              </a:rPr>
              <a:t>turn the email on or off.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 b="1">
                <a:solidFill>
                  <a:srgbClr val="132B5E"/>
                </a:solidFill>
                <a:latin typeface="Arial"/>
              </a:rPr>
              <a:t>Quiet hours — </a:t>
            </a:r>
            <a:r>
              <a:rPr sz="1200">
                <a:solidFill>
                  <a:srgbClr val="1A1A1A"/>
                </a:solidFill>
                <a:latin typeface="Arial"/>
              </a:rPr>
              <a:t>set a window where no notifications fire (e.g. 22:00–07:00 + during teaching slots).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 b="1">
                <a:solidFill>
                  <a:srgbClr val="132B5E"/>
                </a:solidFill>
                <a:latin typeface="Arial"/>
              </a:rPr>
              <a:t>Sign out — </a:t>
            </a:r>
            <a:r>
              <a:rPr sz="1200">
                <a:solidFill>
                  <a:srgbClr val="1A1A1A"/>
                </a:solidFill>
                <a:latin typeface="Arial"/>
              </a:rPr>
              <a:t>from the profile menu at top-right. Always sign out on shared computers.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Faculty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27 / 31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132B5E"/>
                </a:solidFill>
                <a:latin typeface="Calibri"/>
              </a:rPr>
              <a:t>"I accidentally..." — quick fixes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0972800" cy="43891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 b="1">
                <a:solidFill>
                  <a:srgbClr val="132B5E"/>
                </a:solidFill>
                <a:latin typeface="Arial"/>
              </a:rPr>
              <a:t>...marked a session Complete too early — </a:t>
            </a:r>
            <a:r>
              <a:rPr sz="1200">
                <a:solidFill>
                  <a:srgbClr val="1A1A1A"/>
                </a:solidFill>
                <a:latin typeface="Arial"/>
              </a:rPr>
              <a:t>Click Undo on the banner (within 7 days). Attendance is kept.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 b="1">
                <a:solidFill>
                  <a:srgbClr val="132B5E"/>
                </a:solidFill>
                <a:latin typeface="Arial"/>
              </a:rPr>
              <a:t>...published a grade with a typo — </a:t>
            </a:r>
            <a:r>
              <a:rPr sz="1200">
                <a:solidFill>
                  <a:srgbClr val="1A1A1A"/>
                </a:solidFill>
                <a:latin typeface="Arial"/>
              </a:rPr>
              <a:t>Reopen the grade. It flips back to Draft. Fix it. Publish again.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 b="1">
                <a:solidFill>
                  <a:srgbClr val="132B5E"/>
                </a:solidFill>
                <a:latin typeface="Arial"/>
              </a:rPr>
              <a:t>...marked the wrong student Absent — </a:t>
            </a:r>
            <a:r>
              <a:rPr sz="1200">
                <a:solidFill>
                  <a:srgbClr val="1A1A1A"/>
                </a:solidFill>
                <a:latin typeface="Arial"/>
              </a:rPr>
              <a:t>Edit the dropdown, click Save attendance again. Last save wins.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 b="1">
                <a:solidFill>
                  <a:srgbClr val="132B5E"/>
                </a:solidFill>
                <a:latin typeface="Arial"/>
              </a:rPr>
              <a:t>...dragged a session to the wrong place — </a:t>
            </a:r>
            <a:r>
              <a:rPr sz="1200">
                <a:solidFill>
                  <a:srgbClr val="1A1A1A"/>
                </a:solidFill>
                <a:latin typeface="Arial"/>
              </a:rPr>
              <a:t>Drag it back. There's no undo button for reorder.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 b="1">
                <a:solidFill>
                  <a:srgbClr val="132B5E"/>
                </a:solidFill>
                <a:latin typeface="Arial"/>
              </a:rPr>
              <a:t>...locked myself out of my account — </a:t>
            </a:r>
            <a:r>
              <a:rPr sz="1200">
                <a:solidFill>
                  <a:srgbClr val="1A1A1A"/>
                </a:solidFill>
                <a:latin typeface="Arial"/>
              </a:rPr>
              <a:t>Wait 15 minutes. Or use 'Forgot password' to reset.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 b="1">
                <a:solidFill>
                  <a:srgbClr val="132B5E"/>
                </a:solidFill>
                <a:latin typeface="Arial"/>
              </a:rPr>
              <a:t>...closed the slide viewer mid-class — </a:t>
            </a:r>
            <a:r>
              <a:rPr sz="1200">
                <a:solidFill>
                  <a:srgbClr val="1A1A1A"/>
                </a:solidFill>
                <a:latin typeface="Arial"/>
              </a:rPr>
              <a:t>Click 'Open viewer' again on the session detail page. It resumes.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 b="1">
                <a:solidFill>
                  <a:srgbClr val="132B5E"/>
                </a:solidFill>
                <a:latin typeface="Arial"/>
              </a:rPr>
              <a:t>...don't see a course I should be teaching — </a:t>
            </a:r>
            <a:r>
              <a:rPr sz="1200">
                <a:solidFill>
                  <a:srgbClr val="1A1A1A"/>
                </a:solidFill>
                <a:latin typeface="Arial"/>
              </a:rPr>
              <a:t>Check the State badge. If Sandbox, ask admin to assign or publish. If missing, raise a ticket.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 b="1">
                <a:solidFill>
                  <a:srgbClr val="132B5E"/>
                </a:solidFill>
                <a:latin typeface="Arial"/>
              </a:rPr>
              <a:t>...need to fix something more than 7 days old — </a:t>
            </a:r>
            <a:r>
              <a:rPr sz="1200">
                <a:solidFill>
                  <a:srgbClr val="1A1A1A"/>
                </a:solidFill>
                <a:latin typeface="Arial"/>
              </a:rPr>
              <a:t>Raise an admin ticket. They have edit rights past the undo window.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Faculty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28 / 31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132B5E"/>
                </a:solidFill>
                <a:latin typeface="Calibri"/>
              </a:rPr>
              <a:t>Glossary — terms you'll see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0972800" cy="43891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1">
                <a:solidFill>
                  <a:srgbClr val="F28C2C"/>
                </a:solidFill>
                <a:latin typeface="Arial"/>
              </a:rPr>
              <a:t>● </a:t>
            </a:r>
            <a:r>
              <a:rPr sz="1100" b="1">
                <a:solidFill>
                  <a:srgbClr val="132B5E"/>
                </a:solidFill>
                <a:latin typeface="Arial"/>
              </a:rPr>
              <a:t>Batch / Cohort — </a:t>
            </a:r>
            <a:r>
              <a:rPr sz="1100">
                <a:solidFill>
                  <a:srgbClr val="1A1A1A"/>
                </a:solidFill>
                <a:latin typeface="Arial"/>
              </a:rPr>
              <a:t>a group of students who started the program together. Each batch has its own timetable.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F28C2C"/>
                </a:solidFill>
                <a:latin typeface="Arial"/>
              </a:rPr>
              <a:t>● </a:t>
            </a:r>
            <a:r>
              <a:rPr sz="1100" b="1">
                <a:solidFill>
                  <a:srgbClr val="132B5E"/>
                </a:solidFill>
                <a:latin typeface="Arial"/>
              </a:rPr>
              <a:t>Sandbox — </a:t>
            </a:r>
            <a:r>
              <a:rPr sz="1100">
                <a:solidFill>
                  <a:srgbClr val="1A1A1A"/>
                </a:solidFill>
                <a:latin typeface="Arial"/>
              </a:rPr>
              <a:t>a course state. Built, not yet shared with students.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F28C2C"/>
                </a:solidFill>
                <a:latin typeface="Arial"/>
              </a:rPr>
              <a:t>● </a:t>
            </a:r>
            <a:r>
              <a:rPr sz="1100" b="1">
                <a:solidFill>
                  <a:srgbClr val="132B5E"/>
                </a:solidFill>
                <a:latin typeface="Arial"/>
              </a:rPr>
              <a:t>Published — </a:t>
            </a:r>
            <a:r>
              <a:rPr sz="1100">
                <a:solidFill>
                  <a:srgbClr val="1A1A1A"/>
                </a:solidFill>
                <a:latin typeface="Arial"/>
              </a:rPr>
              <a:t>a course state. Live and visible to enrolled students.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F28C2C"/>
                </a:solidFill>
                <a:latin typeface="Arial"/>
              </a:rPr>
              <a:t>● </a:t>
            </a:r>
            <a:r>
              <a:rPr sz="1100" b="1">
                <a:solidFill>
                  <a:srgbClr val="132B5E"/>
                </a:solidFill>
                <a:latin typeface="Arial"/>
              </a:rPr>
              <a:t>Session — </a:t>
            </a:r>
            <a:r>
              <a:rPr sz="1100">
                <a:solidFill>
                  <a:srgbClr val="1A1A1A"/>
                </a:solidFill>
                <a:latin typeface="Arial"/>
              </a:rPr>
              <a:t>a single lesson. Has its own page with materials + attendance.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F28C2C"/>
                </a:solidFill>
                <a:latin typeface="Arial"/>
              </a:rPr>
              <a:t>● </a:t>
            </a:r>
            <a:r>
              <a:rPr sz="1100" b="1">
                <a:solidFill>
                  <a:srgbClr val="132B5E"/>
                </a:solidFill>
                <a:latin typeface="Arial"/>
              </a:rPr>
              <a:t>Module — </a:t>
            </a:r>
            <a:r>
              <a:rPr sz="1100">
                <a:solidFill>
                  <a:srgbClr val="1A1A1A"/>
                </a:solidFill>
                <a:latin typeface="Arial"/>
              </a:rPr>
              <a:t>a grouping of related sessions. Course → modules → sessions.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F28C2C"/>
                </a:solidFill>
                <a:latin typeface="Arial"/>
              </a:rPr>
              <a:t>● </a:t>
            </a:r>
            <a:r>
              <a:rPr sz="1100" b="1">
                <a:solidFill>
                  <a:srgbClr val="132B5E"/>
                </a:solidFill>
                <a:latin typeface="Arial"/>
              </a:rPr>
              <a:t>Assignment — </a:t>
            </a:r>
            <a:r>
              <a:rPr sz="1100">
                <a:solidFill>
                  <a:srgbClr val="1A1A1A"/>
                </a:solidFill>
                <a:latin typeface="Arial"/>
              </a:rPr>
              <a:t>work the student submits. You grade it.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F28C2C"/>
                </a:solidFill>
                <a:latin typeface="Arial"/>
              </a:rPr>
              <a:t>● </a:t>
            </a:r>
            <a:r>
              <a:rPr sz="1100" b="1">
                <a:solidFill>
                  <a:srgbClr val="132B5E"/>
                </a:solidFill>
                <a:latin typeface="Arial"/>
              </a:rPr>
              <a:t>Submission — </a:t>
            </a:r>
            <a:r>
              <a:rPr sz="1100">
                <a:solidFill>
                  <a:srgbClr val="1A1A1A"/>
                </a:solidFill>
                <a:latin typeface="Arial"/>
              </a:rPr>
              <a:t>the student's response to an assignment (their answer + files).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F28C2C"/>
                </a:solidFill>
                <a:latin typeface="Arial"/>
              </a:rPr>
              <a:t>● </a:t>
            </a:r>
            <a:r>
              <a:rPr sz="1100" b="1">
                <a:solidFill>
                  <a:srgbClr val="132B5E"/>
                </a:solidFill>
                <a:latin typeface="Arial"/>
              </a:rPr>
              <a:t>Draft (grade) — </a:t>
            </a:r>
            <a:r>
              <a:rPr sz="1100">
                <a:solidFill>
                  <a:srgbClr val="1A1A1A"/>
                </a:solidFill>
                <a:latin typeface="Arial"/>
              </a:rPr>
              <a:t>score saved but not yet visible to the student. Editable freely.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F28C2C"/>
                </a:solidFill>
                <a:latin typeface="Arial"/>
              </a:rPr>
              <a:t>● </a:t>
            </a:r>
            <a:r>
              <a:rPr sz="1100" b="1">
                <a:solidFill>
                  <a:srgbClr val="132B5E"/>
                </a:solidFill>
                <a:latin typeface="Arial"/>
              </a:rPr>
              <a:t>Published (grade) — </a:t>
            </a:r>
            <a:r>
              <a:rPr sz="1100">
                <a:solidFill>
                  <a:srgbClr val="1A1A1A"/>
                </a:solidFill>
                <a:latin typeface="Arial"/>
              </a:rPr>
              <a:t>score visible to the student. Edits flip back to Draft.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F28C2C"/>
                </a:solidFill>
                <a:latin typeface="Arial"/>
              </a:rPr>
              <a:t>● </a:t>
            </a:r>
            <a:r>
              <a:rPr sz="1100" b="1">
                <a:solidFill>
                  <a:srgbClr val="132B5E"/>
                </a:solidFill>
                <a:latin typeface="Arial"/>
              </a:rPr>
              <a:t>Audit log — </a:t>
            </a:r>
            <a:r>
              <a:rPr sz="1100">
                <a:solidFill>
                  <a:srgbClr val="1A1A1A"/>
                </a:solidFill>
                <a:latin typeface="Arial"/>
              </a:rPr>
              <a:t>system record of who did what when. Used for accountability.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F28C2C"/>
                </a:solidFill>
                <a:latin typeface="Arial"/>
              </a:rPr>
              <a:t>● </a:t>
            </a:r>
            <a:r>
              <a:rPr sz="1100" b="1">
                <a:solidFill>
                  <a:srgbClr val="132B5E"/>
                </a:solidFill>
                <a:latin typeface="Arial"/>
              </a:rPr>
              <a:t>Magic link — </a:t>
            </a:r>
            <a:r>
              <a:rPr sz="1100">
                <a:solidFill>
                  <a:srgbClr val="1A1A1A"/>
                </a:solidFill>
                <a:latin typeface="Arial"/>
              </a:rPr>
              <a:t>passwordless email link used for initial invitation and password reset.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Faculty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29 / 31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132B5E"/>
                </a:solidFill>
                <a:latin typeface="Calibri"/>
              </a:rPr>
              <a:t>Common tasks cheat sheet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657600" cy="411480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365760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36576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Daily teaching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423160"/>
            <a:ext cx="320040" cy="32004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441448"/>
            <a:ext cx="292608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Sign in → Dashboard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926080"/>
            <a:ext cx="320040" cy="32004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944368"/>
            <a:ext cx="292608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Click today's class on This Week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429000"/>
            <a:ext cx="320040" cy="32004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447288"/>
            <a:ext cx="292608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Mark attendance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3931920"/>
            <a:ext cx="320040" cy="32004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950208"/>
            <a:ext cx="292608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Run the lesson with slide viewer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434840"/>
            <a:ext cx="320040" cy="32004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453128"/>
            <a:ext cx="292608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Click Mark Complete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1828800"/>
            <a:ext cx="3657600" cy="411480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434840" y="1828800"/>
            <a:ext cx="3657600" cy="4572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34840" y="1828800"/>
            <a:ext cx="36576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Grading session</a:t>
            </a:r>
          </a:p>
        </p:txBody>
      </p:sp>
      <p:sp>
        <p:nvSpPr>
          <p:cNvPr id="23" name="Oval 22"/>
          <p:cNvSpPr/>
          <p:nvPr/>
        </p:nvSpPr>
        <p:spPr>
          <a:xfrm>
            <a:off x="4617720" y="2423160"/>
            <a:ext cx="320040" cy="320040"/>
          </a:xfrm>
          <a:prstGeom prst="ellipse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2441448"/>
            <a:ext cx="292608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Open course → Gradebook</a:t>
            </a:r>
          </a:p>
        </p:txBody>
      </p:sp>
      <p:sp>
        <p:nvSpPr>
          <p:cNvPr id="25" name="Oval 24"/>
          <p:cNvSpPr/>
          <p:nvPr/>
        </p:nvSpPr>
        <p:spPr>
          <a:xfrm>
            <a:off x="4617720" y="2926080"/>
            <a:ext cx="320040" cy="320040"/>
          </a:xfrm>
          <a:prstGeom prst="ellipse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2944368"/>
            <a:ext cx="292608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Click 'X to grade' chip</a:t>
            </a:r>
          </a:p>
        </p:txBody>
      </p:sp>
      <p:sp>
        <p:nvSpPr>
          <p:cNvPr id="27" name="Oval 26"/>
          <p:cNvSpPr/>
          <p:nvPr/>
        </p:nvSpPr>
        <p:spPr>
          <a:xfrm>
            <a:off x="4617720" y="3429000"/>
            <a:ext cx="320040" cy="320040"/>
          </a:xfrm>
          <a:prstGeom prst="ellipse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3447288"/>
            <a:ext cx="292608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Open Needs Grading filter</a:t>
            </a:r>
          </a:p>
        </p:txBody>
      </p:sp>
      <p:sp>
        <p:nvSpPr>
          <p:cNvPr id="29" name="Oval 28"/>
          <p:cNvSpPr/>
          <p:nvPr/>
        </p:nvSpPr>
        <p:spPr>
          <a:xfrm>
            <a:off x="4617720" y="3931920"/>
            <a:ext cx="320040" cy="320040"/>
          </a:xfrm>
          <a:prstGeom prst="ellipse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3950208"/>
            <a:ext cx="292608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Grade → Save draft</a:t>
            </a:r>
          </a:p>
        </p:txBody>
      </p:sp>
      <p:sp>
        <p:nvSpPr>
          <p:cNvPr id="31" name="Oval 30"/>
          <p:cNvSpPr/>
          <p:nvPr/>
        </p:nvSpPr>
        <p:spPr>
          <a:xfrm>
            <a:off x="4617720" y="4434840"/>
            <a:ext cx="320040" cy="320040"/>
          </a:xfrm>
          <a:prstGeom prst="ellipse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4453128"/>
            <a:ext cx="292608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Bulk publish at the end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21040" y="1828800"/>
            <a:ext cx="3657600" cy="411480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321040" y="1828800"/>
            <a:ext cx="3657600" cy="457200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321040" y="1828800"/>
            <a:ext cx="36576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Weekly catch-up</a:t>
            </a:r>
          </a:p>
        </p:txBody>
      </p:sp>
      <p:sp>
        <p:nvSpPr>
          <p:cNvPr id="36" name="Oval 35"/>
          <p:cNvSpPr/>
          <p:nvPr/>
        </p:nvSpPr>
        <p:spPr>
          <a:xfrm>
            <a:off x="8503920" y="2423160"/>
            <a:ext cx="320040" cy="320040"/>
          </a:xfrm>
          <a:prstGeom prst="ellipse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15400" y="2441448"/>
            <a:ext cx="292608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Monday: open digest email</a:t>
            </a:r>
          </a:p>
        </p:txBody>
      </p:sp>
      <p:sp>
        <p:nvSpPr>
          <p:cNvPr id="38" name="Oval 37"/>
          <p:cNvSpPr/>
          <p:nvPr/>
        </p:nvSpPr>
        <p:spPr>
          <a:xfrm>
            <a:off x="8503920" y="2926080"/>
            <a:ext cx="320040" cy="320040"/>
          </a:xfrm>
          <a:prstGeom prst="ellipse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15400" y="2944368"/>
            <a:ext cx="292608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Click drafts &gt;7 days link</a:t>
            </a:r>
          </a:p>
        </p:txBody>
      </p:sp>
      <p:sp>
        <p:nvSpPr>
          <p:cNvPr id="40" name="Oval 39"/>
          <p:cNvSpPr/>
          <p:nvPr/>
        </p:nvSpPr>
        <p:spPr>
          <a:xfrm>
            <a:off x="8503920" y="3429000"/>
            <a:ext cx="320040" cy="320040"/>
          </a:xfrm>
          <a:prstGeom prst="ellipse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15400" y="3447288"/>
            <a:ext cx="292608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Publish each one</a:t>
            </a:r>
          </a:p>
        </p:txBody>
      </p:sp>
      <p:sp>
        <p:nvSpPr>
          <p:cNvPr id="42" name="Oval 41"/>
          <p:cNvSpPr/>
          <p:nvPr/>
        </p:nvSpPr>
        <p:spPr>
          <a:xfrm>
            <a:off x="8503920" y="3931920"/>
            <a:ext cx="320040" cy="320040"/>
          </a:xfrm>
          <a:prstGeom prst="ellipse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15400" y="3950208"/>
            <a:ext cx="292608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Check Awaiting feedback</a:t>
            </a:r>
          </a:p>
        </p:txBody>
      </p:sp>
      <p:sp>
        <p:nvSpPr>
          <p:cNvPr id="44" name="Oval 43"/>
          <p:cNvSpPr/>
          <p:nvPr/>
        </p:nvSpPr>
        <p:spPr>
          <a:xfrm>
            <a:off x="8503920" y="4434840"/>
            <a:ext cx="320040" cy="320040"/>
          </a:xfrm>
          <a:prstGeom prst="ellipse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15400" y="4453128"/>
            <a:ext cx="292608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Plan upcoming sessions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Faculty guide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30 / 31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132B5E"/>
                </a:solidFill>
                <a:latin typeface="Calibri"/>
              </a:rPr>
              <a:t>Getting help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11064240" cy="4023360"/>
          </a:xfrm>
          <a:prstGeom prst="roundRect">
            <a:avLst>
              <a:gd name="adj" fmla="val 12000"/>
            </a:avLst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91440" cy="4023360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10607040" cy="1828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600" b="1" i="0">
                <a:solidFill>
                  <a:srgbClr val="132B5E"/>
                </a:solidFill>
                <a:latin typeface="Calibri"/>
              </a:rPr>
              <a:t>Stuck? Reach out — we want you teaching, not debugging.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10607040" cy="1828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Arial"/>
              </a:rPr>
              <a:t>TECHNICAL ISSUE with the system → raise a Technical ticket from your dashboard. A real human responds within 24 hours, resolves within 5 days.   QUESTION about your curriculum content → talk to your curriculum lead.   QUESTION about a student's enrolment or fee status → ping admin or finance directly. The system is built to support you, not block you.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Faculty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31 / 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4261</Words>
  <Application>Microsoft Macintosh PowerPoint</Application>
  <PresentationFormat>Widescreen</PresentationFormat>
  <Paragraphs>677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Admin India Learns</cp:lastModifiedBy>
  <cp:revision>2</cp:revision>
  <dcterms:created xsi:type="dcterms:W3CDTF">2013-01-27T09:14:16Z</dcterms:created>
  <dcterms:modified xsi:type="dcterms:W3CDTF">2026-05-18T21:20:24Z</dcterms:modified>
  <cp:category/>
</cp:coreProperties>
</file>