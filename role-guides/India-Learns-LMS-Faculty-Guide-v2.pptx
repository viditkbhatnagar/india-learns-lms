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109728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28C2C"/>
                </a:solidFill>
                <a:latin typeface="Arial"/>
              </a:rPr>
              <a:t>INDIA LEARNS 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Faculty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5156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0" i="1">
                <a:solidFill>
                  <a:srgbClr val="F28C2C"/>
                </a:solidFill>
                <a:latin typeface="Arial"/>
              </a:rPr>
              <a:t>Teach. Grade. Guide. Repeat.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FAF6EE"/>
                </a:solidFill>
                <a:latin typeface="Arial"/>
              </a:rPr>
              <a:t>Everything you need to run your courses — without paperwork.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6928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FOR FACULTY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ABOUT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32B5E"/>
                </a:solidFill>
                <a:latin typeface="Calibri"/>
              </a:rPr>
              <a:t>Who this is for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1064240" cy="402336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91440" cy="4023360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1060704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132B5E"/>
                </a:solidFill>
                <a:latin typeface="Calibri"/>
              </a:rPr>
              <a:t>You teach a course. This system runs the rest.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1060704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</a:rPr>
              <a:t>Course content is loaded for you — modules, sessions, slide decks, assignments. You take attendance, run the lesson, grade the work, write feedback. The system handles timetables, records, notifications, receipts, and certificates.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GETTING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32B5E"/>
                </a:solidFill>
                <a:latin typeface="Calibri"/>
              </a:rPr>
              <a:t>How you sign 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32B5E"/>
                </a:solidFill>
                <a:latin typeface="Arial"/>
              </a:rPr>
              <a:t>Three steps to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200400" cy="4114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Admin sends you a magic-link invitation by email.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Click the link, choose a password (12+ characters).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You're in. Bookmark the URL for next time.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Forgot your password? Use the reset link on the sign-in screen.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Works on laptop, tablet, phone — same login, same URL.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005072" y="1901952"/>
            <a:ext cx="7863840" cy="443484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onboarding-2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828800"/>
            <a:ext cx="7863840" cy="4434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931920" y="1828800"/>
            <a:ext cx="7863840" cy="4434840"/>
          </a:xfrm>
          <a:prstGeom prst="rect">
            <a:avLst/>
          </a:prstGeom>
          <a:noFill/>
          <a:ln w="9525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6309360"/>
            <a:ext cx="7863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5C5C5C"/>
                </a:solidFill>
                <a:latin typeface="Arial"/>
              </a:rPr>
              <a:t>The India Learns sign-in screen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HOME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32B5E"/>
                </a:solidFill>
                <a:latin typeface="Calibri"/>
              </a:rPr>
              <a:t>Your dashboard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32B5E"/>
                </a:solidFill>
                <a:latin typeface="Arial"/>
              </a:rPr>
              <a:t>What you see when you sign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200400" cy="4114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Personal greeting — 'Hello, Seed' with the time of day.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My Courses — every course you're assigned to teach.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This Week — your upcoming classes with day, time, and room.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Awaiting your feedback — student submissions waiting on your draft.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Notifications — admin announcements, ticket replies, schedule changes.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Click any card to jump straight into that workflow.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4005072" y="1901952"/>
            <a:ext cx="7863840" cy="443484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culty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828800"/>
            <a:ext cx="7863840" cy="4434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931920" y="1828800"/>
            <a:ext cx="7863840" cy="4434840"/>
          </a:xfrm>
          <a:prstGeom prst="rect">
            <a:avLst/>
          </a:prstGeom>
          <a:noFill/>
          <a:ln w="9525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6309360"/>
            <a:ext cx="7863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5C5C5C"/>
                </a:solidFill>
                <a:latin typeface="Arial"/>
              </a:rPr>
              <a:t>Faculty dashboard — your home screen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COURSES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32B5E"/>
                </a:solidFill>
                <a:latin typeface="Calibri"/>
              </a:rPr>
              <a:t>My Courses — everything you teach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32B5E"/>
                </a:solidFill>
                <a:latin typeface="Arial"/>
              </a:rPr>
              <a:t>One row per course you teach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200400" cy="4114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Each row shows the course title and its publish state.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'Sandbox' = still in preparation, students don't see it yet.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'Published' = live, students enrolled in the batch can access it.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Click any course to enter the course shell (Overview, Content, Gradebook, etc.).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You only see courses you're assigned to — other faculty's work stays private.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005072" y="1901952"/>
            <a:ext cx="7863840" cy="443484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culty-cour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828800"/>
            <a:ext cx="7863840" cy="4434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931920" y="1828800"/>
            <a:ext cx="7863840" cy="4434840"/>
          </a:xfrm>
          <a:prstGeom prst="rect">
            <a:avLst/>
          </a:prstGeom>
          <a:noFill/>
          <a:ln w="9525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6309360"/>
            <a:ext cx="7863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5C5C5C"/>
                </a:solidFill>
                <a:latin typeface="Arial"/>
              </a:rPr>
              <a:t>The My Courses list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INSIDE A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32B5E"/>
                </a:solidFill>
                <a:latin typeface="Calibri"/>
              </a:rPr>
              <a:t>Course Overview — your control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32B5E"/>
                </a:solidFill>
                <a:latin typeface="Arial"/>
              </a:rPr>
              <a:t>Stat cards at the 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200400" cy="4114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Modules — how many modules in the course.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Sessions — total lessons across all modules.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Assignments — total assignments students will work through.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Grading backlog — submissions waiting for your action.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Each number is clickable — jumps you straight to that 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1828800"/>
            <a:ext cx="7863840" cy="443484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1828800"/>
            <a:ext cx="7863840" cy="4434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0" i="0">
                <a:solidFill>
                  <a:srgbClr val="5C5C5C"/>
                </a:solidFill>
                <a:latin typeface="Arial"/>
              </a:rPr>
              <a:t>[ SCREENSHOT NEEDED ]</a:t>
            </a:r>
          </a:p>
          <a:p>
            <a:pPr algn="ctr"/>
            <a:r>
              <a:rPr sz="1400" b="0" i="0">
                <a:solidFill>
                  <a:srgbClr val="5C5C5C"/>
                </a:solidFill>
                <a:latin typeface="Arial"/>
              </a:rPr>
              <a:t/>
            </a:r>
          </a:p>
          <a:p>
            <a:pPr algn="ctr"/>
            <a:r>
              <a:rPr sz="1400" b="0" i="0">
                <a:solidFill>
                  <a:srgbClr val="5C5C5C"/>
                </a:solidFill>
                <a:latin typeface="Arial"/>
              </a:rPr>
              <a:t>[ Screenshot to add: course Overview tab with stat cards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6309360"/>
            <a:ext cx="7863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5C5C5C"/>
                </a:solidFill>
                <a:latin typeface="Arial"/>
              </a:rPr>
              <a:t>[ Screenshot to add: course Overview tab with stat cards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INSIDE A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32B5E"/>
                </a:solidFill>
                <a:latin typeface="Calibri"/>
              </a:rPr>
              <a:t>The Content tab — your course tree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32B5E"/>
                </a:solidFill>
                <a:latin typeface="Arial"/>
              </a:rPr>
              <a:t>Module → Session hierarchy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200400" cy="4114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Top level: Modules (e.g. M1, M2, M3 …).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Click a module to expand its sessions.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Each session is a lesson — its own page with content + attendance.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Drag sessions to reorder them. Within a module or across modules.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Auto-generated sessions (assessments, finals) are locked from reorder.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1828800"/>
            <a:ext cx="7863840" cy="443484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1828800"/>
            <a:ext cx="7863840" cy="4434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0" i="0">
                <a:solidFill>
                  <a:srgbClr val="5C5C5C"/>
                </a:solidFill>
                <a:latin typeface="Arial"/>
              </a:rPr>
              <a:t>[ SCREENSHOT NEEDED ]</a:t>
            </a:r>
          </a:p>
          <a:p>
            <a:pPr algn="ctr"/>
            <a:r>
              <a:rPr sz="1400" b="0" i="0">
                <a:solidFill>
                  <a:srgbClr val="5C5C5C"/>
                </a:solidFill>
                <a:latin typeface="Arial"/>
              </a:rPr>
              <a:t/>
            </a:r>
          </a:p>
          <a:p>
            <a:pPr algn="ctr"/>
            <a:r>
              <a:rPr sz="1400" b="0" i="0">
                <a:solidFill>
                  <a:srgbClr val="5C5C5C"/>
                </a:solidFill>
                <a:latin typeface="Arial"/>
              </a:rPr>
              <a:t>[ Screenshot to add: Content tab with modules expanded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6309360"/>
            <a:ext cx="7863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5C5C5C"/>
                </a:solidFill>
                <a:latin typeface="Arial"/>
              </a:rPr>
              <a:t>[ Screenshot to add: Content tab with modules expanded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SESSION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32B5E"/>
                </a:solidFill>
                <a:latin typeface="Calibri"/>
              </a:rPr>
              <a:t>Inside a session — the left column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32B5E"/>
                </a:solidFill>
                <a:latin typeface="Arial"/>
              </a:rPr>
              <a:t>What students learn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200400" cy="4114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Description — what this lesson covers (from your curriculum).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Materials — the slide deck for this lesson. Click 'Open viewer' to flip through.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Assignments — what students need to submit related to this lesson.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Mark Complete button — click when the session is done.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7-day undo window — you can revert if clicked by accident.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1828800"/>
            <a:ext cx="7863840" cy="443484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1828800"/>
            <a:ext cx="7863840" cy="4434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0" i="0">
                <a:solidFill>
                  <a:srgbClr val="5C5C5C"/>
                </a:solidFill>
                <a:latin typeface="Arial"/>
              </a:rPr>
              <a:t>[ SCREENSHOT NEEDED ]</a:t>
            </a:r>
          </a:p>
          <a:p>
            <a:pPr algn="ctr"/>
            <a:r>
              <a:rPr sz="1400" b="0" i="0">
                <a:solidFill>
                  <a:srgbClr val="5C5C5C"/>
                </a:solidFill>
                <a:latin typeface="Arial"/>
              </a:rPr>
              <a:t/>
            </a:r>
          </a:p>
          <a:p>
            <a:pPr algn="ctr"/>
            <a:r>
              <a:rPr sz="1400" b="0" i="0">
                <a:solidFill>
                  <a:srgbClr val="5C5C5C"/>
                </a:solidFill>
                <a:latin typeface="Arial"/>
              </a:rPr>
              <a:t>[ Screenshot to add: session detail page, left half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6309360"/>
            <a:ext cx="7863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5C5C5C"/>
                </a:solidFill>
                <a:latin typeface="Arial"/>
              </a:rPr>
              <a:t>[ Screenshot to add: session detail page, left half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SESSION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32B5E"/>
                </a:solidFill>
                <a:latin typeface="Calibri"/>
              </a:rPr>
              <a:t>Inside a session — the right column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32B5E"/>
                </a:solidFill>
                <a:latin typeface="Arial"/>
              </a:rPr>
              <a:t>Your tools as the teacher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200400" cy="4114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Attendance panel — every enrolled student listed. Defaults to 'Present'.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Toggle individuals to absent / late / excused with the dropdown.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Click Save attendance — confirmation appears, counter flips immediately.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Private notes — your personal observations about this session.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Faculty-only — never shown to students, admins, or super-admin oversight.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Use it like a journal across sessions. Searchable next term.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1828800"/>
            <a:ext cx="7863840" cy="443484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1828800"/>
            <a:ext cx="7863840" cy="4434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0" i="0">
                <a:solidFill>
                  <a:srgbClr val="5C5C5C"/>
                </a:solidFill>
                <a:latin typeface="Arial"/>
              </a:rPr>
              <a:t>[ SCREENSHOT NEEDED ]</a:t>
            </a:r>
          </a:p>
          <a:p>
            <a:pPr algn="ctr"/>
            <a:r>
              <a:rPr sz="1400" b="0" i="0">
                <a:solidFill>
                  <a:srgbClr val="5C5C5C"/>
                </a:solidFill>
                <a:latin typeface="Arial"/>
              </a:rPr>
              <a:t/>
            </a:r>
          </a:p>
          <a:p>
            <a:pPr algn="ctr"/>
            <a:r>
              <a:rPr sz="1400" b="0" i="0">
                <a:solidFill>
                  <a:srgbClr val="5C5C5C"/>
                </a:solidFill>
                <a:latin typeface="Arial"/>
              </a:rPr>
              <a:t>[ Screenshot to add: session detail page, right half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6309360"/>
            <a:ext cx="7863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5C5C5C"/>
                </a:solidFill>
                <a:latin typeface="Arial"/>
              </a:rPr>
              <a:t>[ Screenshot to add: session detail page, right half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32B5E"/>
                </a:solidFill>
                <a:latin typeface="Calibri"/>
              </a:rPr>
              <a:t>The slide viewer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1064240" cy="402336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91440" cy="4023360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1060704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132B5E"/>
                </a:solidFill>
                <a:latin typeface="Calibri"/>
              </a:rPr>
              <a:t>Click 'Open viewer' → flip slides → close.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1060704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</a:rPr>
              <a:t>The slide viewer opens with the lesson's slides. Use the left/right arrow keys to navigate. A speaker notes panel shows presenter guidance from your curriculum team. Press Escape (or click 'Back to session') to close. No PowerPoint file to download — slides render right in the browser.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DAILY ROUTINE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32B5E"/>
                </a:solidFill>
                <a:latin typeface="Calibri"/>
              </a:rPr>
              <a:t>Taking attendance — step by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783080"/>
            <a:ext cx="594360" cy="59436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10512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Open the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6712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Click into any session from the Content tab. The attendance panel is on the right.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651760"/>
            <a:ext cx="594360" cy="59436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79192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Mark students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3580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Defaults to 'Present' for everyone. Toggle individuals using the dropdown.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520440"/>
            <a:ext cx="594360" cy="59436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547872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Save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90448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Click 'Save attendance'. You'll see 'Saved.' confirmation and the counter flip to 'X of N recorded'.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389120"/>
            <a:ext cx="594360" cy="59436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416552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Edit anytime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77316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Made a mistake? Edit and save again. Last value wins. Audit log keeps the history.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5257800"/>
            <a:ext cx="594360" cy="59436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285232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Mark Complete is now enabled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64184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Once at least one attendance row is saved, you can mark the session complete.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GRADING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32B5E"/>
                </a:solidFill>
                <a:latin typeface="Calibri"/>
              </a:rPr>
              <a:t>Gradebook — your grading command centre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32B5E"/>
                </a:solidFill>
                <a:latin typeface="Arial"/>
              </a:rPr>
              <a:t>Grid view of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200400" cy="4114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Rows = students enrolled in the course.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Columns = assignments in the course.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Each cell shows status: submitted, draft, published, missing.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Badge at top — 'X assignments · Y students'.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Backlog count — submissions waiting for your action.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Click any cell to grade individually, or click a column header for bulk grading.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005072" y="1901952"/>
            <a:ext cx="7863840" cy="443484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culty-gra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828800"/>
            <a:ext cx="7863840" cy="4434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931920" y="1828800"/>
            <a:ext cx="7863840" cy="4434840"/>
          </a:xfrm>
          <a:prstGeom prst="rect">
            <a:avLst/>
          </a:prstGeom>
          <a:noFill/>
          <a:ln w="9525"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6309360"/>
            <a:ext cx="7863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5C5C5C"/>
                </a:solidFill>
                <a:latin typeface="Arial"/>
              </a:rPr>
              <a:t>The gradebook grid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GRADING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32B5E"/>
                </a:solidFill>
                <a:latin typeface="Calibri"/>
              </a:rPr>
              <a:t>Per-assignment grading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32B5E"/>
                </a:solidFill>
                <a:latin typeface="Arial"/>
              </a:rPr>
              <a:t>Four filter 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200400" cy="4114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Needs grading — submissions that haven't been touched yet. Start here.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Drafts — grades you've saved as drafts but not yet published.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Graded — everything you've published. Visible to the student.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Missing — enrolled students who haven't submitted past the due date.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Each chip shows a count — find what needs attention fast.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1828800"/>
            <a:ext cx="7863840" cy="443484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1828800"/>
            <a:ext cx="7863840" cy="4434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0" i="0">
                <a:solidFill>
                  <a:srgbClr val="5C5C5C"/>
                </a:solidFill>
                <a:latin typeface="Arial"/>
              </a:rPr>
              <a:t>[ SCREENSHOT NEEDED ]</a:t>
            </a:r>
          </a:p>
          <a:p>
            <a:pPr algn="ctr"/>
            <a:r>
              <a:rPr sz="1400" b="0" i="0">
                <a:solidFill>
                  <a:srgbClr val="5C5C5C"/>
                </a:solidFill>
                <a:latin typeface="Arial"/>
              </a:rPr>
              <a:t/>
            </a:r>
          </a:p>
          <a:p>
            <a:pPr algn="ctr"/>
            <a:r>
              <a:rPr sz="1400" b="0" i="0">
                <a:solidFill>
                  <a:srgbClr val="5C5C5C"/>
                </a:solidFill>
                <a:latin typeface="Arial"/>
              </a:rPr>
              <a:t>[ Screenshot to add: per-assignment grading view with filter chips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6309360"/>
            <a:ext cx="7863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5C5C5C"/>
                </a:solidFill>
                <a:latin typeface="Arial"/>
              </a:rPr>
              <a:t>[ Screenshot to add: per-assignment grading view with filter chips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GRADING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32B5E"/>
                </a:solidFill>
                <a:latin typeface="Calibri"/>
              </a:rPr>
              <a:t>The two-step grading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783080"/>
            <a:ext cx="594360" cy="59436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10512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Save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6712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Score the work, write feedback, click 'Save draft'. The student sees nothing yet — only you can see the score.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651760"/>
            <a:ext cx="594360" cy="59436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79192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Edit freely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3580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Refine the grade and feedback as many times as you want. No one else sees a thing during the draft state.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520440"/>
            <a:ext cx="594360" cy="59436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547872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Publish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90448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Click 'Publish' when you're ready. Confirm the dialog. Now the student sees the grade and feedback.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389120"/>
            <a:ext cx="594360" cy="59436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416552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Editing a published grade?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77316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It automatically flips back to draft. You must publish again — by design, so 'Publish' always means 'I'm sure'.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5257800"/>
            <a:ext cx="594360" cy="59436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285232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Bulk publish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64184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Select multiple drafts and publish them all at once. Audit-logged per row.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32B5E"/>
                </a:solidFill>
                <a:latin typeface="Calibri"/>
              </a:rPr>
              <a:t>Your timetable &amp; weekly digest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32B5E"/>
                </a:solidFill>
                <a:latin typeface="Arial"/>
              </a:rPr>
              <a:t>Schedule + email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200400" cy="4114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Weekly timetable filtered to YOUR classes — room, course, time, day.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Pick any week with the week-picker.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Rescheduled / added classes are highlighted.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Mobile-friendly — pull it up before class on your phone.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Monday digest email — every Monday 9 AM, summary of what's awaiting feedback (drafts &gt;7 days, ungraded essays).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F28C2C"/>
                </a:solidFill>
                <a:latin typeface="Arial"/>
              </a:rPr>
              <a:t>● </a:t>
            </a:r>
            <a:r>
              <a:rPr sz="1200">
                <a:solidFill>
                  <a:srgbClr val="1A1A1A"/>
                </a:solidFill>
                <a:latin typeface="Arial"/>
              </a:rPr>
              <a:t>Each digest item is clickable — go straight to the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1828800"/>
            <a:ext cx="7863840" cy="443484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1828800"/>
            <a:ext cx="7863840" cy="4434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0" i="0">
                <a:solidFill>
                  <a:srgbClr val="5C5C5C"/>
                </a:solidFill>
                <a:latin typeface="Arial"/>
              </a:rPr>
              <a:t>[ SCREENSHOT NEEDED ]</a:t>
            </a:r>
          </a:p>
          <a:p>
            <a:pPr algn="ctr"/>
            <a:r>
              <a:rPr sz="1400" b="0" i="0">
                <a:solidFill>
                  <a:srgbClr val="5C5C5C"/>
                </a:solidFill>
                <a:latin typeface="Arial"/>
              </a:rPr>
              <a:t/>
            </a:r>
          </a:p>
          <a:p>
            <a:pPr algn="ctr"/>
            <a:r>
              <a:rPr sz="1400" b="0" i="0">
                <a:solidFill>
                  <a:srgbClr val="5C5C5C"/>
                </a:solidFill>
                <a:latin typeface="Arial"/>
              </a:rPr>
              <a:t>[ Screenshot to add: faculty timetable view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6309360"/>
            <a:ext cx="7863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5C5C5C"/>
                </a:solidFill>
                <a:latin typeface="Arial"/>
              </a:rPr>
              <a:t>[ Screenshot to add: faculty timetable view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32B5E"/>
                </a:solidFill>
                <a:latin typeface="Calibri"/>
              </a:rPr>
              <a:t>Profile &amp; notification preferences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Profile — update your name, photo, phone, email. Change password.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Notification preferences — choose which events email you, WhatsApp you, or notify you in-app.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Turn the Monday digest on or off.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Set quiet hours — no notifications during teaching slots.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Always-on alerts (system errors, urgent admin pings) ignore quiet hours.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32B5E"/>
                </a:solidFill>
                <a:latin typeface="Calibri"/>
              </a:rPr>
              <a:t>Getting help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1064240" cy="402336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91440" cy="4023360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1060704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132B5E"/>
                </a:solidFill>
                <a:latin typeface="Calibri"/>
              </a:rPr>
              <a:t>Stuck? Reach out — we want you teaching, not debugging.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1060704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</a:rPr>
              <a:t>Technical issue with the system → raise a Technical ticket from your dashboard, a real human responds within 24 hours. Question about your curriculum content → talk to your curriculum lead. Question about a student's enrolment or fee status → ping admin or finance directly. The system is built to support you, not block you.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Faculty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