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91695" cy="109728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28C2C"/>
                </a:solidFill>
                <a:latin typeface="Arial"/>
              </a:rPr>
              <a:t>INDIA LEARNS 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Collect. Receipt.
Reconcile.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0584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 i="1">
                <a:solidFill>
                  <a:srgbClr val="FAF6EE"/>
                </a:solidFill>
                <a:latin typeface="Arial"/>
              </a:rPr>
              <a:t>Every fee, every payment, every receipt — handled cleanly.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577840"/>
            <a:ext cx="2377440" cy="502920"/>
          </a:xfrm>
          <a:prstGeom prst="roundRect">
            <a:avLst>
              <a:gd name="adj" fmla="val 12000"/>
            </a:avLst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23774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FINANCE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Finance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ABOUT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32B5E"/>
                </a:solidFill>
                <a:latin typeface="Calibri"/>
              </a:rPr>
              <a:t>Who this is for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1064240" cy="402336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91440" cy="4023360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1060704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132B5E"/>
                </a:solidFill>
                <a:latin typeface="Calibri"/>
              </a:rPr>
              <a:t>You manage student fees and payments.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1060704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Arial"/>
              </a:rPr>
              <a:t>Students owe fees. They pay in cash, UPI, bank transfer, or cheque. You record the payment, the system generates a receipt, applies it to the right installment, and tells everyone involved. Your job is to record what came in — the system does the bookkeeping.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Finance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GETTING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32B5E"/>
                </a:solidFill>
                <a:latin typeface="Calibri"/>
              </a:rPr>
              <a:t>How you sign 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1828800"/>
            <a:ext cx="640080" cy="64008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745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32B5E"/>
                </a:solidFill>
                <a:latin typeface="Arial"/>
              </a:rPr>
              <a:t>Admin invites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2402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You'll get a magic-link email when you're added as Finance staff.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743200"/>
            <a:ext cx="640080" cy="64008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7889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32B5E"/>
                </a:solidFill>
                <a:latin typeface="Arial"/>
              </a:rPr>
              <a:t>Sign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1546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Use the URL provided by the admin. Same login screen as everyone else.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640080" cy="64008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7033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32B5E"/>
                </a:solidFill>
                <a:latin typeface="Arial"/>
              </a:rPr>
              <a:t>You land on the Finance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0690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Your homepage is built around the work you do — recording payments and tracking collections.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572000"/>
            <a:ext cx="640080" cy="64008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6177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32B5E"/>
                </a:solidFill>
                <a:latin typeface="Arial"/>
              </a:rPr>
              <a:t>Forgot password?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9834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Reset link from the sign-in screen goes to your email.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Finance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HOME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32B5E"/>
                </a:solidFill>
                <a:latin typeface="Calibri"/>
              </a:rPr>
              <a:t>Your dashboard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2743200" cy="201168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27432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5400" b="1" i="0">
                <a:solidFill>
                  <a:srgbClr val="F28C2C"/>
                </a:solidFill>
                <a:latin typeface="Calibri"/>
              </a:rPr>
              <a:t>₹4.2L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66160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Arial"/>
              </a:rPr>
              <a:t>Collected this month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2194560"/>
            <a:ext cx="2743200" cy="201168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468880"/>
            <a:ext cx="27432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5400" b="1" i="0">
                <a:solidFill>
                  <a:srgbClr val="F28C2C"/>
                </a:solidFill>
                <a:latin typeface="Calibri"/>
              </a:rPr>
              <a:t>₹1.8L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566160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Arial"/>
              </a:rPr>
              <a:t>Outstanding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194560"/>
            <a:ext cx="2743200" cy="201168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68880"/>
            <a:ext cx="27432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5400" b="1" i="0">
                <a:solidFill>
                  <a:srgbClr val="F28C2C"/>
                </a:solidFill>
                <a:latin typeface="Calibri"/>
              </a:rPr>
              <a:t>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566160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Arial"/>
              </a:rPr>
              <a:t>Payments today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4040" y="2194560"/>
            <a:ext cx="2743200" cy="201168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64040" y="2468880"/>
            <a:ext cx="27432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5400" b="1" i="0">
                <a:solidFill>
                  <a:srgbClr val="F28C2C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3566160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Arial"/>
              </a:rPr>
              <a:t>Reversals open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572000"/>
            <a:ext cx="109728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Arial"/>
              </a:rPr>
              <a:t>Your dashboard shows the money picture: collections this month, what's still outstanding, how many payments you've recorded today, and any reversals still in the 24-hour window. Click any number for the detail. The big 'Record payment' button is right there.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Finance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DAILY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32B5E"/>
                </a:solidFill>
                <a:latin typeface="Calibri"/>
              </a:rPr>
              <a:t>Recording a payment — the three-step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1828800"/>
            <a:ext cx="640080" cy="64008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745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32B5E"/>
                </a:solidFill>
                <a:latin typeface="Arial"/>
              </a:rPr>
              <a:t>Find the student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2402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Search by name, email, or student code. The system shows their full fee picture in one screen.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743200"/>
            <a:ext cx="640080" cy="64008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7889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32B5E"/>
                </a:solidFill>
                <a:latin typeface="Arial"/>
              </a:rPr>
              <a:t>Confirm the outstanding balance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1546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You see every installment, what's paid, what's pending. The system suggests where to apply the payment.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640080" cy="64008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7033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32B5E"/>
                </a:solidFill>
                <a:latin typeface="Arial"/>
              </a:rPr>
              <a:t>Record the payment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0690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Enter the amount and method (Cash / UPI / Bank Transfer / Cheque / Other). Click Record. A PDF receipt is generated automatically.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Finance guide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DAILY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32B5E"/>
                </a:solidFill>
                <a:latin typeface="Calibri"/>
              </a:rPr>
              <a:t>How payments are applied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1064240" cy="402336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91440" cy="4023360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1060704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132B5E"/>
                </a:solidFill>
                <a:latin typeface="Calibri"/>
              </a:rPr>
              <a:t>Oldest installment first.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1060704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Arial"/>
              </a:rPr>
              <a:t>When a student pays, the system applies the money to the oldest unpaid installment first. If they overpay, the leftover is held as a credit on their account and applied to the next installment automatically. No manual allocation needed.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Finance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32B5E"/>
                </a:solidFill>
                <a:latin typeface="Calibri"/>
              </a:rPr>
              <a:t>Payment methods we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73152" cy="1828800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32B5E"/>
                </a:solidFill>
                <a:latin typeface="Arial"/>
              </a:rPr>
              <a:t>Cash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329184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In-person payments. Record the cash receipt number if you have 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828800"/>
            <a:ext cx="73152" cy="1828800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01168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32B5E"/>
                </a:solidFill>
                <a:latin typeface="Arial"/>
              </a:rPr>
              <a:t>UPI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468880"/>
            <a:ext cx="329184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GPay, PhonePe, Paytm, etc. Record the UPI reference ID.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82880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1828800"/>
            <a:ext cx="73152" cy="1828800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201168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32B5E"/>
                </a:solidFill>
                <a:latin typeface="Arial"/>
              </a:rPr>
              <a:t>Bank Transfer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468880"/>
            <a:ext cx="329184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NEFT, RTGS, IMPS. Record the transaction reference.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8620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886200"/>
            <a:ext cx="73152" cy="1828800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06908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32B5E"/>
                </a:solidFill>
                <a:latin typeface="Arial"/>
              </a:rPr>
              <a:t>Cheque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526280"/>
            <a:ext cx="329184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Record the cheque number, bank, and date. Mark as cleared later if needed.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88620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3886200"/>
            <a:ext cx="73152" cy="1828800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406908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32B5E"/>
                </a:solidFill>
                <a:latin typeface="Arial"/>
              </a:rPr>
              <a:t>Other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526280"/>
            <a:ext cx="329184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For anything else — DD, foreign wire, etc. Add a note describing it.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388620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21040" y="3886200"/>
            <a:ext cx="73152" cy="1828800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0" y="406908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32B5E"/>
                </a:solidFill>
                <a:latin typeface="Arial"/>
              </a:rPr>
              <a:t>Credit note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4526280"/>
            <a:ext cx="329184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When you reverse a payment or apply a refund, the system generates a credit note automatically.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Finance guide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RECEIPTS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32B5E"/>
                </a:solidFill>
                <a:latin typeface="Calibri"/>
              </a:rPr>
              <a:t>Receipts — the paper trail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Every payment generates a PDF receipt automatically — no manual work.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Receipts are numbered sequentially (RCP-2026-000001, 000002, …) so there are no gaps.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Indian-locale amount: ₹1,00,000 formatting, plus amount in words ('One Lakh Rupees only').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Receipt shows: student name and code, course, installment paid, method, date, your name as the recording officer.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Student can download their receipt from their own portal — no need to email it manually.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Reprint anytime if a student loses theirs.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Finance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CORRECTIONS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32B5E"/>
                </a:solidFill>
                <a:latin typeface="Calibri"/>
              </a:rPr>
              <a:t>Reversing a payment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1064240" cy="402336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91440" cy="4023360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1060704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132B5E"/>
                </a:solidFill>
                <a:latin typeface="Calibri"/>
              </a:rPr>
              <a:t>24 hours to fix a mistake.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1060704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Arial"/>
              </a:rPr>
              <a:t>Recorded the wrong amount, the wrong student, or the wrong installment? You have 24 hours from the time you recorded the payment to reverse it. The system generates a credit note and the audit log keeps a record. After 24 hours, you'll need an admin to override.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Finance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32B5E"/>
                </a:solidFill>
                <a:latin typeface="Calibri"/>
              </a:rPr>
              <a:t>Looking up a student's fee position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Search any student by name, email, or student code.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See their full fee schedule: every installment, paid / pending / overdue, with dates.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See their payment history: every receipt, in order.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See if they're under any payment plan or have any waivers applied.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See if auto-suspension is approaching — students get suspended at 28 days overdue after warnings.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Quick-action buttons: record a new payment, issue a credit note, send a reminder.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Finance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32B5E"/>
                </a:solidFill>
                <a:latin typeface="Calibri"/>
              </a:rPr>
              <a:t>Collections snapshot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830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B5E"/>
                </a:solidFill>
                <a:latin typeface="Arial"/>
              </a:rPr>
              <a:t>By day / week /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167128"/>
            <a:ext cx="4572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See total collections across any period. Filter by program, by batch, by payment method.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017520"/>
            <a:ext cx="502920" cy="502920"/>
          </a:xfrm>
          <a:prstGeom prst="ellipse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1752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B5E"/>
                </a:solidFill>
                <a:latin typeface="Arial"/>
              </a:rPr>
              <a:t>By outstanding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401568"/>
            <a:ext cx="4572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List of students with outstanding balance, ranked by how much they owe.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251960"/>
            <a:ext cx="502920" cy="502920"/>
          </a:xfrm>
          <a:prstGeom prst="ellipse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⚠️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25196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B5E"/>
                </a:solidFill>
                <a:latin typeface="Arial"/>
              </a:rPr>
              <a:t>By overdue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636008"/>
            <a:ext cx="4572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Students whose installments are past their due date — your follow-up list.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1783080"/>
            <a:ext cx="502920" cy="502920"/>
          </a:xfrm>
          <a:prstGeom prst="ellipse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7830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B5E"/>
                </a:solidFill>
                <a:latin typeface="Arial"/>
              </a:rPr>
              <a:t>Export to Excel / 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167128"/>
            <a:ext cx="4572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Download a snapshot for your monthly close, board review, or audit.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3017520"/>
            <a:ext cx="502920" cy="502920"/>
          </a:xfrm>
          <a:prstGeom prst="ellipse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01752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B5E"/>
                </a:solidFill>
                <a:latin typeface="Arial"/>
              </a:rPr>
              <a:t>Sent reminders 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401568"/>
            <a:ext cx="4572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See every fee reminder the system has sent (email, WhatsApp). Audit trail of communication.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4251960"/>
            <a:ext cx="502920" cy="502920"/>
          </a:xfrm>
          <a:prstGeom prst="ellipse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25196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B5E"/>
                </a:solidFill>
                <a:latin typeface="Arial"/>
              </a:rPr>
              <a:t>Drill-down anywhere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4636008"/>
            <a:ext cx="4572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Every number is clickable — click to see the underlying students, receipts, transactions.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Finance guide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32B5E"/>
                </a:solidFill>
                <a:latin typeface="Calibri"/>
              </a:rPr>
              <a:t>Auto-suspension and warnings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1064240" cy="402336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91440" cy="4023360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1060704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132B5E"/>
                </a:solidFill>
                <a:latin typeface="Calibri"/>
              </a:rPr>
              <a:t>Students get warnings before they're suspended.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1060704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Arial"/>
              </a:rPr>
              <a:t>The system sends fee reminders 14 days before due, 7 days before, on the day, 3 days after, and again at 14 and 21 days overdue. If still unpaid at 28 days, the student is automatically moved to 'Suspended' — they lose access to course content. Admins can override this manually for any student. You'll see the warning state on their fee page.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Finance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SETTINGS &amp;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32B5E"/>
                </a:solidFill>
                <a:latin typeface="Calibri"/>
              </a:rPr>
              <a:t>Profile and getting help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Profile: update your name, photo, contact info.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Change password anytime.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Notification preferences: choose which events email you vs in-app only.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Stuck on the system? Raise a Technical ticket — response within 24 hours.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Question about a fee policy or refund decision? Talk to admin — they own policy decisions, you own the recording.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Finance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