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109728"/>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5486400" cy="457200"/>
          </a:xfrm>
          <a:prstGeom prst="rect">
            <a:avLst/>
          </a:prstGeom>
          <a:noFill/>
        </p:spPr>
        <p:txBody>
          <a:bodyPr wrap="square" lIns="45720" rIns="45720" tIns="18288" bIns="18288" anchor="t">
            <a:spAutoFit/>
          </a:bodyPr>
          <a:lstStyle/>
          <a:p>
            <a:pPr algn="l"/>
            <a:r>
              <a:rPr sz="1800" b="1" i="0">
                <a:solidFill>
                  <a:srgbClr val="F28C2C"/>
                </a:solidFill>
                <a:latin typeface="Arial"/>
              </a:rPr>
              <a:t>INDIA LEARNS LMS</a:t>
            </a:r>
          </a:p>
        </p:txBody>
      </p:sp>
      <p:sp>
        <p:nvSpPr>
          <p:cNvPr id="5" name="TextBox 4"/>
          <p:cNvSpPr txBox="1"/>
          <p:nvPr/>
        </p:nvSpPr>
        <p:spPr>
          <a:xfrm>
            <a:off x="731520" y="2194560"/>
            <a:ext cx="10058400" cy="1371600"/>
          </a:xfrm>
          <a:prstGeom prst="rect">
            <a:avLst/>
          </a:prstGeom>
          <a:noFill/>
        </p:spPr>
        <p:txBody>
          <a:bodyPr wrap="square" lIns="45720" rIns="45720" tIns="18288" bIns="18288" anchor="t">
            <a:spAutoFit/>
          </a:bodyPr>
          <a:lstStyle/>
          <a:p>
            <a:pPr algn="l"/>
            <a:r>
              <a:rPr sz="5800" b="1" i="0">
                <a:solidFill>
                  <a:srgbClr val="FFFFFF"/>
                </a:solidFill>
                <a:latin typeface="Calibri"/>
              </a:rPr>
              <a:t>Run the institution.
One system.</a:t>
            </a:r>
          </a:p>
        </p:txBody>
      </p:sp>
      <p:sp>
        <p:nvSpPr>
          <p:cNvPr id="6" name="TextBox 5"/>
          <p:cNvSpPr txBox="1"/>
          <p:nvPr/>
        </p:nvSpPr>
        <p:spPr>
          <a:xfrm>
            <a:off x="731520" y="4114800"/>
            <a:ext cx="10058400" cy="1097280"/>
          </a:xfrm>
          <a:prstGeom prst="rect">
            <a:avLst/>
          </a:prstGeom>
          <a:noFill/>
        </p:spPr>
        <p:txBody>
          <a:bodyPr wrap="square" lIns="45720" rIns="45720" tIns="18288" bIns="18288" anchor="t">
            <a:spAutoFit/>
          </a:bodyPr>
          <a:lstStyle/>
          <a:p>
            <a:pPr algn="l"/>
            <a:r>
              <a:rPr sz="2200" b="0" i="1">
                <a:solidFill>
                  <a:srgbClr val="FAF6EE"/>
                </a:solidFill>
                <a:latin typeface="Arial"/>
              </a:rPr>
              <a:t>Users, programs, courses, fees, tickets — all in one place.</a:t>
            </a:r>
          </a:p>
        </p:txBody>
      </p:sp>
      <p:sp>
        <p:nvSpPr>
          <p:cNvPr id="7" name="Rounded Rectangle 6"/>
          <p:cNvSpPr/>
          <p:nvPr/>
        </p:nvSpPr>
        <p:spPr>
          <a:xfrm>
            <a:off x="731520" y="5577840"/>
            <a:ext cx="2377440" cy="502920"/>
          </a:xfrm>
          <a:prstGeom prst="roundRect">
            <a:avLst>
              <a:gd name="adj" fmla="val 12000"/>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77840"/>
            <a:ext cx="2377440" cy="502920"/>
          </a:xfrm>
          <a:prstGeom prst="rect">
            <a:avLst/>
          </a:prstGeom>
          <a:noFill/>
        </p:spPr>
        <p:txBody>
          <a:bodyPr wrap="square" lIns="45720" rIns="45720" tIns="18288" bIns="18288" anchor="ctr">
            <a:spAutoFit/>
          </a:bodyPr>
          <a:lstStyle/>
          <a:p>
            <a:pPr algn="ctr"/>
            <a:r>
              <a:rPr sz="1400" b="1" i="0">
                <a:solidFill>
                  <a:srgbClr val="FFFFFF"/>
                </a:solidFill>
                <a:latin typeface="Arial"/>
              </a:rPr>
              <a:t>ADMIN</a:t>
            </a:r>
          </a:p>
        </p:txBody>
      </p:sp>
      <p:sp>
        <p:nvSpPr>
          <p:cNvPr id="9" name="Rectangle 8"/>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1" name="TextBox 10"/>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ABOUT YOU</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Who this is for</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20240"/>
            <a:ext cx="11064240" cy="402336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91440" cy="4023360"/>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77440"/>
            <a:ext cx="10607040" cy="1828800"/>
          </a:xfrm>
          <a:prstGeom prst="rect">
            <a:avLst/>
          </a:prstGeom>
          <a:noFill/>
        </p:spPr>
        <p:txBody>
          <a:bodyPr wrap="square" lIns="45720" rIns="45720" tIns="18288" bIns="18288" anchor="t">
            <a:spAutoFit/>
          </a:bodyPr>
          <a:lstStyle/>
          <a:p>
            <a:pPr algn="l"/>
            <a:r>
              <a:rPr sz="4400" b="1" i="0">
                <a:solidFill>
                  <a:srgbClr val="132B5E"/>
                </a:solidFill>
                <a:latin typeface="Calibri"/>
              </a:rPr>
              <a:t>You run the academic operation.</a:t>
            </a:r>
          </a:p>
        </p:txBody>
      </p:sp>
      <p:sp>
        <p:nvSpPr>
          <p:cNvPr id="10" name="TextBox 9"/>
          <p:cNvSpPr txBox="1"/>
          <p:nvPr/>
        </p:nvSpPr>
        <p:spPr>
          <a:xfrm>
            <a:off x="914400" y="4297680"/>
            <a:ext cx="10607040" cy="1828800"/>
          </a:xfrm>
          <a:prstGeom prst="rect">
            <a:avLst/>
          </a:prstGeom>
          <a:noFill/>
        </p:spPr>
        <p:txBody>
          <a:bodyPr wrap="square" lIns="45720" rIns="45720" tIns="18288" bIns="18288" anchor="t">
            <a:spAutoFit/>
          </a:bodyPr>
          <a:lstStyle/>
          <a:p>
            <a:pPr algn="l"/>
            <a:r>
              <a:rPr sz="1800" b="0" i="0">
                <a:solidFill>
                  <a:srgbClr val="1A1A1A"/>
                </a:solidFill>
                <a:latin typeface="Arial"/>
              </a:rPr>
              <a:t>You manage who's in the system, what they're enrolled in, how the timetable works, what fees are due, and what tickets are open. You're the operations layer between students, faculty, finance, and leadership. Most of your work is configuring once, then monitoring.</a:t>
            </a:r>
          </a:p>
        </p:txBody>
      </p:sp>
      <p:sp>
        <p:nvSpPr>
          <p:cNvPr id="11" name="Rectangle 10"/>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3" name="TextBox 12"/>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GETTING STARTED</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How you sign in</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8288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1</a:t>
            </a:r>
          </a:p>
        </p:txBody>
      </p:sp>
      <p:sp>
        <p:nvSpPr>
          <p:cNvPr id="8" name="TextBox 7"/>
          <p:cNvSpPr txBox="1"/>
          <p:nvPr/>
        </p:nvSpPr>
        <p:spPr>
          <a:xfrm>
            <a:off x="1417320" y="18745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Super Admin invites you</a:t>
            </a:r>
          </a:p>
        </p:txBody>
      </p:sp>
      <p:sp>
        <p:nvSpPr>
          <p:cNvPr id="9" name="TextBox 8"/>
          <p:cNvSpPr txBox="1"/>
          <p:nvPr/>
        </p:nvSpPr>
        <p:spPr>
          <a:xfrm>
            <a:off x="1417320" y="22402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Admins are not seeded by default. A Super Admin creates you via Users → Invite user → role: Admin.</a:t>
            </a:r>
          </a:p>
        </p:txBody>
      </p:sp>
      <p:sp>
        <p:nvSpPr>
          <p:cNvPr id="10" name="Oval 9"/>
          <p:cNvSpPr/>
          <p:nvPr/>
        </p:nvSpPr>
        <p:spPr>
          <a:xfrm>
            <a:off x="548640" y="27432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2</a:t>
            </a:r>
          </a:p>
        </p:txBody>
      </p:sp>
      <p:sp>
        <p:nvSpPr>
          <p:cNvPr id="11" name="TextBox 10"/>
          <p:cNvSpPr txBox="1"/>
          <p:nvPr/>
        </p:nvSpPr>
        <p:spPr>
          <a:xfrm>
            <a:off x="1417320" y="27889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Get the magic-link email</a:t>
            </a:r>
          </a:p>
        </p:txBody>
      </p:sp>
      <p:sp>
        <p:nvSpPr>
          <p:cNvPr id="12" name="TextBox 11"/>
          <p:cNvSpPr txBox="1"/>
          <p:nvPr/>
        </p:nvSpPr>
        <p:spPr>
          <a:xfrm>
            <a:off x="1417320" y="31546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Click it, set a password, and you're in.</a:t>
            </a:r>
          </a:p>
        </p:txBody>
      </p:sp>
      <p:sp>
        <p:nvSpPr>
          <p:cNvPr id="13" name="Oval 12"/>
          <p:cNvSpPr/>
          <p:nvPr/>
        </p:nvSpPr>
        <p:spPr>
          <a:xfrm>
            <a:off x="548640" y="36576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3</a:t>
            </a:r>
          </a:p>
        </p:txBody>
      </p:sp>
      <p:sp>
        <p:nvSpPr>
          <p:cNvPr id="14" name="TextBox 13"/>
          <p:cNvSpPr txBox="1"/>
          <p:nvPr/>
        </p:nvSpPr>
        <p:spPr>
          <a:xfrm>
            <a:off x="1417320" y="37033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Your dashboard is the Analytics view</a:t>
            </a:r>
          </a:p>
        </p:txBody>
      </p:sp>
      <p:sp>
        <p:nvSpPr>
          <p:cNvPr id="15" name="TextBox 14"/>
          <p:cNvSpPr txBox="1"/>
          <p:nvPr/>
        </p:nvSpPr>
        <p:spPr>
          <a:xfrm>
            <a:off x="1417320" y="40690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Every time you sign in, you land on the live snapshot of the whole institution.</a:t>
            </a:r>
          </a:p>
        </p:txBody>
      </p:sp>
      <p:sp>
        <p:nvSpPr>
          <p:cNvPr id="16" name="Oval 15"/>
          <p:cNvSpPr/>
          <p:nvPr/>
        </p:nvSpPr>
        <p:spPr>
          <a:xfrm>
            <a:off x="548640" y="45720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4</a:t>
            </a:r>
          </a:p>
        </p:txBody>
      </p:sp>
      <p:sp>
        <p:nvSpPr>
          <p:cNvPr id="17" name="TextBox 16"/>
          <p:cNvSpPr txBox="1"/>
          <p:nvPr/>
        </p:nvSpPr>
        <p:spPr>
          <a:xfrm>
            <a:off x="1417320" y="46177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Forgot password?</a:t>
            </a:r>
          </a:p>
        </p:txBody>
      </p:sp>
      <p:sp>
        <p:nvSpPr>
          <p:cNvPr id="18" name="TextBox 17"/>
          <p:cNvSpPr txBox="1"/>
          <p:nvPr/>
        </p:nvSpPr>
        <p:spPr>
          <a:xfrm>
            <a:off x="1417320" y="49834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Same reset flow as everyone else.</a:t>
            </a:r>
          </a:p>
        </p:txBody>
      </p:sp>
      <p:sp>
        <p:nvSpPr>
          <p:cNvPr id="19" name="Rectangle 18"/>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21" name="TextBox 20"/>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HOME SCREEN</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Your analytics dashboard</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241</a:t>
            </a:r>
          </a:p>
        </p:txBody>
      </p:sp>
      <p:sp>
        <p:nvSpPr>
          <p:cNvPr id="9" name="TextBox 8"/>
          <p:cNvSpPr txBox="1"/>
          <p:nvPr/>
        </p:nvSpPr>
        <p:spPr>
          <a:xfrm>
            <a:off x="5486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Active students</a:t>
            </a:r>
          </a:p>
        </p:txBody>
      </p:sp>
      <p:sp>
        <p:nvSpPr>
          <p:cNvPr id="10" name="Rounded Rectangle 9"/>
          <p:cNvSpPr/>
          <p:nvPr/>
        </p:nvSpPr>
        <p:spPr>
          <a:xfrm>
            <a:off x="35204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₹4.2L</a:t>
            </a:r>
          </a:p>
        </p:txBody>
      </p:sp>
      <p:sp>
        <p:nvSpPr>
          <p:cNvPr id="12" name="TextBox 11"/>
          <p:cNvSpPr txBox="1"/>
          <p:nvPr/>
        </p:nvSpPr>
        <p:spPr>
          <a:xfrm>
            <a:off x="35204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Collected (month)</a:t>
            </a:r>
          </a:p>
        </p:txBody>
      </p:sp>
      <p:sp>
        <p:nvSpPr>
          <p:cNvPr id="13" name="Rounded Rectangle 12"/>
          <p:cNvSpPr/>
          <p:nvPr/>
        </p:nvSpPr>
        <p:spPr>
          <a:xfrm>
            <a:off x="64922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3</a:t>
            </a:r>
          </a:p>
        </p:txBody>
      </p:sp>
      <p:sp>
        <p:nvSpPr>
          <p:cNvPr id="15" name="TextBox 14"/>
          <p:cNvSpPr txBox="1"/>
          <p:nvPr/>
        </p:nvSpPr>
        <p:spPr>
          <a:xfrm>
            <a:off x="64922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SLA breaches this week</a:t>
            </a:r>
          </a:p>
        </p:txBody>
      </p:sp>
      <p:sp>
        <p:nvSpPr>
          <p:cNvPr id="16" name="Rounded Rectangle 15"/>
          <p:cNvSpPr/>
          <p:nvPr/>
        </p:nvSpPr>
        <p:spPr>
          <a:xfrm>
            <a:off x="9464040" y="2194560"/>
            <a:ext cx="2743200" cy="201168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4040" y="2468880"/>
            <a:ext cx="2743200" cy="1097280"/>
          </a:xfrm>
          <a:prstGeom prst="rect">
            <a:avLst/>
          </a:prstGeom>
          <a:noFill/>
        </p:spPr>
        <p:txBody>
          <a:bodyPr wrap="square" lIns="45720" rIns="45720" tIns="18288" bIns="18288" anchor="t">
            <a:spAutoFit/>
          </a:bodyPr>
          <a:lstStyle/>
          <a:p>
            <a:pPr algn="ctr"/>
            <a:r>
              <a:rPr sz="5400" b="1" i="0">
                <a:solidFill>
                  <a:srgbClr val="F28C2C"/>
                </a:solidFill>
                <a:latin typeface="Calibri"/>
              </a:rPr>
              <a:t>87%</a:t>
            </a:r>
          </a:p>
        </p:txBody>
      </p:sp>
      <p:sp>
        <p:nvSpPr>
          <p:cNvPr id="18" name="TextBox 17"/>
          <p:cNvSpPr txBox="1"/>
          <p:nvPr/>
        </p:nvSpPr>
        <p:spPr>
          <a:xfrm>
            <a:off x="9464040" y="3566160"/>
            <a:ext cx="2743200" cy="548640"/>
          </a:xfrm>
          <a:prstGeom prst="rect">
            <a:avLst/>
          </a:prstGeom>
          <a:noFill/>
        </p:spPr>
        <p:txBody>
          <a:bodyPr wrap="square" lIns="45720" rIns="45720" tIns="18288" bIns="18288" anchor="ctr">
            <a:spAutoFit/>
          </a:bodyPr>
          <a:lstStyle/>
          <a:p>
            <a:pPr algn="ctr"/>
            <a:r>
              <a:rPr sz="1200" b="0" i="0">
                <a:solidFill>
                  <a:srgbClr val="1A1A1A"/>
                </a:solidFill>
                <a:latin typeface="Arial"/>
              </a:rPr>
              <a:t>Quiz pass rate</a:t>
            </a:r>
          </a:p>
        </p:txBody>
      </p:sp>
      <p:sp>
        <p:nvSpPr>
          <p:cNvPr id="19" name="TextBox 18"/>
          <p:cNvSpPr txBox="1"/>
          <p:nvPr/>
        </p:nvSpPr>
        <p:spPr>
          <a:xfrm>
            <a:off x="548640" y="4572000"/>
            <a:ext cx="10972800" cy="1371600"/>
          </a:xfrm>
          <a:prstGeom prst="rect">
            <a:avLst/>
          </a:prstGeom>
          <a:noFill/>
        </p:spPr>
        <p:txBody>
          <a:bodyPr wrap="square" lIns="45720" rIns="45720" tIns="18288" bIns="18288" anchor="t">
            <a:spAutoFit/>
          </a:bodyPr>
          <a:lstStyle/>
          <a:p>
            <a:pPr algn="l"/>
            <a:r>
              <a:rPr sz="1400" b="0" i="0">
                <a:solidFill>
                  <a:srgbClr val="1A1A1A"/>
                </a:solidFill>
                <a:latin typeface="Arial"/>
              </a:rPr>
              <a:t>Live snapshot of the whole institution: active students, suspensions, new admissions, fees collected and outstanding, SLA breach counts by ticket category, quiz and exam pass rates, faculty feedback coverage, API spend. Every number has a 14-day sparkline trend.</a:t>
            </a:r>
          </a:p>
        </p:txBody>
      </p:sp>
      <p:sp>
        <p:nvSpPr>
          <p:cNvPr id="20" name="Rectangle 19"/>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22" name="TextBox 21"/>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USER MANAGEMENT</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Users — who's in the system</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200"/>
              </a:spcAft>
            </a:pPr>
            <a:r>
              <a:rPr sz="1500" b="1">
                <a:solidFill>
                  <a:srgbClr val="F28C2C"/>
                </a:solidFill>
                <a:latin typeface="Arial"/>
              </a:rPr>
              <a:t>● </a:t>
            </a:r>
            <a:r>
              <a:rPr sz="1500">
                <a:solidFill>
                  <a:srgbClr val="1A1A1A"/>
                </a:solidFill>
                <a:latin typeface="Arial"/>
              </a:rPr>
              <a:t>See every user by role (Student, Faculty, Finance, Admin, Super Admin).</a:t>
            </a:r>
          </a:p>
          <a:p>
            <a:pPr algn="l">
              <a:spcAft>
                <a:spcPts val="1200"/>
              </a:spcAft>
            </a:pPr>
            <a:r>
              <a:rPr sz="1500" b="1">
                <a:solidFill>
                  <a:srgbClr val="F28C2C"/>
                </a:solidFill>
                <a:latin typeface="Arial"/>
              </a:rPr>
              <a:t>● </a:t>
            </a:r>
            <a:r>
              <a:rPr sz="1500">
                <a:solidFill>
                  <a:srgbClr val="1A1A1A"/>
                </a:solidFill>
                <a:latin typeface="Arial"/>
              </a:rPr>
              <a:t>Invite new users with magic-link email. Any role.</a:t>
            </a:r>
          </a:p>
          <a:p>
            <a:pPr algn="l">
              <a:spcAft>
                <a:spcPts val="1200"/>
              </a:spcAft>
            </a:pPr>
            <a:r>
              <a:rPr sz="1500" b="1">
                <a:solidFill>
                  <a:srgbClr val="F28C2C"/>
                </a:solidFill>
                <a:latin typeface="Arial"/>
              </a:rPr>
              <a:t>● </a:t>
            </a:r>
            <a:r>
              <a:rPr sz="1500">
                <a:solidFill>
                  <a:srgbClr val="1A1A1A"/>
                </a:solidFill>
                <a:latin typeface="Arial"/>
              </a:rPr>
              <a:t>Suspend / unsuspend a user — they lose access without losing their data.</a:t>
            </a:r>
          </a:p>
          <a:p>
            <a:pPr algn="l">
              <a:spcAft>
                <a:spcPts val="1200"/>
              </a:spcAft>
            </a:pPr>
            <a:r>
              <a:rPr sz="1500" b="1">
                <a:solidFill>
                  <a:srgbClr val="F28C2C"/>
                </a:solidFill>
                <a:latin typeface="Arial"/>
              </a:rPr>
              <a:t>● </a:t>
            </a:r>
            <a:r>
              <a:rPr sz="1500">
                <a:solidFill>
                  <a:srgbClr val="1A1A1A"/>
                </a:solidFill>
                <a:latin typeface="Arial"/>
              </a:rPr>
              <a:t>Resend invitation if someone didn't get the email.</a:t>
            </a:r>
          </a:p>
          <a:p>
            <a:pPr algn="l">
              <a:spcAft>
                <a:spcPts val="1200"/>
              </a:spcAft>
            </a:pPr>
            <a:r>
              <a:rPr sz="1500" b="1">
                <a:solidFill>
                  <a:srgbClr val="F28C2C"/>
                </a:solidFill>
                <a:latin typeface="Arial"/>
              </a:rPr>
              <a:t>● </a:t>
            </a:r>
            <a:r>
              <a:rPr sz="1500">
                <a:solidFill>
                  <a:srgbClr val="1A1A1A"/>
                </a:solidFill>
                <a:latin typeface="Arial"/>
              </a:rPr>
              <a:t>See last login, account status, and audit trail for each user.</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ACADEMIC STRUCTURE</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Programs — your catalogue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20240"/>
            <a:ext cx="11064240" cy="402336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91440" cy="4023360"/>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77440"/>
            <a:ext cx="10607040" cy="1828800"/>
          </a:xfrm>
          <a:prstGeom prst="rect">
            <a:avLst/>
          </a:prstGeom>
          <a:noFill/>
        </p:spPr>
        <p:txBody>
          <a:bodyPr wrap="square" lIns="45720" rIns="45720" tIns="18288" bIns="18288" anchor="t">
            <a:spAutoFit/>
          </a:bodyPr>
          <a:lstStyle/>
          <a:p>
            <a:pPr algn="l"/>
            <a:r>
              <a:rPr sz="4400" b="1" i="0">
                <a:solidFill>
                  <a:srgbClr val="132B5E"/>
                </a:solidFill>
                <a:latin typeface="Calibri"/>
              </a:rPr>
              <a:t>Programs sit at the top of everything.</a:t>
            </a:r>
          </a:p>
        </p:txBody>
      </p:sp>
      <p:sp>
        <p:nvSpPr>
          <p:cNvPr id="10" name="TextBox 9"/>
          <p:cNvSpPr txBox="1"/>
          <p:nvPr/>
        </p:nvSpPr>
        <p:spPr>
          <a:xfrm>
            <a:off x="914400" y="4297680"/>
            <a:ext cx="10607040" cy="1828800"/>
          </a:xfrm>
          <a:prstGeom prst="rect">
            <a:avLst/>
          </a:prstGeom>
          <a:noFill/>
        </p:spPr>
        <p:txBody>
          <a:bodyPr wrap="square" lIns="45720" rIns="45720" tIns="18288" bIns="18288" anchor="t">
            <a:spAutoFit/>
          </a:bodyPr>
          <a:lstStyle/>
          <a:p>
            <a:pPr algn="l"/>
            <a:r>
              <a:rPr sz="1800" b="0" i="0">
                <a:solidFill>
                  <a:srgbClr val="1A1A1A"/>
                </a:solidFill>
                <a:latin typeface="Arial"/>
              </a:rPr>
              <a:t>A program is a diploma or course of study — for example, 'Aviation Diploma' or 'Maths Certification'. Each program has its own catalogue of courses, its own fee structure, and its own admission window. Create programs, edit metadata, retire old ones.</a:t>
            </a:r>
          </a:p>
        </p:txBody>
      </p:sp>
      <p:sp>
        <p:nvSpPr>
          <p:cNvPr id="11" name="Rectangle 10"/>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3" name="TextBox 12"/>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ACADEMIC STRUCTURE</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Courses — what gets taught</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8" name="TextBox 7"/>
          <p:cNvSpPr txBox="1"/>
          <p:nvPr/>
        </p:nvSpPr>
        <p:spPr>
          <a:xfrm>
            <a:off x="123444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Draft mode</a:t>
            </a:r>
          </a:p>
        </p:txBody>
      </p:sp>
      <p:sp>
        <p:nvSpPr>
          <p:cNvPr id="9" name="TextBox 8"/>
          <p:cNvSpPr txBox="1"/>
          <p:nvPr/>
        </p:nvSpPr>
        <p:spPr>
          <a:xfrm>
            <a:off x="123444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Build the course quietly. Students don't see it. Edit modules, sessions, materials, assignments.</a:t>
            </a:r>
          </a:p>
        </p:txBody>
      </p:sp>
      <p:sp>
        <p:nvSpPr>
          <p:cNvPr id="10" name="Oval 9"/>
          <p:cNvSpPr/>
          <p:nvPr/>
        </p:nvSpPr>
        <p:spPr>
          <a:xfrm>
            <a:off x="54864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1" name="TextBox 10"/>
          <p:cNvSpPr txBox="1"/>
          <p:nvPr/>
        </p:nvSpPr>
        <p:spPr>
          <a:xfrm>
            <a:off x="123444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Publish</a:t>
            </a:r>
          </a:p>
        </p:txBody>
      </p:sp>
      <p:sp>
        <p:nvSpPr>
          <p:cNvPr id="12" name="TextBox 11"/>
          <p:cNvSpPr txBox="1"/>
          <p:nvPr/>
        </p:nvSpPr>
        <p:spPr>
          <a:xfrm>
            <a:off x="123444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When ready, publish. Publishing creates an immutable version used by all enrolments — content can't change underneath students.</a:t>
            </a:r>
          </a:p>
        </p:txBody>
      </p:sp>
      <p:sp>
        <p:nvSpPr>
          <p:cNvPr id="13" name="Oval 12"/>
          <p:cNvSpPr/>
          <p:nvPr/>
        </p:nvSpPr>
        <p:spPr>
          <a:xfrm>
            <a:off x="54864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4" name="TextBox 13"/>
          <p:cNvSpPr txBox="1"/>
          <p:nvPr/>
        </p:nvSpPr>
        <p:spPr>
          <a:xfrm>
            <a:off x="123444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Re-publish</a:t>
            </a:r>
          </a:p>
        </p:txBody>
      </p:sp>
      <p:sp>
        <p:nvSpPr>
          <p:cNvPr id="15" name="TextBox 14"/>
          <p:cNvSpPr txBox="1"/>
          <p:nvPr/>
        </p:nvSpPr>
        <p:spPr>
          <a:xfrm>
            <a:off x="123444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Need to update? Create a new version. Old enrolments keep the version they started with.</a:t>
            </a:r>
          </a:p>
        </p:txBody>
      </p:sp>
      <p:sp>
        <p:nvSpPr>
          <p:cNvPr id="16" name="Oval 15"/>
          <p:cNvSpPr/>
          <p:nvPr/>
        </p:nvSpPr>
        <p:spPr>
          <a:xfrm>
            <a:off x="640080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7" name="TextBox 16"/>
          <p:cNvSpPr txBox="1"/>
          <p:nvPr/>
        </p:nvSpPr>
        <p:spPr>
          <a:xfrm>
            <a:off x="708660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Import from Curriculum Generator</a:t>
            </a:r>
          </a:p>
        </p:txBody>
      </p:sp>
      <p:sp>
        <p:nvSpPr>
          <p:cNvPr id="18" name="TextBox 17"/>
          <p:cNvSpPr txBox="1"/>
          <p:nvPr/>
        </p:nvSpPr>
        <p:spPr>
          <a:xfrm>
            <a:off x="708660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Pull a fully-built curriculum from the Generator with one click — modules, sessions, slides, assignments, exam.</a:t>
            </a:r>
          </a:p>
        </p:txBody>
      </p:sp>
      <p:sp>
        <p:nvSpPr>
          <p:cNvPr id="19" name="Oval 18"/>
          <p:cNvSpPr/>
          <p:nvPr/>
        </p:nvSpPr>
        <p:spPr>
          <a:xfrm>
            <a:off x="640080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0" name="TextBox 19"/>
          <p:cNvSpPr txBox="1"/>
          <p:nvPr/>
        </p:nvSpPr>
        <p:spPr>
          <a:xfrm>
            <a:off x="708660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Assign faculty</a:t>
            </a:r>
          </a:p>
        </p:txBody>
      </p:sp>
      <p:sp>
        <p:nvSpPr>
          <p:cNvPr id="21" name="TextBox 20"/>
          <p:cNvSpPr txBox="1"/>
          <p:nvPr/>
        </p:nvSpPr>
        <p:spPr>
          <a:xfrm>
            <a:off x="708660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Pick who teaches the course. Faculty only sees what's assigned to them.</a:t>
            </a:r>
          </a:p>
        </p:txBody>
      </p:sp>
      <p:sp>
        <p:nvSpPr>
          <p:cNvPr id="22" name="Oval 21"/>
          <p:cNvSpPr/>
          <p:nvPr/>
        </p:nvSpPr>
        <p:spPr>
          <a:xfrm>
            <a:off x="640080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3" name="TextBox 22"/>
          <p:cNvSpPr txBox="1"/>
          <p:nvPr/>
        </p:nvSpPr>
        <p:spPr>
          <a:xfrm>
            <a:off x="708660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Track completion</a:t>
            </a:r>
          </a:p>
        </p:txBody>
      </p:sp>
      <p:sp>
        <p:nvSpPr>
          <p:cNvPr id="24" name="TextBox 23"/>
          <p:cNvSpPr txBox="1"/>
          <p:nvPr/>
        </p:nvSpPr>
        <p:spPr>
          <a:xfrm>
            <a:off x="708660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See how many enrolled students have completed the course. Certificate issuance triggers automatically.</a:t>
            </a:r>
          </a:p>
        </p:txBody>
      </p:sp>
      <p:sp>
        <p:nvSpPr>
          <p:cNvPr id="25" name="Rectangle 24"/>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27" name="TextBox 26"/>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ACADEMIC STRUCTURE</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Batches — your cohorts</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200"/>
              </a:spcAft>
            </a:pPr>
            <a:r>
              <a:rPr sz="1500" b="1">
                <a:solidFill>
                  <a:srgbClr val="F28C2C"/>
                </a:solidFill>
                <a:latin typeface="Arial"/>
              </a:rPr>
              <a:t>● </a:t>
            </a:r>
            <a:r>
              <a:rPr sz="1500">
                <a:solidFill>
                  <a:srgbClr val="1A1A1A"/>
                </a:solidFill>
                <a:latin typeface="Arial"/>
              </a:rPr>
              <a:t>A batch is a group of students who go through a course together.</a:t>
            </a:r>
          </a:p>
          <a:p>
            <a:pPr algn="l">
              <a:spcAft>
                <a:spcPts val="1200"/>
              </a:spcAft>
            </a:pPr>
            <a:r>
              <a:rPr sz="1500" b="1">
                <a:solidFill>
                  <a:srgbClr val="F28C2C"/>
                </a:solidFill>
                <a:latin typeface="Arial"/>
              </a:rPr>
              <a:t>● </a:t>
            </a:r>
            <a:r>
              <a:rPr sz="1500">
                <a:solidFill>
                  <a:srgbClr val="1A1A1A"/>
                </a:solidFill>
                <a:latin typeface="Arial"/>
              </a:rPr>
              <a:t>Up to 30 students per batch (current platform cap).</a:t>
            </a:r>
          </a:p>
          <a:p>
            <a:pPr algn="l">
              <a:spcAft>
                <a:spcPts val="1200"/>
              </a:spcAft>
            </a:pPr>
            <a:r>
              <a:rPr sz="1500" b="1">
                <a:solidFill>
                  <a:srgbClr val="F28C2C"/>
                </a:solidFill>
                <a:latin typeface="Arial"/>
              </a:rPr>
              <a:t>● </a:t>
            </a:r>
            <a:r>
              <a:rPr sz="1500">
                <a:solidFill>
                  <a:srgbClr val="1A1A1A"/>
                </a:solidFill>
                <a:latin typeface="Arial"/>
              </a:rPr>
              <a:t>Each batch has a start date, end date, capacity, and one or more coordinators.</a:t>
            </a:r>
          </a:p>
          <a:p>
            <a:pPr algn="l">
              <a:spcAft>
                <a:spcPts val="1200"/>
              </a:spcAft>
            </a:pPr>
            <a:r>
              <a:rPr sz="1500" b="1">
                <a:solidFill>
                  <a:srgbClr val="F28C2C"/>
                </a:solidFill>
                <a:latin typeface="Arial"/>
              </a:rPr>
              <a:t>● </a:t>
            </a:r>
            <a:r>
              <a:rPr sz="1500">
                <a:solidFill>
                  <a:srgbClr val="1A1A1A"/>
                </a:solidFill>
                <a:latin typeface="Arial"/>
              </a:rPr>
              <a:t>Batch-level timetables, batch-level enrolment caps, batch-level reporting.</a:t>
            </a:r>
          </a:p>
          <a:p>
            <a:pPr algn="l">
              <a:spcAft>
                <a:spcPts val="1200"/>
              </a:spcAft>
            </a:pPr>
            <a:r>
              <a:rPr sz="1500" b="1">
                <a:solidFill>
                  <a:srgbClr val="F28C2C"/>
                </a:solidFill>
                <a:latin typeface="Arial"/>
              </a:rPr>
              <a:t>● </a:t>
            </a:r>
            <a:r>
              <a:rPr sz="1500">
                <a:solidFill>
                  <a:srgbClr val="1A1A1A"/>
                </a:solidFill>
                <a:latin typeface="Arial"/>
              </a:rPr>
              <a:t>Students see their classmates within the batch.</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SCHEDULE</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Building the timetable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8" name="TextBox 7"/>
          <p:cNvSpPr txBox="1"/>
          <p:nvPr/>
        </p:nvSpPr>
        <p:spPr>
          <a:xfrm>
            <a:off x="123444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Weekly recurring slots</a:t>
            </a:r>
          </a:p>
        </p:txBody>
      </p:sp>
      <p:sp>
        <p:nvSpPr>
          <p:cNvPr id="9" name="TextBox 8"/>
          <p:cNvSpPr txBox="1"/>
          <p:nvPr/>
        </p:nvSpPr>
        <p:spPr>
          <a:xfrm>
            <a:off x="123444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Set the regular weekly schedule for each batch: Mondays 9–11 AM, Wednesdays 2–4 PM, etc.</a:t>
            </a:r>
          </a:p>
        </p:txBody>
      </p:sp>
      <p:sp>
        <p:nvSpPr>
          <p:cNvPr id="10" name="Oval 9"/>
          <p:cNvSpPr/>
          <p:nvPr/>
        </p:nvSpPr>
        <p:spPr>
          <a:xfrm>
            <a:off x="54864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1" name="TextBox 10"/>
          <p:cNvSpPr txBox="1"/>
          <p:nvPr/>
        </p:nvSpPr>
        <p:spPr>
          <a:xfrm>
            <a:off x="123444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Overlap detection</a:t>
            </a:r>
          </a:p>
        </p:txBody>
      </p:sp>
      <p:sp>
        <p:nvSpPr>
          <p:cNvPr id="12" name="TextBox 11"/>
          <p:cNvSpPr txBox="1"/>
          <p:nvPr/>
        </p:nvSpPr>
        <p:spPr>
          <a:xfrm>
            <a:off x="123444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The system catches conflicts — same faculty in two rooms at once, same room booked twice, same batch overlapping classes.</a:t>
            </a:r>
          </a:p>
        </p:txBody>
      </p:sp>
      <p:sp>
        <p:nvSpPr>
          <p:cNvPr id="13" name="Oval 12"/>
          <p:cNvSpPr/>
          <p:nvPr/>
        </p:nvSpPr>
        <p:spPr>
          <a:xfrm>
            <a:off x="54864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4" name="TextBox 13"/>
          <p:cNvSpPr txBox="1"/>
          <p:nvPr/>
        </p:nvSpPr>
        <p:spPr>
          <a:xfrm>
            <a:off x="123444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Cancel / reschedule individual sessions</a:t>
            </a:r>
          </a:p>
        </p:txBody>
      </p:sp>
      <p:sp>
        <p:nvSpPr>
          <p:cNvPr id="15" name="TextBox 14"/>
          <p:cNvSpPr txBox="1"/>
          <p:nvPr/>
        </p:nvSpPr>
        <p:spPr>
          <a:xfrm>
            <a:off x="123444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Need to move just one class? One click. Students get notified.</a:t>
            </a:r>
          </a:p>
        </p:txBody>
      </p:sp>
      <p:sp>
        <p:nvSpPr>
          <p:cNvPr id="16" name="Oval 15"/>
          <p:cNvSpPr/>
          <p:nvPr/>
        </p:nvSpPr>
        <p:spPr>
          <a:xfrm>
            <a:off x="640080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7" name="TextBox 16"/>
          <p:cNvSpPr txBox="1"/>
          <p:nvPr/>
        </p:nvSpPr>
        <p:spPr>
          <a:xfrm>
            <a:off x="708660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Add one-off extra sessions</a:t>
            </a:r>
          </a:p>
        </p:txBody>
      </p:sp>
      <p:sp>
        <p:nvSpPr>
          <p:cNvPr id="18" name="TextBox 17"/>
          <p:cNvSpPr txBox="1"/>
          <p:nvPr/>
        </p:nvSpPr>
        <p:spPr>
          <a:xfrm>
            <a:off x="708660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Make-up class, special workshop, exam day — add it as a one-off.</a:t>
            </a:r>
          </a:p>
        </p:txBody>
      </p:sp>
      <p:sp>
        <p:nvSpPr>
          <p:cNvPr id="19" name="Oval 18"/>
          <p:cNvSpPr/>
          <p:nvPr/>
        </p:nvSpPr>
        <p:spPr>
          <a:xfrm>
            <a:off x="640080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0" name="TextBox 19"/>
          <p:cNvSpPr txBox="1"/>
          <p:nvPr/>
        </p:nvSpPr>
        <p:spPr>
          <a:xfrm>
            <a:off x="708660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Auto-notifications</a:t>
            </a:r>
          </a:p>
        </p:txBody>
      </p:sp>
      <p:sp>
        <p:nvSpPr>
          <p:cNvPr id="21" name="TextBox 20"/>
          <p:cNvSpPr txBox="1"/>
          <p:nvPr/>
        </p:nvSpPr>
        <p:spPr>
          <a:xfrm>
            <a:off x="708660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Any schedule change pings the students and faculty by email, WhatsApp, and in-app.</a:t>
            </a:r>
          </a:p>
        </p:txBody>
      </p:sp>
      <p:sp>
        <p:nvSpPr>
          <p:cNvPr id="22" name="Oval 21"/>
          <p:cNvSpPr/>
          <p:nvPr/>
        </p:nvSpPr>
        <p:spPr>
          <a:xfrm>
            <a:off x="640080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3" name="TextBox 22"/>
          <p:cNvSpPr txBox="1"/>
          <p:nvPr/>
        </p:nvSpPr>
        <p:spPr>
          <a:xfrm>
            <a:off x="708660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Holidays baked in</a:t>
            </a:r>
          </a:p>
        </p:txBody>
      </p:sp>
      <p:sp>
        <p:nvSpPr>
          <p:cNvPr id="24" name="TextBox 23"/>
          <p:cNvSpPr txBox="1"/>
          <p:nvPr/>
        </p:nvSpPr>
        <p:spPr>
          <a:xfrm>
            <a:off x="708660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The holiday calendar is respected — no classes get scheduled on declared holidays.</a:t>
            </a:r>
          </a:p>
        </p:txBody>
      </p:sp>
      <p:sp>
        <p:nvSpPr>
          <p:cNvPr id="25" name="Rectangle 24"/>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27" name="TextBox 26"/>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OPERATIONS</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Enrolments — students in batches</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000"/>
              </a:spcAft>
            </a:pPr>
            <a:r>
              <a:rPr sz="1500" b="1">
                <a:solidFill>
                  <a:srgbClr val="F28C2C"/>
                </a:solidFill>
                <a:latin typeface="Arial"/>
              </a:rPr>
              <a:t>● </a:t>
            </a:r>
            <a:r>
              <a:rPr sz="1500">
                <a:solidFill>
                  <a:srgbClr val="1A1A1A"/>
                </a:solidFill>
                <a:latin typeface="Arial"/>
              </a:rPr>
              <a:t>Enrol a student into a batch in a program.</a:t>
            </a:r>
          </a:p>
          <a:p>
            <a:pPr algn="l">
              <a:spcAft>
                <a:spcPts val="1000"/>
              </a:spcAft>
            </a:pPr>
            <a:r>
              <a:rPr sz="1500" b="1">
                <a:solidFill>
                  <a:srgbClr val="F28C2C"/>
                </a:solidFill>
                <a:latin typeface="Arial"/>
              </a:rPr>
              <a:t>● </a:t>
            </a:r>
            <a:r>
              <a:rPr sz="1500">
                <a:solidFill>
                  <a:srgbClr val="1A1A1A"/>
                </a:solidFill>
                <a:latin typeface="Arial"/>
              </a:rPr>
              <a:t>Each enrolment has a start date and end date (validity window).</a:t>
            </a:r>
          </a:p>
          <a:p>
            <a:pPr algn="l">
              <a:spcAft>
                <a:spcPts val="1000"/>
              </a:spcAft>
            </a:pPr>
            <a:r>
              <a:rPr sz="1500" b="1">
                <a:solidFill>
                  <a:srgbClr val="F28C2C"/>
                </a:solidFill>
                <a:latin typeface="Arial"/>
              </a:rPr>
              <a:t>● </a:t>
            </a:r>
            <a:r>
              <a:rPr sz="1500">
                <a:solidFill>
                  <a:srgbClr val="1A1A1A"/>
                </a:solidFill>
                <a:latin typeface="Arial"/>
              </a:rPr>
              <a:t>See every active enrolment, every paused enrolment, every completed enrolment.</a:t>
            </a:r>
          </a:p>
          <a:p>
            <a:pPr algn="l">
              <a:spcAft>
                <a:spcPts val="1000"/>
              </a:spcAft>
            </a:pPr>
            <a:r>
              <a:rPr sz="1500" b="1">
                <a:solidFill>
                  <a:srgbClr val="F28C2C"/>
                </a:solidFill>
                <a:latin typeface="Arial"/>
              </a:rPr>
              <a:t>● </a:t>
            </a:r>
            <a:r>
              <a:rPr sz="1500">
                <a:solidFill>
                  <a:srgbClr val="1A1A1A"/>
                </a:solidFill>
                <a:latin typeface="Arial"/>
              </a:rPr>
              <a:t>Trigger 'Issue Certificate' when a student finishes a course — the certificate generates and is emailed.</a:t>
            </a:r>
          </a:p>
          <a:p>
            <a:pPr algn="l">
              <a:spcAft>
                <a:spcPts val="1000"/>
              </a:spcAft>
            </a:pPr>
            <a:r>
              <a:rPr sz="1500" b="1">
                <a:solidFill>
                  <a:srgbClr val="F28C2C"/>
                </a:solidFill>
                <a:latin typeface="Arial"/>
              </a:rPr>
              <a:t>● </a:t>
            </a:r>
            <a:r>
              <a:rPr sz="1500">
                <a:solidFill>
                  <a:srgbClr val="1A1A1A"/>
                </a:solidFill>
                <a:latin typeface="Arial"/>
              </a:rPr>
              <a:t>Withdraw / suspend / restore enrolments as needed.</a:t>
            </a:r>
          </a:p>
          <a:p>
            <a:pPr algn="l">
              <a:spcAft>
                <a:spcPts val="1000"/>
              </a:spcAft>
            </a:pPr>
            <a:r>
              <a:rPr sz="1500" b="1">
                <a:solidFill>
                  <a:srgbClr val="F28C2C"/>
                </a:solidFill>
                <a:latin typeface="Arial"/>
              </a:rPr>
              <a:t>● </a:t>
            </a:r>
            <a:r>
              <a:rPr sz="1500">
                <a:solidFill>
                  <a:srgbClr val="1A1A1A"/>
                </a:solidFill>
                <a:latin typeface="Arial"/>
              </a:rPr>
              <a:t>Bulk operations: enrol 30 students into a batch at once.</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MONEY</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Fees — structures and oversight</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8" name="TextBox 7"/>
          <p:cNvSpPr txBox="1"/>
          <p:nvPr/>
        </p:nvSpPr>
        <p:spPr>
          <a:xfrm>
            <a:off x="123444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Fee structures</a:t>
            </a:r>
          </a:p>
        </p:txBody>
      </p:sp>
      <p:sp>
        <p:nvSpPr>
          <p:cNvPr id="9" name="TextBox 8"/>
          <p:cNvSpPr txBox="1"/>
          <p:nvPr/>
        </p:nvSpPr>
        <p:spPr>
          <a:xfrm>
            <a:off x="123444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Per program: total fee, installment count, weights (40 / 30 / 30 split), due-date rules. Set once, applies to every enrolment in that program.</a:t>
            </a:r>
          </a:p>
        </p:txBody>
      </p:sp>
      <p:sp>
        <p:nvSpPr>
          <p:cNvPr id="10" name="Oval 9"/>
          <p:cNvSpPr/>
          <p:nvPr/>
        </p:nvSpPr>
        <p:spPr>
          <a:xfrm>
            <a:off x="54864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1" name="TextBox 10"/>
          <p:cNvSpPr txBox="1"/>
          <p:nvPr/>
        </p:nvSpPr>
        <p:spPr>
          <a:xfrm>
            <a:off x="123444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Payments view</a:t>
            </a:r>
          </a:p>
        </p:txBody>
      </p:sp>
      <p:sp>
        <p:nvSpPr>
          <p:cNvPr id="12" name="TextBox 11"/>
          <p:cNvSpPr txBox="1"/>
          <p:nvPr/>
        </p:nvSpPr>
        <p:spPr>
          <a:xfrm>
            <a:off x="123444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Every payment recorded by finance, across the whole institution. Filter, search, audit.</a:t>
            </a:r>
          </a:p>
        </p:txBody>
      </p:sp>
      <p:sp>
        <p:nvSpPr>
          <p:cNvPr id="13" name="Oval 12"/>
          <p:cNvSpPr/>
          <p:nvPr/>
        </p:nvSpPr>
        <p:spPr>
          <a:xfrm>
            <a:off x="54864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4" name="TextBox 13"/>
          <p:cNvSpPr txBox="1"/>
          <p:nvPr/>
        </p:nvSpPr>
        <p:spPr>
          <a:xfrm>
            <a:off x="123444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Receipts view</a:t>
            </a:r>
          </a:p>
        </p:txBody>
      </p:sp>
      <p:sp>
        <p:nvSpPr>
          <p:cNvPr id="15" name="TextBox 14"/>
          <p:cNvSpPr txBox="1"/>
          <p:nvPr/>
        </p:nvSpPr>
        <p:spPr>
          <a:xfrm>
            <a:off x="123444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Sequential receipt log. Reprint, void, audit.</a:t>
            </a:r>
          </a:p>
        </p:txBody>
      </p:sp>
      <p:sp>
        <p:nvSpPr>
          <p:cNvPr id="16" name="Oval 15"/>
          <p:cNvSpPr/>
          <p:nvPr/>
        </p:nvSpPr>
        <p:spPr>
          <a:xfrm>
            <a:off x="640080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7" name="TextBox 16"/>
          <p:cNvSpPr txBox="1"/>
          <p:nvPr/>
        </p:nvSpPr>
        <p:spPr>
          <a:xfrm>
            <a:off x="708660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Overdue dashboard</a:t>
            </a:r>
          </a:p>
        </p:txBody>
      </p:sp>
      <p:sp>
        <p:nvSpPr>
          <p:cNvPr id="18" name="TextBox 17"/>
          <p:cNvSpPr txBox="1"/>
          <p:nvPr/>
        </p:nvSpPr>
        <p:spPr>
          <a:xfrm>
            <a:off x="708660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Students whose installments are past due, ranked. Quick-link to send a manual reminder.</a:t>
            </a:r>
          </a:p>
        </p:txBody>
      </p:sp>
      <p:sp>
        <p:nvSpPr>
          <p:cNvPr id="19" name="Oval 18"/>
          <p:cNvSpPr/>
          <p:nvPr/>
        </p:nvSpPr>
        <p:spPr>
          <a:xfrm>
            <a:off x="640080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0" name="TextBox 19"/>
          <p:cNvSpPr txBox="1"/>
          <p:nvPr/>
        </p:nvSpPr>
        <p:spPr>
          <a:xfrm>
            <a:off x="708660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Suspension override</a:t>
            </a:r>
          </a:p>
        </p:txBody>
      </p:sp>
      <p:sp>
        <p:nvSpPr>
          <p:cNvPr id="21" name="TextBox 20"/>
          <p:cNvSpPr txBox="1"/>
          <p:nvPr/>
        </p:nvSpPr>
        <p:spPr>
          <a:xfrm>
            <a:off x="708660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A student about to auto-suspend for non-payment? You can override and grant them a grace period — every override is audit-logged.</a:t>
            </a:r>
          </a:p>
        </p:txBody>
      </p:sp>
      <p:sp>
        <p:nvSpPr>
          <p:cNvPr id="22" name="Oval 21"/>
          <p:cNvSpPr/>
          <p:nvPr/>
        </p:nvSpPr>
        <p:spPr>
          <a:xfrm>
            <a:off x="640080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3" name="TextBox 22"/>
          <p:cNvSpPr txBox="1"/>
          <p:nvPr/>
        </p:nvSpPr>
        <p:spPr>
          <a:xfrm>
            <a:off x="708660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Collections reporting</a:t>
            </a:r>
          </a:p>
        </p:txBody>
      </p:sp>
      <p:sp>
        <p:nvSpPr>
          <p:cNvPr id="24" name="TextBox 23"/>
          <p:cNvSpPr txBox="1"/>
          <p:nvPr/>
        </p:nvSpPr>
        <p:spPr>
          <a:xfrm>
            <a:off x="708660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Monthly, quarterly, annual collection reports. Export to PDF / Excel.</a:t>
            </a:r>
          </a:p>
        </p:txBody>
      </p:sp>
      <p:sp>
        <p:nvSpPr>
          <p:cNvPr id="25" name="Rectangle 24"/>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27" name="TextBox 26"/>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SUPPORT OVERSIGHT</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Tickets — every support request, one place</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000"/>
              </a:spcAft>
            </a:pPr>
            <a:r>
              <a:rPr sz="1500" b="1">
                <a:solidFill>
                  <a:srgbClr val="F28C2C"/>
                </a:solidFill>
                <a:latin typeface="Arial"/>
              </a:rPr>
              <a:t>● </a:t>
            </a:r>
            <a:r>
              <a:rPr sz="1500">
                <a:solidFill>
                  <a:srgbClr val="1A1A1A"/>
                </a:solidFill>
                <a:latin typeface="Arial"/>
              </a:rPr>
              <a:t>Cross-organisation view of every ticket — academic, administrative, finance, technical, complaints.</a:t>
            </a:r>
          </a:p>
          <a:p>
            <a:pPr algn="l">
              <a:spcAft>
                <a:spcPts val="1000"/>
              </a:spcAft>
            </a:pPr>
            <a:r>
              <a:rPr sz="1500" b="1">
                <a:solidFill>
                  <a:srgbClr val="F28C2C"/>
                </a:solidFill>
                <a:latin typeface="Arial"/>
              </a:rPr>
              <a:t>● </a:t>
            </a:r>
            <a:r>
              <a:rPr sz="1500">
                <a:solidFill>
                  <a:srgbClr val="1A1A1A"/>
                </a:solidFill>
                <a:latin typeface="Arial"/>
              </a:rPr>
              <a:t>Filter by category, by status, by SLA breach.</a:t>
            </a:r>
          </a:p>
          <a:p>
            <a:pPr algn="l">
              <a:spcAft>
                <a:spcPts val="1000"/>
              </a:spcAft>
            </a:pPr>
            <a:r>
              <a:rPr sz="1500" b="1">
                <a:solidFill>
                  <a:srgbClr val="F28C2C"/>
                </a:solidFill>
                <a:latin typeface="Arial"/>
              </a:rPr>
              <a:t>● </a:t>
            </a:r>
            <a:r>
              <a:rPr sz="1500">
                <a:solidFill>
                  <a:srgbClr val="1A1A1A"/>
                </a:solidFill>
                <a:latin typeface="Arial"/>
              </a:rPr>
              <a:t>SLA breach counter at the top: tickets that missed their acknowledgement (24h) or resolution (5 business days, 15 for complaints) deadlines.</a:t>
            </a:r>
          </a:p>
          <a:p>
            <a:pPr algn="l">
              <a:spcAft>
                <a:spcPts val="1000"/>
              </a:spcAft>
            </a:pPr>
            <a:r>
              <a:rPr sz="1500" b="1">
                <a:solidFill>
                  <a:srgbClr val="F28C2C"/>
                </a:solidFill>
                <a:latin typeface="Arial"/>
              </a:rPr>
              <a:t>● </a:t>
            </a:r>
            <a:r>
              <a:rPr sz="1500">
                <a:solidFill>
                  <a:srgbClr val="1A1A1A"/>
                </a:solidFill>
                <a:latin typeface="Arial"/>
              </a:rPr>
              <a:t>Reassign tickets between teams.</a:t>
            </a:r>
          </a:p>
          <a:p>
            <a:pPr algn="l">
              <a:spcAft>
                <a:spcPts val="1000"/>
              </a:spcAft>
            </a:pPr>
            <a:r>
              <a:rPr sz="1500" b="1">
                <a:solidFill>
                  <a:srgbClr val="F28C2C"/>
                </a:solidFill>
                <a:latin typeface="Arial"/>
              </a:rPr>
              <a:t>● </a:t>
            </a:r>
            <a:r>
              <a:rPr sz="1500">
                <a:solidFill>
                  <a:srgbClr val="1A1A1A"/>
                </a:solidFill>
                <a:latin typeface="Arial"/>
              </a:rPr>
              <a:t>Override SLA in special cases — logged in audit.</a:t>
            </a:r>
          </a:p>
          <a:p>
            <a:pPr algn="l">
              <a:spcAft>
                <a:spcPts val="1000"/>
              </a:spcAft>
            </a:pPr>
            <a:r>
              <a:rPr sz="1500" b="1">
                <a:solidFill>
                  <a:srgbClr val="F28C2C"/>
                </a:solidFill>
                <a:latin typeface="Arial"/>
              </a:rPr>
              <a:t>● </a:t>
            </a:r>
            <a:r>
              <a:rPr sz="1500">
                <a:solidFill>
                  <a:srgbClr val="1A1A1A"/>
                </a:solidFill>
                <a:latin typeface="Arial"/>
              </a:rPr>
              <a:t>See full thread for every ticket — every message, every status change.</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COMPLIANCE</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Audit log — who did what, when</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920240"/>
            <a:ext cx="11064240" cy="4023360"/>
          </a:xfrm>
          <a:prstGeom prst="roundRect">
            <a:avLst>
              <a:gd name="adj" fmla="val 12000"/>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20240"/>
            <a:ext cx="91440" cy="4023360"/>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77440"/>
            <a:ext cx="10607040" cy="1828800"/>
          </a:xfrm>
          <a:prstGeom prst="rect">
            <a:avLst/>
          </a:prstGeom>
          <a:noFill/>
        </p:spPr>
        <p:txBody>
          <a:bodyPr wrap="square" lIns="45720" rIns="45720" tIns="18288" bIns="18288" anchor="t">
            <a:spAutoFit/>
          </a:bodyPr>
          <a:lstStyle/>
          <a:p>
            <a:pPr algn="l"/>
            <a:r>
              <a:rPr sz="4400" b="1" i="0">
                <a:solidFill>
                  <a:srgbClr val="132B5E"/>
                </a:solidFill>
                <a:latin typeface="Calibri"/>
              </a:rPr>
              <a:t>Every staff write is permanently recorded.</a:t>
            </a:r>
          </a:p>
        </p:txBody>
      </p:sp>
      <p:sp>
        <p:nvSpPr>
          <p:cNvPr id="10" name="TextBox 9"/>
          <p:cNvSpPr txBox="1"/>
          <p:nvPr/>
        </p:nvSpPr>
        <p:spPr>
          <a:xfrm>
            <a:off x="914400" y="4297680"/>
            <a:ext cx="10607040" cy="1828800"/>
          </a:xfrm>
          <a:prstGeom prst="rect">
            <a:avLst/>
          </a:prstGeom>
          <a:noFill/>
        </p:spPr>
        <p:txBody>
          <a:bodyPr wrap="square" lIns="45720" rIns="45720" tIns="18288" bIns="18288" anchor="t">
            <a:spAutoFit/>
          </a:bodyPr>
          <a:lstStyle/>
          <a:p>
            <a:pPr algn="l"/>
            <a:r>
              <a:rPr sz="1800" b="0" i="0">
                <a:solidFill>
                  <a:srgbClr val="1A1A1A"/>
                </a:solidFill>
                <a:latin typeface="Arial"/>
              </a:rPr>
              <a:t>Payment recorded, user suspended, fee waiver applied, suspension overridden, ticket reassigned, course published — every action by any staff member is logged with actor, action, target, before/after state, and timestamp. The audit log is read-only. Search, filter, export.</a:t>
            </a:r>
          </a:p>
        </p:txBody>
      </p:sp>
      <p:sp>
        <p:nvSpPr>
          <p:cNvPr id="11" name="Rectangle 10"/>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3" name="TextBox 12"/>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SETTINGS</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Holidays calendar</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200"/>
              </a:spcAft>
            </a:pPr>
            <a:r>
              <a:rPr sz="1500" b="1">
                <a:solidFill>
                  <a:srgbClr val="F28C2C"/>
                </a:solidFill>
                <a:latin typeface="Arial"/>
              </a:rPr>
              <a:t>● </a:t>
            </a:r>
            <a:r>
              <a:rPr sz="1500">
                <a:solidFill>
                  <a:srgbClr val="1A1A1A"/>
                </a:solidFill>
                <a:latin typeface="Arial"/>
              </a:rPr>
              <a:t>Set the institution's holidays — Diwali, Eid, Christmas, public holidays, college-specific breaks.</a:t>
            </a:r>
          </a:p>
          <a:p>
            <a:pPr algn="l">
              <a:spcAft>
                <a:spcPts val="1200"/>
              </a:spcAft>
            </a:pPr>
            <a:r>
              <a:rPr sz="1500" b="1">
                <a:solidFill>
                  <a:srgbClr val="F28C2C"/>
                </a:solidFill>
                <a:latin typeface="Arial"/>
              </a:rPr>
              <a:t>● </a:t>
            </a:r>
            <a:r>
              <a:rPr sz="1500">
                <a:solidFill>
                  <a:srgbClr val="1A1A1A"/>
                </a:solidFill>
                <a:latin typeface="Arial"/>
              </a:rPr>
              <a:t>Timetable builder respects holidays — no classes get scheduled on them.</a:t>
            </a:r>
          </a:p>
          <a:p>
            <a:pPr algn="l">
              <a:spcAft>
                <a:spcPts val="1200"/>
              </a:spcAft>
            </a:pPr>
            <a:r>
              <a:rPr sz="1500" b="1">
                <a:solidFill>
                  <a:srgbClr val="F28C2C"/>
                </a:solidFill>
                <a:latin typeface="Arial"/>
              </a:rPr>
              <a:t>● </a:t>
            </a:r>
            <a:r>
              <a:rPr sz="1500">
                <a:solidFill>
                  <a:srgbClr val="1A1A1A"/>
                </a:solidFill>
                <a:latin typeface="Arial"/>
              </a:rPr>
              <a:t>SLA clocks for tickets pause on holidays (business days only).</a:t>
            </a:r>
          </a:p>
          <a:p>
            <a:pPr algn="l">
              <a:spcAft>
                <a:spcPts val="1200"/>
              </a:spcAft>
            </a:pPr>
            <a:r>
              <a:rPr sz="1500" b="1">
                <a:solidFill>
                  <a:srgbClr val="F28C2C"/>
                </a:solidFill>
                <a:latin typeface="Arial"/>
              </a:rPr>
              <a:t>● </a:t>
            </a:r>
            <a:r>
              <a:rPr sz="1500">
                <a:solidFill>
                  <a:srgbClr val="1A1A1A"/>
                </a:solidFill>
                <a:latin typeface="Arial"/>
              </a:rPr>
              <a:t>Edit the calendar anytime — past holidays stay, future ones can be added or removed.</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CONTENT</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Curriculum Import — from Generator to LMS</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8288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1</a:t>
            </a:r>
          </a:p>
        </p:txBody>
      </p:sp>
      <p:sp>
        <p:nvSpPr>
          <p:cNvPr id="8" name="TextBox 7"/>
          <p:cNvSpPr txBox="1"/>
          <p:nvPr/>
        </p:nvSpPr>
        <p:spPr>
          <a:xfrm>
            <a:off x="1417320" y="18745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SME builds curriculum in the Generator</a:t>
            </a:r>
          </a:p>
        </p:txBody>
      </p:sp>
      <p:sp>
        <p:nvSpPr>
          <p:cNvPr id="9" name="TextBox 8"/>
          <p:cNvSpPr txBox="1"/>
          <p:nvPr/>
        </p:nvSpPr>
        <p:spPr>
          <a:xfrm>
            <a:off x="1417320" y="22402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Subject matter experts use the Curriculum Generator (a separate tool) to build a 13-step program with AI assistance.</a:t>
            </a:r>
          </a:p>
        </p:txBody>
      </p:sp>
      <p:sp>
        <p:nvSpPr>
          <p:cNvPr id="10" name="Oval 9"/>
          <p:cNvSpPr/>
          <p:nvPr/>
        </p:nvSpPr>
        <p:spPr>
          <a:xfrm>
            <a:off x="548640" y="27432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2</a:t>
            </a:r>
          </a:p>
        </p:txBody>
      </p:sp>
      <p:sp>
        <p:nvSpPr>
          <p:cNvPr id="11" name="TextBox 10"/>
          <p:cNvSpPr txBox="1"/>
          <p:nvPr/>
        </p:nvSpPr>
        <p:spPr>
          <a:xfrm>
            <a:off x="1417320" y="27889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Get the workflow ID</a:t>
            </a:r>
          </a:p>
        </p:txBody>
      </p:sp>
      <p:sp>
        <p:nvSpPr>
          <p:cNvPr id="12" name="TextBox 11"/>
          <p:cNvSpPr txBox="1"/>
          <p:nvPr/>
        </p:nvSpPr>
        <p:spPr>
          <a:xfrm>
            <a:off x="1417320" y="31546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When the SME approves the workflow, they share the ID with you (a short reference).</a:t>
            </a:r>
          </a:p>
        </p:txBody>
      </p:sp>
      <p:sp>
        <p:nvSpPr>
          <p:cNvPr id="13" name="Oval 12"/>
          <p:cNvSpPr/>
          <p:nvPr/>
        </p:nvSpPr>
        <p:spPr>
          <a:xfrm>
            <a:off x="548640" y="36576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3</a:t>
            </a:r>
          </a:p>
        </p:txBody>
      </p:sp>
      <p:sp>
        <p:nvSpPr>
          <p:cNvPr id="14" name="TextBox 13"/>
          <p:cNvSpPr txBox="1"/>
          <p:nvPr/>
        </p:nvSpPr>
        <p:spPr>
          <a:xfrm>
            <a:off x="1417320" y="37033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Paste into Curriculum Import</a:t>
            </a:r>
          </a:p>
        </p:txBody>
      </p:sp>
      <p:sp>
        <p:nvSpPr>
          <p:cNvPr id="15" name="TextBox 14"/>
          <p:cNvSpPr txBox="1"/>
          <p:nvPr/>
        </p:nvSpPr>
        <p:spPr>
          <a:xfrm>
            <a:off x="1417320" y="40690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Go to Admin → Curriculum Import. Paste the workflow ID. Click Fetch preview.</a:t>
            </a:r>
          </a:p>
        </p:txBody>
      </p:sp>
      <p:sp>
        <p:nvSpPr>
          <p:cNvPr id="16" name="Oval 15"/>
          <p:cNvSpPr/>
          <p:nvPr/>
        </p:nvSpPr>
        <p:spPr>
          <a:xfrm>
            <a:off x="548640" y="4572000"/>
            <a:ext cx="640080" cy="640080"/>
          </a:xfrm>
          <a:prstGeom prst="ellipse">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Arial"/>
              </a:rPr>
              <a:t>4</a:t>
            </a:r>
          </a:p>
        </p:txBody>
      </p:sp>
      <p:sp>
        <p:nvSpPr>
          <p:cNvPr id="17" name="TextBox 16"/>
          <p:cNvSpPr txBox="1"/>
          <p:nvPr/>
        </p:nvSpPr>
        <p:spPr>
          <a:xfrm>
            <a:off x="1417320" y="4617720"/>
            <a:ext cx="10058400" cy="365760"/>
          </a:xfrm>
          <a:prstGeom prst="rect">
            <a:avLst/>
          </a:prstGeom>
          <a:noFill/>
        </p:spPr>
        <p:txBody>
          <a:bodyPr wrap="square" lIns="45720" rIns="45720" tIns="18288" bIns="18288" anchor="t">
            <a:spAutoFit/>
          </a:bodyPr>
          <a:lstStyle/>
          <a:p>
            <a:pPr algn="l"/>
            <a:r>
              <a:rPr sz="1600" b="1" i="0">
                <a:solidFill>
                  <a:srgbClr val="132B5E"/>
                </a:solidFill>
                <a:latin typeface="Arial"/>
              </a:rPr>
              <a:t>Review and import</a:t>
            </a:r>
          </a:p>
        </p:txBody>
      </p:sp>
      <p:sp>
        <p:nvSpPr>
          <p:cNvPr id="18" name="TextBox 17"/>
          <p:cNvSpPr txBox="1"/>
          <p:nvPr/>
        </p:nvSpPr>
        <p:spPr>
          <a:xfrm>
            <a:off x="1417320" y="4983480"/>
            <a:ext cx="10058400" cy="457200"/>
          </a:xfrm>
          <a:prstGeom prst="rect">
            <a:avLst/>
          </a:prstGeom>
          <a:noFill/>
        </p:spPr>
        <p:txBody>
          <a:bodyPr wrap="square" lIns="45720" rIns="45720" tIns="18288" bIns="18288" anchor="t">
            <a:spAutoFit/>
          </a:bodyPr>
          <a:lstStyle/>
          <a:p>
            <a:pPr algn="l"/>
            <a:r>
              <a:rPr sz="1200" b="0" i="0">
                <a:solidFill>
                  <a:srgbClr val="1A1A1A"/>
                </a:solidFill>
                <a:latin typeface="Arial"/>
              </a:rPr>
              <a:t>See what will be imported: modules, sessions, slide decks, assignments. Pick the LMS program it belongs to. Click Import. The whole course is live in seconds.</a:t>
            </a:r>
          </a:p>
        </p:txBody>
      </p:sp>
      <p:sp>
        <p:nvSpPr>
          <p:cNvPr id="19" name="Rectangle 18"/>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21" name="TextBox 20"/>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COMMS</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Notifications and communications</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8" name="TextBox 7"/>
          <p:cNvSpPr txBox="1"/>
          <p:nvPr/>
        </p:nvSpPr>
        <p:spPr>
          <a:xfrm>
            <a:off x="123444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Email templates</a:t>
            </a:r>
          </a:p>
        </p:txBody>
      </p:sp>
      <p:sp>
        <p:nvSpPr>
          <p:cNvPr id="9" name="TextBox 8"/>
          <p:cNvSpPr txBox="1"/>
          <p:nvPr/>
        </p:nvSpPr>
        <p:spPr>
          <a:xfrm>
            <a:off x="123444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Pre-approved templates for fee reminders, payment confirmations, schedule changes, certificate issuance. Edit copy without engineering.</a:t>
            </a:r>
          </a:p>
        </p:txBody>
      </p:sp>
      <p:sp>
        <p:nvSpPr>
          <p:cNvPr id="10" name="Oval 9"/>
          <p:cNvSpPr/>
          <p:nvPr/>
        </p:nvSpPr>
        <p:spPr>
          <a:xfrm>
            <a:off x="54864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1" name="TextBox 10"/>
          <p:cNvSpPr txBox="1"/>
          <p:nvPr/>
        </p:nvSpPr>
        <p:spPr>
          <a:xfrm>
            <a:off x="123444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WhatsApp templates</a:t>
            </a:r>
          </a:p>
        </p:txBody>
      </p:sp>
      <p:sp>
        <p:nvSpPr>
          <p:cNvPr id="12" name="TextBox 11"/>
          <p:cNvSpPr txBox="1"/>
          <p:nvPr/>
        </p:nvSpPr>
        <p:spPr>
          <a:xfrm>
            <a:off x="123444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Three pre-approved Meta WhatsApp templates: fee reminder, payment confirmation, ticket update.</a:t>
            </a:r>
          </a:p>
        </p:txBody>
      </p:sp>
      <p:sp>
        <p:nvSpPr>
          <p:cNvPr id="13" name="Oval 12"/>
          <p:cNvSpPr/>
          <p:nvPr/>
        </p:nvSpPr>
        <p:spPr>
          <a:xfrm>
            <a:off x="54864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4" name="TextBox 13"/>
          <p:cNvSpPr txBox="1"/>
          <p:nvPr/>
        </p:nvSpPr>
        <p:spPr>
          <a:xfrm>
            <a:off x="123444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In-app notifications</a:t>
            </a:r>
          </a:p>
        </p:txBody>
      </p:sp>
      <p:sp>
        <p:nvSpPr>
          <p:cNvPr id="15" name="TextBox 14"/>
          <p:cNvSpPr txBox="1"/>
          <p:nvPr/>
        </p:nvSpPr>
        <p:spPr>
          <a:xfrm>
            <a:off x="123444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Every event also surfaces in the recipient's in-app inbox.</a:t>
            </a:r>
          </a:p>
        </p:txBody>
      </p:sp>
      <p:sp>
        <p:nvSpPr>
          <p:cNvPr id="16" name="Oval 15"/>
          <p:cNvSpPr/>
          <p:nvPr/>
        </p:nvSpPr>
        <p:spPr>
          <a:xfrm>
            <a:off x="6400800" y="178308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17" name="TextBox 16"/>
          <p:cNvSpPr txBox="1"/>
          <p:nvPr/>
        </p:nvSpPr>
        <p:spPr>
          <a:xfrm>
            <a:off x="7086600" y="178308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Send rules per event</a:t>
            </a:r>
          </a:p>
        </p:txBody>
      </p:sp>
      <p:sp>
        <p:nvSpPr>
          <p:cNvPr id="18" name="TextBox 17"/>
          <p:cNvSpPr txBox="1"/>
          <p:nvPr/>
        </p:nvSpPr>
        <p:spPr>
          <a:xfrm>
            <a:off x="7086600" y="216712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For each event type, choose: in-app only, in-app + email, in-app + email + WhatsApp.</a:t>
            </a:r>
          </a:p>
        </p:txBody>
      </p:sp>
      <p:sp>
        <p:nvSpPr>
          <p:cNvPr id="19" name="Oval 18"/>
          <p:cNvSpPr/>
          <p:nvPr/>
        </p:nvSpPr>
        <p:spPr>
          <a:xfrm>
            <a:off x="6400800" y="301752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0" name="TextBox 19"/>
          <p:cNvSpPr txBox="1"/>
          <p:nvPr/>
        </p:nvSpPr>
        <p:spPr>
          <a:xfrm>
            <a:off x="7086600" y="301752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Quiet hours</a:t>
            </a:r>
          </a:p>
        </p:txBody>
      </p:sp>
      <p:sp>
        <p:nvSpPr>
          <p:cNvPr id="21" name="TextBox 20"/>
          <p:cNvSpPr txBox="1"/>
          <p:nvPr/>
        </p:nvSpPr>
        <p:spPr>
          <a:xfrm>
            <a:off x="7086600" y="340156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Set institutional quiet hours — no comms sent between, e.g., 10 PM and 7 AM.</a:t>
            </a:r>
          </a:p>
        </p:txBody>
      </p:sp>
      <p:sp>
        <p:nvSpPr>
          <p:cNvPr id="22" name="Oval 21"/>
          <p:cNvSpPr/>
          <p:nvPr/>
        </p:nvSpPr>
        <p:spPr>
          <a:xfrm>
            <a:off x="6400800" y="4251960"/>
            <a:ext cx="502920" cy="502920"/>
          </a:xfrm>
          <a:prstGeom prst="ellipse">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t>
            </a:r>
          </a:p>
        </p:txBody>
      </p:sp>
      <p:sp>
        <p:nvSpPr>
          <p:cNvPr id="23" name="TextBox 22"/>
          <p:cNvSpPr txBox="1"/>
          <p:nvPr/>
        </p:nvSpPr>
        <p:spPr>
          <a:xfrm>
            <a:off x="7086600" y="4251960"/>
            <a:ext cx="4572000" cy="365760"/>
          </a:xfrm>
          <a:prstGeom prst="rect">
            <a:avLst/>
          </a:prstGeom>
          <a:noFill/>
        </p:spPr>
        <p:txBody>
          <a:bodyPr wrap="square" lIns="45720" rIns="45720" tIns="18288" bIns="18288" anchor="t">
            <a:spAutoFit/>
          </a:bodyPr>
          <a:lstStyle/>
          <a:p>
            <a:pPr algn="l"/>
            <a:r>
              <a:rPr sz="1500" b="1" i="0">
                <a:solidFill>
                  <a:srgbClr val="132B5E"/>
                </a:solidFill>
                <a:latin typeface="Arial"/>
              </a:rPr>
              <a:t>Sent log</a:t>
            </a:r>
          </a:p>
        </p:txBody>
      </p:sp>
      <p:sp>
        <p:nvSpPr>
          <p:cNvPr id="24" name="TextBox 23"/>
          <p:cNvSpPr txBox="1"/>
          <p:nvPr/>
        </p:nvSpPr>
        <p:spPr>
          <a:xfrm>
            <a:off x="7086600" y="4636008"/>
            <a:ext cx="4572000" cy="822960"/>
          </a:xfrm>
          <a:prstGeom prst="rect">
            <a:avLst/>
          </a:prstGeom>
          <a:noFill/>
        </p:spPr>
        <p:txBody>
          <a:bodyPr wrap="square" lIns="45720" rIns="45720" tIns="18288" bIns="18288" anchor="t">
            <a:spAutoFit/>
          </a:bodyPr>
          <a:lstStyle/>
          <a:p>
            <a:pPr algn="l"/>
            <a:r>
              <a:rPr sz="1200" b="0" i="0">
                <a:solidFill>
                  <a:srgbClr val="1A1A1A"/>
                </a:solidFill>
                <a:latin typeface="Arial"/>
              </a:rPr>
              <a:t>Every notification sent, to whom, when, via which channel — audit trail.</a:t>
            </a:r>
          </a:p>
        </p:txBody>
      </p:sp>
      <p:sp>
        <p:nvSpPr>
          <p:cNvPr id="25" name="Rectangle 24"/>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27" name="TextBox 26"/>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REPORTS</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Reporting and exports</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000"/>
              </a:spcAft>
            </a:pPr>
            <a:r>
              <a:rPr sz="1500" b="1">
                <a:solidFill>
                  <a:srgbClr val="F28C2C"/>
                </a:solidFill>
                <a:latin typeface="Arial"/>
              </a:rPr>
              <a:t>● </a:t>
            </a:r>
            <a:r>
              <a:rPr sz="1500">
                <a:solidFill>
                  <a:srgbClr val="1A1A1A"/>
                </a:solidFill>
                <a:latin typeface="Arial"/>
              </a:rPr>
              <a:t>Enrolments by program, by batch, by status — exportable to Excel.</a:t>
            </a:r>
          </a:p>
          <a:p>
            <a:pPr algn="l">
              <a:spcAft>
                <a:spcPts val="1000"/>
              </a:spcAft>
            </a:pPr>
            <a:r>
              <a:rPr sz="1500" b="1">
                <a:solidFill>
                  <a:srgbClr val="F28C2C"/>
                </a:solidFill>
                <a:latin typeface="Arial"/>
              </a:rPr>
              <a:t>● </a:t>
            </a:r>
            <a:r>
              <a:rPr sz="1500">
                <a:solidFill>
                  <a:srgbClr val="1A1A1A"/>
                </a:solidFill>
                <a:latin typeface="Arial"/>
              </a:rPr>
              <a:t>Collections by month, by program, by method — for finance close and board reporting.</a:t>
            </a:r>
          </a:p>
          <a:p>
            <a:pPr algn="l">
              <a:spcAft>
                <a:spcPts val="1000"/>
              </a:spcAft>
            </a:pPr>
            <a:r>
              <a:rPr sz="1500" b="1">
                <a:solidFill>
                  <a:srgbClr val="F28C2C"/>
                </a:solidFill>
                <a:latin typeface="Arial"/>
              </a:rPr>
              <a:t>● </a:t>
            </a:r>
            <a:r>
              <a:rPr sz="1500">
                <a:solidFill>
                  <a:srgbClr val="1A1A1A"/>
                </a:solidFill>
                <a:latin typeface="Arial"/>
              </a:rPr>
              <a:t>SLA performance — average acknowledge time, average resolve time, breach rate.</a:t>
            </a:r>
          </a:p>
          <a:p>
            <a:pPr algn="l">
              <a:spcAft>
                <a:spcPts val="1000"/>
              </a:spcAft>
            </a:pPr>
            <a:r>
              <a:rPr sz="1500" b="1">
                <a:solidFill>
                  <a:srgbClr val="F28C2C"/>
                </a:solidFill>
                <a:latin typeface="Arial"/>
              </a:rPr>
              <a:t>● </a:t>
            </a:r>
            <a:r>
              <a:rPr sz="1500">
                <a:solidFill>
                  <a:srgbClr val="1A1A1A"/>
                </a:solidFill>
                <a:latin typeface="Arial"/>
              </a:rPr>
              <a:t>Faculty performance — feedback coverage, grading turnaround, attendance recorded.</a:t>
            </a:r>
          </a:p>
          <a:p>
            <a:pPr algn="l">
              <a:spcAft>
                <a:spcPts val="1000"/>
              </a:spcAft>
            </a:pPr>
            <a:r>
              <a:rPr sz="1500" b="1">
                <a:solidFill>
                  <a:srgbClr val="F28C2C"/>
                </a:solidFill>
                <a:latin typeface="Arial"/>
              </a:rPr>
              <a:t>● </a:t>
            </a:r>
            <a:r>
              <a:rPr sz="1500">
                <a:solidFill>
                  <a:srgbClr val="1A1A1A"/>
                </a:solidFill>
                <a:latin typeface="Arial"/>
              </a:rPr>
              <a:t>Student performance — pass rates, attendance %, completion rate by cohort.</a:t>
            </a:r>
          </a:p>
          <a:p>
            <a:pPr algn="l">
              <a:spcAft>
                <a:spcPts val="1000"/>
              </a:spcAft>
            </a:pPr>
            <a:r>
              <a:rPr sz="1500" b="1">
                <a:solidFill>
                  <a:srgbClr val="F28C2C"/>
                </a:solidFill>
                <a:latin typeface="Arial"/>
              </a:rPr>
              <a:t>● </a:t>
            </a:r>
            <a:r>
              <a:rPr sz="1500">
                <a:solidFill>
                  <a:srgbClr val="1A1A1A"/>
                </a:solidFill>
                <a:latin typeface="Arial"/>
              </a:rPr>
              <a:t>All reports can be PDFed or downloaded as CSV.</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32B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1695" cy="54864"/>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9144000" cy="320040"/>
          </a:xfrm>
          <a:prstGeom prst="rect">
            <a:avLst/>
          </a:prstGeom>
          <a:noFill/>
        </p:spPr>
        <p:txBody>
          <a:bodyPr wrap="square" lIns="45720" rIns="45720" tIns="18288" bIns="18288" anchor="t">
            <a:spAutoFit/>
          </a:bodyPr>
          <a:lstStyle/>
          <a:p>
            <a:pPr algn="l"/>
            <a:r>
              <a:rPr sz="1100" b="1" i="0">
                <a:solidFill>
                  <a:srgbClr val="F28C2C"/>
                </a:solidFill>
                <a:latin typeface="Arial"/>
              </a:rPr>
              <a:t>SETTINGS &amp; SUPPORT</a:t>
            </a:r>
          </a:p>
        </p:txBody>
      </p:sp>
      <p:sp>
        <p:nvSpPr>
          <p:cNvPr id="5" name="TextBox 4"/>
          <p:cNvSpPr txBox="1"/>
          <p:nvPr/>
        </p:nvSpPr>
        <p:spPr>
          <a:xfrm>
            <a:off x="548640" y="731520"/>
            <a:ext cx="10972800" cy="685800"/>
          </a:xfrm>
          <a:prstGeom prst="rect">
            <a:avLst/>
          </a:prstGeom>
          <a:noFill/>
        </p:spPr>
        <p:txBody>
          <a:bodyPr wrap="square" lIns="45720" rIns="45720" tIns="18288" bIns="18288" anchor="t">
            <a:spAutoFit/>
          </a:bodyPr>
          <a:lstStyle/>
          <a:p>
            <a:pPr algn="l"/>
            <a:r>
              <a:rPr sz="3200" b="1" i="0">
                <a:solidFill>
                  <a:srgbClr val="132B5E"/>
                </a:solidFill>
                <a:latin typeface="Calibri"/>
              </a:rPr>
              <a:t>Profile and getting help</a:t>
            </a:r>
          </a:p>
        </p:txBody>
      </p:sp>
      <p:sp>
        <p:nvSpPr>
          <p:cNvPr id="6" name="Rectangle 5"/>
          <p:cNvSpPr/>
          <p:nvPr/>
        </p:nvSpPr>
        <p:spPr>
          <a:xfrm>
            <a:off x="548640" y="1417320"/>
            <a:ext cx="731520" cy="36576"/>
          </a:xfrm>
          <a:prstGeom prst="rect">
            <a:avLst/>
          </a:prstGeom>
          <a:solidFill>
            <a:srgbClr val="F28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10972800" cy="4114800"/>
          </a:xfrm>
          <a:prstGeom prst="rect">
            <a:avLst/>
          </a:prstGeom>
          <a:noFill/>
        </p:spPr>
        <p:txBody>
          <a:bodyPr wrap="square" lIns="45720" rIns="45720" tIns="18288" bIns="18288">
            <a:spAutoFit/>
          </a:bodyPr>
          <a:lstStyle/>
          <a:p>
            <a:pPr algn="l">
              <a:spcAft>
                <a:spcPts val="1000"/>
              </a:spcAft>
            </a:pPr>
            <a:r>
              <a:rPr sz="1500" b="1">
                <a:solidFill>
                  <a:srgbClr val="F28C2C"/>
                </a:solidFill>
                <a:latin typeface="Arial"/>
              </a:rPr>
              <a:t>● </a:t>
            </a:r>
            <a:r>
              <a:rPr sz="1500">
                <a:solidFill>
                  <a:srgbClr val="1A1A1A"/>
                </a:solidFill>
                <a:latin typeface="Arial"/>
              </a:rPr>
              <a:t>Profile: update your name, photo, contact info, password.</a:t>
            </a:r>
          </a:p>
          <a:p>
            <a:pPr algn="l">
              <a:spcAft>
                <a:spcPts val="1000"/>
              </a:spcAft>
            </a:pPr>
            <a:r>
              <a:rPr sz="1500" b="1">
                <a:solidFill>
                  <a:srgbClr val="F28C2C"/>
                </a:solidFill>
                <a:latin typeface="Arial"/>
              </a:rPr>
              <a:t>● </a:t>
            </a:r>
            <a:r>
              <a:rPr sz="1500">
                <a:solidFill>
                  <a:srgbClr val="1A1A1A"/>
                </a:solidFill>
                <a:latin typeface="Arial"/>
              </a:rPr>
              <a:t>Notification preferences for your own account.</a:t>
            </a:r>
          </a:p>
          <a:p>
            <a:pPr algn="l">
              <a:spcAft>
                <a:spcPts val="1000"/>
              </a:spcAft>
            </a:pPr>
            <a:r>
              <a:rPr sz="1500" b="1">
                <a:solidFill>
                  <a:srgbClr val="F28C2C"/>
                </a:solidFill>
                <a:latin typeface="Arial"/>
              </a:rPr>
              <a:t>● </a:t>
            </a:r>
            <a:r>
              <a:rPr sz="1500">
                <a:solidFill>
                  <a:srgbClr val="1A1A1A"/>
                </a:solidFill>
                <a:latin typeface="Arial"/>
              </a:rPr>
              <a:t>Stuck on the system? Raise a Technical ticket — response within 24 hours.</a:t>
            </a:r>
          </a:p>
          <a:p>
            <a:pPr algn="l">
              <a:spcAft>
                <a:spcPts val="1000"/>
              </a:spcAft>
            </a:pPr>
            <a:r>
              <a:rPr sz="1500" b="1">
                <a:solidFill>
                  <a:srgbClr val="F28C2C"/>
                </a:solidFill>
                <a:latin typeface="Arial"/>
              </a:rPr>
              <a:t>● </a:t>
            </a:r>
            <a:r>
              <a:rPr sz="1500">
                <a:solidFill>
                  <a:srgbClr val="1A1A1A"/>
                </a:solidFill>
                <a:latin typeface="Arial"/>
              </a:rPr>
              <a:t>Need policy decisions (refund approvals, exception requests)? Those flow to Super Admin or your director — not the system.</a:t>
            </a:r>
          </a:p>
        </p:txBody>
      </p:sp>
      <p:sp>
        <p:nvSpPr>
          <p:cNvPr id="8" name="Rectangle 7"/>
          <p:cNvSpPr/>
          <p:nvPr/>
        </p:nvSpPr>
        <p:spPr>
          <a:xfrm>
            <a:off x="0" y="6537960"/>
            <a:ext cx="12191695" cy="320040"/>
          </a:xfrm>
          <a:prstGeom prst="rect">
            <a:avLst/>
          </a:prstGeom>
          <a:solidFill>
            <a:srgbClr val="F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7315200" cy="274320"/>
          </a:xfrm>
          <a:prstGeom prst="rect">
            <a:avLst/>
          </a:prstGeom>
          <a:noFill/>
        </p:spPr>
        <p:txBody>
          <a:bodyPr wrap="square" lIns="45720" rIns="45720" tIns="18288" bIns="18288" anchor="t">
            <a:spAutoFit/>
          </a:bodyPr>
          <a:lstStyle/>
          <a:p>
            <a:pPr algn="l"/>
            <a:r>
              <a:rPr sz="1000" b="0" i="0">
                <a:solidFill>
                  <a:srgbClr val="5C5C5C"/>
                </a:solidFill>
                <a:latin typeface="Arial"/>
              </a:rPr>
              <a:t>India Learns LMS · Admin guide</a:t>
            </a:r>
          </a:p>
        </p:txBody>
      </p:sp>
      <p:sp>
        <p:nvSpPr>
          <p:cNvPr id="10" name="TextBox 9"/>
          <p:cNvSpPr txBox="1"/>
          <p:nvPr/>
        </p:nvSpPr>
        <p:spPr>
          <a:xfrm>
            <a:off x="10515600" y="6565392"/>
            <a:ext cx="1280160" cy="274320"/>
          </a:xfrm>
          <a:prstGeom prst="rect">
            <a:avLst/>
          </a:prstGeom>
          <a:noFill/>
        </p:spPr>
        <p:txBody>
          <a:bodyPr wrap="square" lIns="45720" rIns="45720" tIns="18288" bIns="18288" anchor="t">
            <a:spAutoFit/>
          </a:bodyPr>
          <a:lstStyle/>
          <a:p>
            <a:pPr algn="r"/>
            <a:r>
              <a:rPr sz="1000" b="0" i="0">
                <a:solidFill>
                  <a:srgbClr val="5C5C5C"/>
                </a:solidFill>
                <a:latin typeface="Arial"/>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